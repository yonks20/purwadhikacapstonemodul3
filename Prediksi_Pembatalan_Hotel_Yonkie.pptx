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340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diri, dataset yang dipilih, dan satu kalimat masalah bisnis. Target durasi total 15 menit.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porsi terbesar ada di Analytics, jadi bagian modeling akan dibahas paling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23,8% dihitung setelah cleaning. Jangan lupa kaitkan ke slide Data Cleaning.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adalah fondasi argumen pemilihan metrik. Jangan dilewat cepat.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siapa yang memakai output model dan pada titik mana keputusannya diambil.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meminta penjelasan cara kerja metrik. Ucapkan rumusnya, bukan hanya angka hasilnya.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menanyakan siapa yang memakai model dan kapan digunakan — jawabannya ada di slide ini.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sejak awal apa yang TIDAK ada di data, supaya limitasi di belakang terasa konsisten.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Isu kardinalitas country ini bagus untuk ditanya balik ke penguji sebagai rencana perbaikan.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median 0 di mana-mana berarti mayoritas booking "polos" — sinyalnya justru ada di minoritas yang bernilai &gt; 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fokus prosesnya. Isu duplikat dibahas khusus di slide berikutnya.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Angkat isu ini sendiri sebelum ditanya. Menunjukkan kesadaran metodologis menaikkan nilai, bukan menurunkan.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langsung ke slide benchmark: imbalance yang tidak ditangani menekan recall.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ke rekomendasi: struktur deposit adalah tuas yang paling bisa dikendalikan hotel.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Karena distribusi miring, imputasi numerik memakai median bukan mean.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contoh konkret dari slide limitasi: model tidak bisa dipercaya untuk segmen bersampel kecil.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ditanya lokasi hotel: dominasi PRT mengindikasikan Portugal, tapi sebut sebagai dugaan karena tidak ada kolom lokasi hotel.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Temuan paling menarik di seluruh project. Sampaikan sebagai kejutan yang ditemukan dari data, bukan asumsi awal.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 Undefined 100% batal tapi hanya 1 baris — sebutkan sebagai anomali data, jangan dijadikan temuan.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country tidak lagi di-TargetEncode — sudah diringkas jadi is_domestic sebelum preprocessing. Ini kenapa kolom turun dari 32 ke 21.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country disederhanakan jadi is_domestic, XGBoost yang sebelumnya kalah tipis dari Logistic Regression kini unggul jelas.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kunci: penyederhanaan country menaikkan performa SEMUA model, bukan cuma yang terpilih. Ini bukti perbaikan fitur, bukan kebetulan pemilihan model.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 dari Logistic Regression: gap train-test pada XGBoost wajar terjadi karena kapasitas modelnya lebih besar. Jangan panik kalau ditanya soal ini.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bukti konkret bahwa feature engineering bisa mengubah urutan model terbaik. Siap-siap ditanya kenapa hasil sebelumnya beda.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menjelaskan boosting tanpa membaca. Rubrik mewajibkan penjelasan cara kerja algoritma final.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class_weight=balanced membuat sklearn menghitung bobot otomatis: n_samples / (n_classes * n_samples_kelas).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Beban kerja tim: 835 booking ditandai dari 2.020 (41%). Kaitkan langsung ke slide threshold.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0,86 di kelas batal adalah headline number. Precision 0,45 dan accuracy 0,72 adalah harga yang dibayar, sampaikan dengan percaya diri.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menunjukkan model bukan kotak hitam yang kaku — ambangnya bisa disetel mengikuti kapasitas operasional.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langsung untuk pertanyaan kenapa country dulu terlihat dominan. Sampaikan sebagai bukti perbaikan metodologi.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Dominasi required_car_parking_spaces (59,7%) jauh lebih tegas dibanding versi Logistic Regression. Ini ciri khas model pohon: bisa sangat bergantung pada satu fitur kuat.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menilai pemahaman limitasi. Sampaikan dengan percaya diri — ini nilai plus, bukan pengakuan kelemahan.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punya asumsi ADR, sebutkan eksplisit sebagai asumsi — bukan sebagai temuan dari data.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Jujur bahwa batas 0,7 / 0,4 masih usulan. Yang dinilai adalah logika prioritisasinya.</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tiap bentuk intervensi ke fitur yang muncul di feature importance.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temuan Non Refund — itu bagian paling berkesan dan menunjukkan analisis benar-benar dilakukan.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 menekankan rekomendasi tidak boleh ngambang. Selalu sebut dari data mana rekomendasi itu berasal.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bivariat ini paling cepat dikerjakan dan paling terlihat hasilnya di presentasi.</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Rubrik menilai pemahaman dampak implementasi terhadap proses bisnis. Slide ini menjawabnya.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Siapkan jawaban untuk: keputusan duplikat, kenapa Logistic Regression menang, anomali Non Refund, dan trade-off precision.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18.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7.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8.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48.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035040" y="-1371600"/>
            <a:ext cx="4937760" cy="4937760"/>
          </a:xfrm>
          <a:prstGeom prst="ellipse">
            <a:avLst/>
          </a:prstGeom>
          <a:solidFill>
            <a:srgbClr val="123A5E"/>
          </a:solidFill>
          <a:ln/>
        </p:spPr>
        <p:txBody>
          <a:bodyPr/>
          <a:lstStyle/>
          <a:p>
            <a:endParaRPr lang="en-ID"/>
          </a:p>
        </p:txBody>
      </p:sp>
      <p:sp>
        <p:nvSpPr>
          <p:cNvPr id="3" name="Shape 1"/>
          <p:cNvSpPr/>
          <p:nvPr/>
        </p:nvSpPr>
        <p:spPr>
          <a:xfrm>
            <a:off x="7223760" y="2651760"/>
            <a:ext cx="2926080" cy="2926080"/>
          </a:xfrm>
          <a:prstGeom prst="ellipse">
            <a:avLst/>
          </a:prstGeom>
          <a:solidFill>
            <a:srgbClr val="103352"/>
          </a:solidFill>
          <a:ln/>
        </p:spPr>
        <p:txBody>
          <a:bodyPr/>
          <a:lstStyle/>
          <a:p>
            <a:endParaRPr lang="en-ID"/>
          </a:p>
        </p:txBody>
      </p:sp>
      <p:pic>
        <p:nvPicPr>
          <p:cNvPr id="4" name="Image 0" descr="/home/claude/assets/ic_hotel_orange.png"/>
          <p:cNvPicPr>
            <a:picLocks noChangeAspect="1"/>
          </p:cNvPicPr>
          <p:nvPr/>
        </p:nvPicPr>
        <p:blipFill>
          <a:blip r:embed="rId3"/>
          <a:stretch>
            <a:fillRect/>
          </a:stretch>
        </p:blipFill>
        <p:spPr>
          <a:xfrm>
            <a:off x="566928" y="932688"/>
            <a:ext cx="566928" cy="566928"/>
          </a:xfrm>
          <a:prstGeom prst="rect">
            <a:avLst/>
          </a:prstGeom>
        </p:spPr>
      </p:pic>
      <p:sp>
        <p:nvSpPr>
          <p:cNvPr id="5" name="Text 2"/>
          <p:cNvSpPr/>
          <p:nvPr/>
        </p:nvSpPr>
        <p:spPr>
          <a:xfrm>
            <a:off x="566928" y="1691640"/>
            <a:ext cx="5486400" cy="219456"/>
          </a:xfrm>
          <a:prstGeom prst="rect">
            <a:avLst/>
          </a:prstGeom>
          <a:noFill/>
          <a:ln/>
        </p:spPr>
        <p:txBody>
          <a:bodyPr wrap="square" lIns="0" tIns="0" rIns="0" bIns="0" rtlCol="0" anchor="ctr"/>
          <a:lstStyle/>
          <a:p>
            <a:pPr marL="0" indent="0">
              <a:buNone/>
            </a:pPr>
            <a:r>
              <a:rPr lang="en-US" sz="1100" b="1" kern="0" spc="200" dirty="0">
                <a:solidFill>
                  <a:srgbClr val="E2703A"/>
                </a:solidFill>
                <a:latin typeface="Calibri" pitchFamily="34" charset="0"/>
                <a:ea typeface="Calibri" pitchFamily="34" charset="-122"/>
                <a:cs typeface="Calibri" pitchFamily="34" charset="-120"/>
              </a:rPr>
              <a:t>CAPSTONE PROJECT MODULE 3</a:t>
            </a:r>
            <a:endParaRPr lang="en-US" sz="1100" dirty="0"/>
          </a:p>
        </p:txBody>
      </p:sp>
      <p:sp>
        <p:nvSpPr>
          <p:cNvPr id="6" name="Text 3"/>
          <p:cNvSpPr/>
          <p:nvPr/>
        </p:nvSpPr>
        <p:spPr>
          <a:xfrm>
            <a:off x="548640" y="1965960"/>
            <a:ext cx="6035040" cy="1234440"/>
          </a:xfrm>
          <a:prstGeom prst="rect">
            <a:avLst/>
          </a:prstGeom>
          <a:noFill/>
          <a:ln/>
        </p:spPr>
        <p:txBody>
          <a:bodyPr wrap="square" lIns="0" tIns="0" rIns="0" bIns="0" rtlCol="0" anchor="ctr"/>
          <a:lstStyle/>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Prediksi Pembatalan</a:t>
            </a:r>
            <a:endParaRPr lang="en-US" sz="3800" dirty="0"/>
          </a:p>
          <a:p>
            <a:pPr marL="0" indent="0">
              <a:lnSpc>
                <a:spcPts val="4400"/>
              </a:lnSpc>
              <a:buNone/>
            </a:pPr>
            <a:r>
              <a:rPr lang="en-US" sz="3800" b="1" dirty="0">
                <a:solidFill>
                  <a:srgbClr val="FFFFFF"/>
                </a:solidFill>
                <a:latin typeface="Calibri" pitchFamily="34" charset="0"/>
                <a:ea typeface="Calibri" pitchFamily="34" charset="-122"/>
                <a:cs typeface="Calibri" pitchFamily="34" charset="-120"/>
              </a:rPr>
              <a:t>Pemesanan Hotel</a:t>
            </a:r>
            <a:endParaRPr lang="en-US" sz="3800" dirty="0"/>
          </a:p>
        </p:txBody>
      </p:sp>
      <p:sp>
        <p:nvSpPr>
          <p:cNvPr id="7" name="Text 4"/>
          <p:cNvSpPr/>
          <p:nvPr/>
        </p:nvSpPr>
        <p:spPr>
          <a:xfrm>
            <a:off x="566928" y="3310128"/>
            <a:ext cx="5852160" cy="640080"/>
          </a:xfrm>
          <a:prstGeom prst="rect">
            <a:avLst/>
          </a:prstGeom>
          <a:noFill/>
          <a:ln/>
        </p:spPr>
        <p:txBody>
          <a:bodyPr wrap="square" lIns="0" tIns="0" rIns="0" bIns="0" rtlCol="0" anchor="ctr"/>
          <a:lstStyle/>
          <a:p>
            <a:pPr marL="0" indent="0">
              <a:lnSpc>
                <a:spcPts val="1900"/>
              </a:lnSpc>
              <a:buNone/>
            </a:pPr>
            <a:r>
              <a:rPr lang="en-US" sz="1300" dirty="0">
                <a:solidFill>
                  <a:srgbClr val="B9C7D6"/>
                </a:solidFill>
                <a:latin typeface="Calibri" pitchFamily="34" charset="0"/>
                <a:ea typeface="Calibri" pitchFamily="34" charset="-122"/>
                <a:cs typeface="Calibri" pitchFamily="34" charset="-120"/>
              </a:rPr>
              <a:t>Klasifikasi biner untuk mendeteksi booking berisiko batal</a:t>
            </a:r>
            <a:endParaRPr lang="en-US" sz="1300" dirty="0"/>
          </a:p>
          <a:p>
            <a:pPr marL="0" indent="0">
              <a:lnSpc>
                <a:spcPts val="1900"/>
              </a:lnSpc>
              <a:buNone/>
            </a:pPr>
            <a:r>
              <a:rPr lang="en-US" sz="1300" dirty="0">
                <a:solidFill>
                  <a:srgbClr val="B9C7D6"/>
                </a:solidFill>
                <a:latin typeface="Calibri" pitchFamily="34" charset="0"/>
                <a:ea typeface="Calibri" pitchFamily="34" charset="-122"/>
                <a:cs typeface="Calibri" pitchFamily="34" charset="-120"/>
              </a:rPr>
              <a:t>sebagai dasar intervensi tim Revenue Management</a:t>
            </a:r>
            <a:endParaRPr lang="en-US" sz="1300" dirty="0"/>
          </a:p>
        </p:txBody>
      </p:sp>
      <p:sp>
        <p:nvSpPr>
          <p:cNvPr id="8" name="Shape 5"/>
          <p:cNvSpPr/>
          <p:nvPr/>
        </p:nvSpPr>
        <p:spPr>
          <a:xfrm>
            <a:off x="566928" y="4114800"/>
            <a:ext cx="457200" cy="27432"/>
          </a:xfrm>
          <a:prstGeom prst="rect">
            <a:avLst/>
          </a:prstGeom>
          <a:solidFill>
            <a:srgbClr val="E2703A"/>
          </a:solidFill>
          <a:ln/>
        </p:spPr>
        <p:txBody>
          <a:bodyPr/>
          <a:lstStyle/>
          <a:p>
            <a:endParaRPr lang="en-ID"/>
          </a:p>
        </p:txBody>
      </p:sp>
      <p:sp>
        <p:nvSpPr>
          <p:cNvPr id="9" name="Text 6"/>
          <p:cNvSpPr/>
          <p:nvPr/>
        </p:nvSpPr>
        <p:spPr>
          <a:xfrm>
            <a:off x="566928" y="4279392"/>
            <a:ext cx="6400800" cy="237744"/>
          </a:xfrm>
          <a:prstGeom prst="rect">
            <a:avLst/>
          </a:prstGeom>
          <a:noFill/>
          <a:ln/>
        </p:spPr>
        <p:txBody>
          <a:bodyPr wrap="square" lIns="0" tIns="0" rIns="0" bIns="0" rtlCol="0" anchor="ctr"/>
          <a:lstStyle/>
          <a:p>
            <a:pPr marL="0" indent="0">
              <a:buNone/>
            </a:pPr>
            <a:r>
              <a:rPr lang="en-US" sz="1100">
                <a:solidFill>
                  <a:srgbClr val="8FA3B5"/>
                </a:solidFill>
                <a:latin typeface="Calibri" pitchFamily="34" charset="0"/>
                <a:ea typeface="Calibri" pitchFamily="34" charset="-122"/>
                <a:cs typeface="Calibri" pitchFamily="34" charset="-120"/>
              </a:rPr>
              <a:t>Yonkie Yudha Ardika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OUTLINE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Alur Presentasi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02920" y="1115568"/>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76656" y="1261872"/>
            <a:ext cx="493776" cy="493776"/>
          </a:xfrm>
          <a:prstGeom prst="roundRect">
            <a:avLst>
              <a:gd name="adj" fmla="val 16667"/>
            </a:avLst>
          </a:prstGeom>
          <a:solidFill>
            <a:srgbClr val="123A5E"/>
          </a:solidFill>
          <a:ln/>
        </p:spPr>
        <p:txBody>
          <a:bodyPr/>
          <a:lstStyle/>
          <a:p>
            <a:endParaRPr lang="en-ID"/>
          </a:p>
        </p:txBody>
      </p:sp>
      <p:pic>
        <p:nvPicPr>
          <p:cNvPr id="7" name="Image 0" descr="/home/claude/assets/ic_problem_white.png"/>
          <p:cNvPicPr>
            <a:picLocks noChangeAspect="1"/>
          </p:cNvPicPr>
          <p:nvPr/>
        </p:nvPicPr>
        <p:blipFill>
          <a:blip r:embed="rId3"/>
          <a:stretch>
            <a:fillRect/>
          </a:stretch>
        </p:blipFill>
        <p:spPr>
          <a:xfrm>
            <a:off x="795528" y="1380744"/>
            <a:ext cx="256032" cy="256032"/>
          </a:xfrm>
          <a:prstGeom prst="rect">
            <a:avLst/>
          </a:prstGeom>
        </p:spPr>
      </p:pic>
      <p:sp>
        <p:nvSpPr>
          <p:cNvPr id="8" name="Text 5"/>
          <p:cNvSpPr/>
          <p:nvPr/>
        </p:nvSpPr>
        <p:spPr>
          <a:xfrm>
            <a:off x="7973568" y="1225296"/>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01</a:t>
            </a:r>
            <a:endParaRPr lang="en-US" sz="1200" dirty="0"/>
          </a:p>
        </p:txBody>
      </p:sp>
      <p:sp>
        <p:nvSpPr>
          <p:cNvPr id="9" name="Text 6"/>
          <p:cNvSpPr/>
          <p:nvPr/>
        </p:nvSpPr>
        <p:spPr>
          <a:xfrm>
            <a:off x="1316736" y="1280160"/>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Business Problem</a:t>
            </a:r>
            <a:endParaRPr lang="en-US" sz="1350" dirty="0"/>
          </a:p>
        </p:txBody>
      </p:sp>
      <p:sp>
        <p:nvSpPr>
          <p:cNvPr id="10" name="Text 7"/>
          <p:cNvSpPr/>
          <p:nvPr/>
        </p:nvSpPr>
        <p:spPr>
          <a:xfrm>
            <a:off x="4297680" y="1316736"/>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Konteks bisnis, stakeholder, goal, dan pemilihan metrik</a:t>
            </a:r>
            <a:endParaRPr lang="en-US" sz="1000" dirty="0"/>
          </a:p>
        </p:txBody>
      </p:sp>
      <p:sp>
        <p:nvSpPr>
          <p:cNvPr id="11" name="Shape 8"/>
          <p:cNvSpPr/>
          <p:nvPr/>
        </p:nvSpPr>
        <p:spPr>
          <a:xfrm>
            <a:off x="502920" y="2011680"/>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676656" y="2157984"/>
            <a:ext cx="493776" cy="493776"/>
          </a:xfrm>
          <a:prstGeom prst="roundRect">
            <a:avLst>
              <a:gd name="adj" fmla="val 16667"/>
            </a:avLst>
          </a:prstGeom>
          <a:solidFill>
            <a:srgbClr val="123A5E"/>
          </a:solidFill>
          <a:ln/>
        </p:spPr>
        <p:txBody>
          <a:bodyPr/>
          <a:lstStyle/>
          <a:p>
            <a:endParaRPr lang="en-ID"/>
          </a:p>
        </p:txBody>
      </p:sp>
      <p:pic>
        <p:nvPicPr>
          <p:cNvPr id="13" name="Image 1" descr="/home/claude/assets/ic_data_white.png"/>
          <p:cNvPicPr>
            <a:picLocks noChangeAspect="1"/>
          </p:cNvPicPr>
          <p:nvPr/>
        </p:nvPicPr>
        <p:blipFill>
          <a:blip r:embed="rId4"/>
          <a:stretch>
            <a:fillRect/>
          </a:stretch>
        </p:blipFill>
        <p:spPr>
          <a:xfrm>
            <a:off x="795528" y="2276856"/>
            <a:ext cx="256032" cy="256032"/>
          </a:xfrm>
          <a:prstGeom prst="rect">
            <a:avLst/>
          </a:prstGeom>
        </p:spPr>
      </p:pic>
      <p:sp>
        <p:nvSpPr>
          <p:cNvPr id="14" name="Text 10"/>
          <p:cNvSpPr/>
          <p:nvPr/>
        </p:nvSpPr>
        <p:spPr>
          <a:xfrm>
            <a:off x="7973568" y="2121408"/>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02</a:t>
            </a:r>
            <a:endParaRPr lang="en-US" sz="1200" dirty="0"/>
          </a:p>
        </p:txBody>
      </p:sp>
      <p:sp>
        <p:nvSpPr>
          <p:cNvPr id="15" name="Text 11"/>
          <p:cNvSpPr/>
          <p:nvPr/>
        </p:nvSpPr>
        <p:spPr>
          <a:xfrm>
            <a:off x="1316736" y="2176272"/>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Data &amp; EDA</a:t>
            </a:r>
            <a:endParaRPr lang="en-US" sz="1350" dirty="0"/>
          </a:p>
        </p:txBody>
      </p:sp>
      <p:sp>
        <p:nvSpPr>
          <p:cNvPr id="16" name="Text 12"/>
          <p:cNvSpPr/>
          <p:nvPr/>
        </p:nvSpPr>
        <p:spPr>
          <a:xfrm>
            <a:off x="4297680" y="2212848"/>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Arti tiap kolom, proses cleaning, dan pola dalam data</a:t>
            </a:r>
            <a:endParaRPr lang="en-US" sz="1000" dirty="0"/>
          </a:p>
        </p:txBody>
      </p:sp>
      <p:sp>
        <p:nvSpPr>
          <p:cNvPr id="17" name="Shape 13"/>
          <p:cNvSpPr/>
          <p:nvPr/>
        </p:nvSpPr>
        <p:spPr>
          <a:xfrm>
            <a:off x="502920" y="2907792"/>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676656" y="3054096"/>
            <a:ext cx="493776" cy="493776"/>
          </a:xfrm>
          <a:prstGeom prst="roundRect">
            <a:avLst>
              <a:gd name="adj" fmla="val 16667"/>
            </a:avLst>
          </a:prstGeom>
          <a:solidFill>
            <a:srgbClr val="123A5E"/>
          </a:solidFill>
          <a:ln/>
        </p:spPr>
        <p:txBody>
          <a:bodyPr/>
          <a:lstStyle/>
          <a:p>
            <a:endParaRPr lang="en-ID"/>
          </a:p>
        </p:txBody>
      </p:sp>
      <p:pic>
        <p:nvPicPr>
          <p:cNvPr id="19" name="Image 2" descr="/home/claude/assets/ic_brain_white.png"/>
          <p:cNvPicPr>
            <a:picLocks noChangeAspect="1"/>
          </p:cNvPicPr>
          <p:nvPr/>
        </p:nvPicPr>
        <p:blipFill>
          <a:blip r:embed="rId5"/>
          <a:stretch>
            <a:fillRect/>
          </a:stretch>
        </p:blipFill>
        <p:spPr>
          <a:xfrm>
            <a:off x="795528" y="3172968"/>
            <a:ext cx="256032" cy="256032"/>
          </a:xfrm>
          <a:prstGeom prst="rect">
            <a:avLst/>
          </a:prstGeom>
        </p:spPr>
      </p:pic>
      <p:sp>
        <p:nvSpPr>
          <p:cNvPr id="20" name="Text 15"/>
          <p:cNvSpPr/>
          <p:nvPr/>
        </p:nvSpPr>
        <p:spPr>
          <a:xfrm>
            <a:off x="7973568" y="3017520"/>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03</a:t>
            </a:r>
            <a:endParaRPr lang="en-US" sz="1200" dirty="0"/>
          </a:p>
        </p:txBody>
      </p:sp>
      <p:sp>
        <p:nvSpPr>
          <p:cNvPr id="21" name="Text 16"/>
          <p:cNvSpPr/>
          <p:nvPr/>
        </p:nvSpPr>
        <p:spPr>
          <a:xfrm>
            <a:off x="1316736" y="3072384"/>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Preprocessing &amp; Modeling</a:t>
            </a:r>
            <a:endParaRPr lang="en-US" sz="1350" dirty="0"/>
          </a:p>
        </p:txBody>
      </p:sp>
      <p:sp>
        <p:nvSpPr>
          <p:cNvPr id="22" name="Text 17"/>
          <p:cNvSpPr/>
          <p:nvPr/>
        </p:nvSpPr>
        <p:spPr>
          <a:xfrm>
            <a:off x="4297680" y="3108960"/>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Pipeline, benchmark 7 algoritma, dan analisis error</a:t>
            </a:r>
            <a:endParaRPr lang="en-US" sz="1000" dirty="0"/>
          </a:p>
        </p:txBody>
      </p:sp>
      <p:sp>
        <p:nvSpPr>
          <p:cNvPr id="23" name="Shape 18"/>
          <p:cNvSpPr/>
          <p:nvPr/>
        </p:nvSpPr>
        <p:spPr>
          <a:xfrm>
            <a:off x="502920" y="3803904"/>
            <a:ext cx="8138160" cy="786384"/>
          </a:xfrm>
          <a:prstGeom prst="roundRect">
            <a:avLst>
              <a:gd name="adj" fmla="val 697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676656" y="3950208"/>
            <a:ext cx="493776" cy="493776"/>
          </a:xfrm>
          <a:prstGeom prst="roundRect">
            <a:avLst>
              <a:gd name="adj" fmla="val 16667"/>
            </a:avLst>
          </a:prstGeom>
          <a:solidFill>
            <a:srgbClr val="123A5E"/>
          </a:solidFill>
          <a:ln/>
        </p:spPr>
        <p:txBody>
          <a:bodyPr/>
          <a:lstStyle/>
          <a:p>
            <a:endParaRPr lang="en-ID"/>
          </a:p>
        </p:txBody>
      </p:sp>
      <p:pic>
        <p:nvPicPr>
          <p:cNvPr id="25" name="Image 3" descr="/home/claude/assets/ic_flag_white.png"/>
          <p:cNvPicPr>
            <a:picLocks noChangeAspect="1"/>
          </p:cNvPicPr>
          <p:nvPr/>
        </p:nvPicPr>
        <p:blipFill>
          <a:blip r:embed="rId6"/>
          <a:stretch>
            <a:fillRect/>
          </a:stretch>
        </p:blipFill>
        <p:spPr>
          <a:xfrm>
            <a:off x="795528" y="4069080"/>
            <a:ext cx="256032" cy="256032"/>
          </a:xfrm>
          <a:prstGeom prst="rect">
            <a:avLst/>
          </a:prstGeom>
        </p:spPr>
      </p:pic>
      <p:sp>
        <p:nvSpPr>
          <p:cNvPr id="26" name="Text 20"/>
          <p:cNvSpPr/>
          <p:nvPr/>
        </p:nvSpPr>
        <p:spPr>
          <a:xfrm>
            <a:off x="7973568" y="3913632"/>
            <a:ext cx="502920" cy="228600"/>
          </a:xfrm>
          <a:prstGeom prst="rect">
            <a:avLst/>
          </a:prstGeom>
          <a:noFill/>
          <a:ln/>
        </p:spPr>
        <p:txBody>
          <a:bodyPr wrap="square" lIns="0" tIns="0" rIns="0" bIns="0" rtlCol="0" anchor="ctr"/>
          <a:lstStyle/>
          <a:p>
            <a:pPr marL="0" indent="0" algn="r">
              <a:buNone/>
            </a:pPr>
            <a:r>
              <a:rPr lang="en-US" sz="1200" b="1" dirty="0">
                <a:solidFill>
                  <a:srgbClr val="E2703A"/>
                </a:solidFill>
                <a:latin typeface="Calibri" pitchFamily="34" charset="0"/>
                <a:ea typeface="Calibri" pitchFamily="34" charset="-122"/>
                <a:cs typeface="Calibri" pitchFamily="34" charset="-120"/>
              </a:rPr>
              <a:t>04</a:t>
            </a:r>
            <a:endParaRPr lang="en-US" sz="1200" dirty="0"/>
          </a:p>
        </p:txBody>
      </p:sp>
      <p:sp>
        <p:nvSpPr>
          <p:cNvPr id="27" name="Text 21"/>
          <p:cNvSpPr/>
          <p:nvPr/>
        </p:nvSpPr>
        <p:spPr>
          <a:xfrm>
            <a:off x="1316736" y="3968496"/>
            <a:ext cx="2926080" cy="237744"/>
          </a:xfrm>
          <a:prstGeom prst="rect">
            <a:avLst/>
          </a:prstGeom>
          <a:noFill/>
          <a:ln/>
        </p:spPr>
        <p:txBody>
          <a:bodyPr wrap="square" lIns="0" tIns="0" rIns="0" bIns="0" rtlCol="0" anchor="ctr"/>
          <a:lstStyle/>
          <a:p>
            <a:pPr marL="0" indent="0">
              <a:buNone/>
            </a:pPr>
            <a:r>
              <a:rPr lang="en-US" sz="1350" b="1" dirty="0">
                <a:solidFill>
                  <a:srgbClr val="123A5E"/>
                </a:solidFill>
                <a:latin typeface="Calibri" pitchFamily="34" charset="0"/>
                <a:ea typeface="Calibri" pitchFamily="34" charset="-122"/>
                <a:cs typeface="Calibri" pitchFamily="34" charset="-120"/>
              </a:rPr>
              <a:t>Impact &amp; Rekomendasi</a:t>
            </a:r>
            <a:endParaRPr lang="en-US" sz="1350" dirty="0"/>
          </a:p>
        </p:txBody>
      </p:sp>
      <p:sp>
        <p:nvSpPr>
          <p:cNvPr id="28" name="Text 22"/>
          <p:cNvSpPr/>
          <p:nvPr/>
        </p:nvSpPr>
        <p:spPr>
          <a:xfrm>
            <a:off x="4297680" y="4005072"/>
            <a:ext cx="3566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Dampak bisnis, limitasi, dan rencana perbaikan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01</a:t>
            </a:r>
            <a:endParaRPr lang="en-US" sz="5800" dirty="0"/>
          </a:p>
        </p:txBody>
      </p:sp>
      <p:pic>
        <p:nvPicPr>
          <p:cNvPr id="5" name="Image 0" descr="/home/claude/assets/ic_problem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Business Problem</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Konteks, stakeholder, goal, dan metrik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BACKGROUND</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Pembatalan yang tidak terdeteksi menggerus pendapatan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02920" y="1115568"/>
            <a:ext cx="3977640" cy="1600200"/>
          </a:xfrm>
          <a:prstGeom prst="roundRect">
            <a:avLst>
              <a:gd name="adj" fmla="val 342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hotel_navy.png"/>
          <p:cNvPicPr>
            <a:picLocks noChangeAspect="1"/>
          </p:cNvPicPr>
          <p:nvPr/>
        </p:nvPicPr>
        <p:blipFill>
          <a:blip r:embed="rId3"/>
          <a:stretch>
            <a:fillRect/>
          </a:stretch>
        </p:blipFill>
        <p:spPr>
          <a:xfrm>
            <a:off x="713232" y="1316736"/>
            <a:ext cx="292608" cy="292608"/>
          </a:xfrm>
          <a:prstGeom prst="rect">
            <a:avLst/>
          </a:prstGeom>
        </p:spPr>
      </p:pic>
      <p:sp>
        <p:nvSpPr>
          <p:cNvPr id="7" name="Text 4"/>
          <p:cNvSpPr/>
          <p:nvPr/>
        </p:nvSpPr>
        <p:spPr>
          <a:xfrm>
            <a:off x="1133856" y="1325880"/>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Model bisnis</a:t>
            </a:r>
            <a:endParaRPr lang="en-US" sz="1250" dirty="0"/>
          </a:p>
        </p:txBody>
      </p:sp>
      <p:sp>
        <p:nvSpPr>
          <p:cNvPr id="8" name="Text 5"/>
          <p:cNvSpPr/>
          <p:nvPr/>
        </p:nvSpPr>
        <p:spPr>
          <a:xfrm>
            <a:off x="713232" y="1700784"/>
            <a:ext cx="3566160" cy="9144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Jaringan hotel yang pendapatannya bergantung pada tingkat hunian dan penetapan harga kamar. Kamar adalah persediaan yang tidak bisa disimpan — kamar kosong malam ini tidak bisa dijual ulang besok.</a:t>
            </a:r>
            <a:endParaRPr lang="en-US" sz="1050" dirty="0"/>
          </a:p>
        </p:txBody>
      </p:sp>
      <p:sp>
        <p:nvSpPr>
          <p:cNvPr id="9" name="Shape 6"/>
          <p:cNvSpPr/>
          <p:nvPr/>
        </p:nvSpPr>
        <p:spPr>
          <a:xfrm>
            <a:off x="4663440" y="1115568"/>
            <a:ext cx="3977640" cy="1600200"/>
          </a:xfrm>
          <a:prstGeom prst="roundRect">
            <a:avLst>
              <a:gd name="adj" fmla="val 342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problem_orange.png"/>
          <p:cNvPicPr>
            <a:picLocks noChangeAspect="1"/>
          </p:cNvPicPr>
          <p:nvPr/>
        </p:nvPicPr>
        <p:blipFill>
          <a:blip r:embed="rId4"/>
          <a:stretch>
            <a:fillRect/>
          </a:stretch>
        </p:blipFill>
        <p:spPr>
          <a:xfrm>
            <a:off x="4873752" y="1316736"/>
            <a:ext cx="292608" cy="292608"/>
          </a:xfrm>
          <a:prstGeom prst="rect">
            <a:avLst/>
          </a:prstGeom>
        </p:spPr>
      </p:pic>
      <p:sp>
        <p:nvSpPr>
          <p:cNvPr id="11" name="Text 7"/>
          <p:cNvSpPr/>
          <p:nvPr/>
        </p:nvSpPr>
        <p:spPr>
          <a:xfrm>
            <a:off x="5294376" y="1325880"/>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Kondisi saat ini</a:t>
            </a:r>
            <a:endParaRPr lang="en-US" sz="1250" dirty="0"/>
          </a:p>
        </p:txBody>
      </p:sp>
      <p:sp>
        <p:nvSpPr>
          <p:cNvPr id="12" name="Text 8"/>
          <p:cNvSpPr/>
          <p:nvPr/>
        </p:nvSpPr>
        <p:spPr>
          <a:xfrm>
            <a:off x="4873752" y="1700784"/>
            <a:ext cx="3566160" cy="9144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Belum ada cara memilah booking mana yang berisiko batal. Semua pemesanan diperlakukan sama, upaya retensi tidak terarah, dan pembatalan baru diketahui setelah terjadi.</a:t>
            </a:r>
            <a:endParaRPr lang="en-US" sz="1050" dirty="0"/>
          </a:p>
        </p:txBody>
      </p:sp>
      <p:sp>
        <p:nvSpPr>
          <p:cNvPr id="13" name="Shape 9"/>
          <p:cNvSpPr/>
          <p:nvPr/>
        </p:nvSpPr>
        <p:spPr>
          <a:xfrm>
            <a:off x="502920" y="2889504"/>
            <a:ext cx="8138160" cy="932688"/>
          </a:xfrm>
          <a:prstGeom prst="roundRect">
            <a:avLst>
              <a:gd name="adj" fmla="val 588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search_orange.png"/>
          <p:cNvPicPr>
            <a:picLocks noChangeAspect="1"/>
          </p:cNvPicPr>
          <p:nvPr/>
        </p:nvPicPr>
        <p:blipFill>
          <a:blip r:embed="rId5"/>
          <a:stretch>
            <a:fillRect/>
          </a:stretch>
        </p:blipFill>
        <p:spPr>
          <a:xfrm>
            <a:off x="731520" y="3090672"/>
            <a:ext cx="274320" cy="274320"/>
          </a:xfrm>
          <a:prstGeom prst="rect">
            <a:avLst/>
          </a:prstGeom>
        </p:spPr>
      </p:pic>
      <p:sp>
        <p:nvSpPr>
          <p:cNvPr id="15" name="Text 10"/>
          <p:cNvSpPr/>
          <p:nvPr/>
        </p:nvSpPr>
        <p:spPr>
          <a:xfrm>
            <a:off x="1115568" y="3072384"/>
            <a:ext cx="27432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Skala masalah dari data</a:t>
            </a:r>
            <a:endParaRPr lang="en-US" sz="1250" dirty="0"/>
          </a:p>
        </p:txBody>
      </p:sp>
      <p:sp>
        <p:nvSpPr>
          <p:cNvPr id="16" name="Text 11"/>
          <p:cNvSpPr/>
          <p:nvPr/>
        </p:nvSpPr>
        <p:spPr>
          <a:xfrm>
            <a:off x="1115568" y="3328416"/>
            <a:ext cx="7269480" cy="45720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2.405 dari 10.097 pemesanan (23,8%) berakhir dibatalkan — sekitar 1 dari 4 kamar yang sudah "terjual" berpotensi kosong kembali tanpa peringatan.</a:t>
            </a:r>
            <a:endParaRPr lang="en-US" sz="1050" dirty="0"/>
          </a:p>
        </p:txBody>
      </p:sp>
      <p:sp>
        <p:nvSpPr>
          <p:cNvPr id="17" name="Shape 12"/>
          <p:cNvSpPr/>
          <p:nvPr/>
        </p:nvSpPr>
        <p:spPr>
          <a:xfrm>
            <a:off x="502920" y="3950208"/>
            <a:ext cx="8138160" cy="658368"/>
          </a:xfrm>
          <a:prstGeom prst="roundRect">
            <a:avLst>
              <a:gd name="adj" fmla="val 833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brain_navy.png"/>
          <p:cNvPicPr>
            <a:picLocks noChangeAspect="1"/>
          </p:cNvPicPr>
          <p:nvPr/>
        </p:nvPicPr>
        <p:blipFill>
          <a:blip r:embed="rId6"/>
          <a:stretch>
            <a:fillRect/>
          </a:stretch>
        </p:blipFill>
        <p:spPr>
          <a:xfrm>
            <a:off x="731520" y="4096512"/>
            <a:ext cx="237744" cy="237744"/>
          </a:xfrm>
          <a:prstGeom prst="rect">
            <a:avLst/>
          </a:prstGeom>
        </p:spPr>
      </p:pic>
      <p:sp>
        <p:nvSpPr>
          <p:cNvPr id="19" name="Text 13"/>
          <p:cNvSpPr/>
          <p:nvPr/>
        </p:nvSpPr>
        <p:spPr>
          <a:xfrm>
            <a:off x="1115568" y="4059936"/>
            <a:ext cx="7269480" cy="45720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Mengapa Machine Learning: pola pembatalan melibatkan interaksi banyak faktor (jenis deposit, kanal, profil tamu) yang sulit dirumuskan lewat aturan manual, dan volumenya terlalu besar untuk dinilai satu per satu oleh staf.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BUSINESS PROBLEM</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Dua jenis kesalahan model, dua bobot biaya yang berbeda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02920" y="1097280"/>
            <a:ext cx="3977640" cy="1874520"/>
          </a:xfrm>
          <a:prstGeom prst="roundRect">
            <a:avLst>
              <a:gd name="adj" fmla="val 292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31520" y="1280160"/>
            <a:ext cx="3566160" cy="256032"/>
          </a:xfrm>
          <a:prstGeom prst="rect">
            <a:avLst/>
          </a:prstGeom>
          <a:noFill/>
          <a:ln/>
        </p:spPr>
        <p:txBody>
          <a:bodyPr wrap="square" lIns="0" tIns="0" rIns="0" bIns="0" rtlCol="0" anchor="ctr"/>
          <a:lstStyle/>
          <a:p>
            <a:pPr marL="0" indent="0">
              <a:buNone/>
            </a:pPr>
            <a:r>
              <a:rPr lang="en-US" sz="1500" b="1" dirty="0">
                <a:solidFill>
                  <a:srgbClr val="B3392E"/>
                </a:solidFill>
                <a:latin typeface="Calibri" pitchFamily="34" charset="0"/>
                <a:ea typeface="Calibri" pitchFamily="34" charset="-122"/>
                <a:cs typeface="Calibri" pitchFamily="34" charset="-120"/>
              </a:rPr>
              <a:t>False Negative</a:t>
            </a:r>
            <a:endParaRPr lang="en-US" sz="1500" dirty="0"/>
          </a:p>
        </p:txBody>
      </p:sp>
      <p:sp>
        <p:nvSpPr>
          <p:cNvPr id="7" name="Text 5"/>
          <p:cNvSpPr/>
          <p:nvPr/>
        </p:nvSpPr>
        <p:spPr>
          <a:xfrm>
            <a:off x="731520" y="1572768"/>
            <a:ext cx="3566160" cy="219456"/>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Diprediksi aman, ternyata dibatalkan.</a:t>
            </a:r>
            <a:endParaRPr lang="en-US" sz="1050" dirty="0"/>
          </a:p>
        </p:txBody>
      </p:sp>
      <p:sp>
        <p:nvSpPr>
          <p:cNvPr id="8" name="Text 6"/>
          <p:cNvSpPr/>
          <p:nvPr/>
        </p:nvSpPr>
        <p:spPr>
          <a:xfrm>
            <a:off x="731520" y="1847088"/>
            <a:ext cx="3566160" cy="1152144"/>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Kamar kosong mendadak tanpa antisipasi</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Pendapatan hilang permanen — tidak bisa dijual ulang</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Staf dan persediaan sudah terlanjur dialokasikan</a:t>
            </a:r>
            <a:endParaRPr lang="en-US" sz="1000" dirty="0"/>
          </a:p>
        </p:txBody>
      </p:sp>
      <p:sp>
        <p:nvSpPr>
          <p:cNvPr id="9" name="Shape 7"/>
          <p:cNvSpPr/>
          <p:nvPr/>
        </p:nvSpPr>
        <p:spPr>
          <a:xfrm>
            <a:off x="4663440" y="1097280"/>
            <a:ext cx="3977640" cy="1874520"/>
          </a:xfrm>
          <a:prstGeom prst="roundRect">
            <a:avLst>
              <a:gd name="adj" fmla="val 292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92040" y="1280160"/>
            <a:ext cx="3566160" cy="256032"/>
          </a:xfrm>
          <a:prstGeom prst="rect">
            <a:avLst/>
          </a:prstGeom>
          <a:noFill/>
          <a:ln/>
        </p:spPr>
        <p:txBody>
          <a:bodyPr wrap="square" lIns="0" tIns="0" rIns="0" bIns="0" rtlCol="0" anchor="ctr"/>
          <a:lstStyle/>
          <a:p>
            <a:pPr marL="0" indent="0">
              <a:buNone/>
            </a:pPr>
            <a:r>
              <a:rPr lang="en-US" sz="1500" b="1" dirty="0">
                <a:solidFill>
                  <a:srgbClr val="123A5E"/>
                </a:solidFill>
                <a:latin typeface="Calibri" pitchFamily="34" charset="0"/>
                <a:ea typeface="Calibri" pitchFamily="34" charset="-122"/>
                <a:cs typeface="Calibri" pitchFamily="34" charset="-120"/>
              </a:rPr>
              <a:t>False Positive</a:t>
            </a:r>
            <a:endParaRPr lang="en-US" sz="1500" dirty="0"/>
          </a:p>
        </p:txBody>
      </p:sp>
      <p:sp>
        <p:nvSpPr>
          <p:cNvPr id="11" name="Text 9"/>
          <p:cNvSpPr/>
          <p:nvPr/>
        </p:nvSpPr>
        <p:spPr>
          <a:xfrm>
            <a:off x="4892040" y="1572768"/>
            <a:ext cx="3566160" cy="219456"/>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Diprediksi batal, ternyata tetap menginap.</a:t>
            </a:r>
            <a:endParaRPr lang="en-US" sz="1050" dirty="0"/>
          </a:p>
        </p:txBody>
      </p:sp>
      <p:sp>
        <p:nvSpPr>
          <p:cNvPr id="12" name="Text 10"/>
          <p:cNvSpPr/>
          <p:nvPr/>
        </p:nvSpPr>
        <p:spPr>
          <a:xfrm>
            <a:off x="4892040" y="1847088"/>
            <a:ext cx="3566160" cy="1152144"/>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Biaya satu telepon konfirmasi atau insentif ringan</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Risiko mengganggu tamu bila terlalu sering dihubungi</a:t>
            </a:r>
            <a:endParaRPr lang="en-US" sz="1000" dirty="0"/>
          </a:p>
          <a:p>
            <a:pPr marL="342900" indent="-342900">
              <a:lnSpc>
                <a:spcPts val="1300"/>
              </a:lnSpc>
              <a:spcAft>
                <a:spcPts val="500"/>
              </a:spcAft>
              <a:buSzPct val="100000"/>
              <a:buChar char="•"/>
            </a:pPr>
            <a:r>
              <a:rPr lang="en-US" sz="1000" dirty="0">
                <a:solidFill>
                  <a:srgbClr val="16202B"/>
                </a:solidFill>
                <a:latin typeface="Calibri" pitchFamily="34" charset="0"/>
                <a:ea typeface="Calibri" pitchFamily="34" charset="-122"/>
                <a:cs typeface="Calibri" pitchFamily="34" charset="-120"/>
              </a:rPr>
              <a:t>Sebagian justru menaikkan kepuasan tamu</a:t>
            </a:r>
            <a:endParaRPr lang="en-US" sz="1000" dirty="0"/>
          </a:p>
        </p:txBody>
      </p:sp>
      <p:sp>
        <p:nvSpPr>
          <p:cNvPr id="13" name="Shape 11"/>
          <p:cNvSpPr/>
          <p:nvPr/>
        </p:nvSpPr>
        <p:spPr>
          <a:xfrm>
            <a:off x="502920" y="3145536"/>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0" descr="/home/claude/assets/ic_scale_navy.png"/>
          <p:cNvPicPr>
            <a:picLocks noChangeAspect="1"/>
          </p:cNvPicPr>
          <p:nvPr/>
        </p:nvPicPr>
        <p:blipFill>
          <a:blip r:embed="rId3"/>
          <a:stretch>
            <a:fillRect/>
          </a:stretch>
        </p:blipFill>
        <p:spPr>
          <a:xfrm>
            <a:off x="731520" y="3346704"/>
            <a:ext cx="274320" cy="274320"/>
          </a:xfrm>
          <a:prstGeom prst="rect">
            <a:avLst/>
          </a:prstGeom>
        </p:spPr>
      </p:pic>
      <p:sp>
        <p:nvSpPr>
          <p:cNvPr id="15" name="Text 12"/>
          <p:cNvSpPr/>
          <p:nvPr/>
        </p:nvSpPr>
        <p:spPr>
          <a:xfrm>
            <a:off x="1115568" y="3328416"/>
            <a:ext cx="36576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Konsekuensi untuk pemilihan metrik</a:t>
            </a:r>
            <a:endParaRPr lang="en-US" sz="1250" dirty="0"/>
          </a:p>
        </p:txBody>
      </p:sp>
      <p:sp>
        <p:nvSpPr>
          <p:cNvPr id="16" name="Text 13"/>
          <p:cNvSpPr/>
          <p:nvPr/>
        </p:nvSpPr>
        <p:spPr>
          <a:xfrm>
            <a:off x="1115568" y="3584448"/>
            <a:ext cx="7269480" cy="548640"/>
          </a:xfrm>
          <a:prstGeom prst="rect">
            <a:avLst/>
          </a:prstGeom>
          <a:noFill/>
          <a:ln/>
        </p:spPr>
        <p:txBody>
          <a:bodyPr wrap="square" lIns="0" tIns="0" rIns="0" bIns="0" rtlCol="0" anchor="t"/>
          <a:lstStyle/>
          <a:p>
            <a:pPr marL="0" indent="0">
              <a:lnSpc>
                <a:spcPts val="1397"/>
              </a:lnSpc>
              <a:buNone/>
            </a:pPr>
            <a:r>
              <a:rPr lang="en-US" sz="1050" dirty="0">
                <a:solidFill>
                  <a:srgbClr val="16202B"/>
                </a:solidFill>
                <a:latin typeface="Calibri" pitchFamily="34" charset="0"/>
                <a:ea typeface="Calibri" pitchFamily="34" charset="-122"/>
                <a:cs typeface="Calibri" pitchFamily="34" charset="-120"/>
              </a:rPr>
              <a:t>Karena biaya False Negative jauh lebih besar daripada False Positive, model harus dioptimalkan untuk menangkap sebanyak mungkin pembatalan. Inilah alasan Recall dipilih sebagai metrik utama, bukan Accuracy. Namun Precision tetap dipantau karena kapasitas tim intervensi terbatas.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EXECUTIVE SUMMARY</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Goal, Stakeholder, dan Pendekatan Analitis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0292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target_navy.png"/>
          <p:cNvPicPr>
            <a:picLocks noChangeAspect="1"/>
          </p:cNvPicPr>
          <p:nvPr/>
        </p:nvPicPr>
        <p:blipFill>
          <a:blip r:embed="rId3"/>
          <a:stretch>
            <a:fillRect/>
          </a:stretch>
        </p:blipFill>
        <p:spPr>
          <a:xfrm>
            <a:off x="704088" y="1316736"/>
            <a:ext cx="292608" cy="292608"/>
          </a:xfrm>
          <a:prstGeom prst="rect">
            <a:avLst/>
          </a:prstGeom>
        </p:spPr>
      </p:pic>
      <p:sp>
        <p:nvSpPr>
          <p:cNvPr id="7" name="Text 4"/>
          <p:cNvSpPr/>
          <p:nvPr/>
        </p:nvSpPr>
        <p:spPr>
          <a:xfrm>
            <a:off x="1106424"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Goal</a:t>
            </a:r>
            <a:endParaRPr lang="en-US" sz="1250" dirty="0"/>
          </a:p>
        </p:txBody>
      </p:sp>
      <p:sp>
        <p:nvSpPr>
          <p:cNvPr id="8" name="Text 5"/>
          <p:cNvSpPr/>
          <p:nvPr/>
        </p:nvSpPr>
        <p:spPr>
          <a:xfrm>
            <a:off x="704088" y="1682496"/>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Mendeteksi booking berisiko batal sebelum tanggal menginap agar tim dapat melakukan intervensi proaktif — konfirmasi ulang, insentif, atau overbooking terukur.</a:t>
            </a:r>
            <a:endParaRPr lang="en-US" sz="1020" dirty="0"/>
          </a:p>
        </p:txBody>
      </p:sp>
      <p:sp>
        <p:nvSpPr>
          <p:cNvPr id="9" name="Shape 6"/>
          <p:cNvSpPr/>
          <p:nvPr/>
        </p:nvSpPr>
        <p:spPr>
          <a:xfrm>
            <a:off x="466344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users_navy.png"/>
          <p:cNvPicPr>
            <a:picLocks noChangeAspect="1"/>
          </p:cNvPicPr>
          <p:nvPr/>
        </p:nvPicPr>
        <p:blipFill>
          <a:blip r:embed="rId4"/>
          <a:stretch>
            <a:fillRect/>
          </a:stretch>
        </p:blipFill>
        <p:spPr>
          <a:xfrm>
            <a:off x="4864608" y="1316736"/>
            <a:ext cx="292608" cy="292608"/>
          </a:xfrm>
          <a:prstGeom prst="rect">
            <a:avLst/>
          </a:prstGeom>
        </p:spPr>
      </p:pic>
      <p:sp>
        <p:nvSpPr>
          <p:cNvPr id="11" name="Text 7"/>
          <p:cNvSpPr/>
          <p:nvPr/>
        </p:nvSpPr>
        <p:spPr>
          <a:xfrm>
            <a:off x="5266944"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Stakeholder</a:t>
            </a:r>
            <a:endParaRPr lang="en-US" sz="1250" dirty="0"/>
          </a:p>
        </p:txBody>
      </p:sp>
      <p:sp>
        <p:nvSpPr>
          <p:cNvPr id="12" name="Text 8"/>
          <p:cNvSpPr/>
          <p:nvPr/>
        </p:nvSpPr>
        <p:spPr>
          <a:xfrm>
            <a:off x="4864608" y="1682496"/>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Revenue Management (keputusan harga &amp; overbooking) dan Customer Service (eksekusi kontak ke tamu berisiko).</a:t>
            </a:r>
            <a:endParaRPr lang="en-US" sz="1020" dirty="0"/>
          </a:p>
        </p:txBody>
      </p:sp>
      <p:sp>
        <p:nvSpPr>
          <p:cNvPr id="13" name="Shape 9"/>
          <p:cNvSpPr/>
          <p:nvPr/>
        </p:nvSpPr>
        <p:spPr>
          <a:xfrm>
            <a:off x="50292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gear_navy.png"/>
          <p:cNvPicPr>
            <a:picLocks noChangeAspect="1"/>
          </p:cNvPicPr>
          <p:nvPr/>
        </p:nvPicPr>
        <p:blipFill>
          <a:blip r:embed="rId5"/>
          <a:stretch>
            <a:fillRect/>
          </a:stretch>
        </p:blipFill>
        <p:spPr>
          <a:xfrm>
            <a:off x="704088" y="2889504"/>
            <a:ext cx="292608" cy="292608"/>
          </a:xfrm>
          <a:prstGeom prst="rect">
            <a:avLst/>
          </a:prstGeom>
        </p:spPr>
      </p:pic>
      <p:sp>
        <p:nvSpPr>
          <p:cNvPr id="15" name="Text 10"/>
          <p:cNvSpPr/>
          <p:nvPr/>
        </p:nvSpPr>
        <p:spPr>
          <a:xfrm>
            <a:off x="1106424"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Analytical Approach</a:t>
            </a:r>
            <a:endParaRPr lang="en-US" sz="1250" dirty="0"/>
          </a:p>
        </p:txBody>
      </p:sp>
      <p:sp>
        <p:nvSpPr>
          <p:cNvPr id="16" name="Text 11"/>
          <p:cNvSpPr/>
          <p:nvPr/>
        </p:nvSpPr>
        <p:spPr>
          <a:xfrm>
            <a:off x="704088" y="3255264"/>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Supervised learning, klasifikasi biner. Target: is_canceled. Positive class = pembatalan (1), karena itu yang ingin dideteksi.</a:t>
            </a:r>
            <a:endParaRPr lang="en-US" sz="1020" dirty="0"/>
          </a:p>
        </p:txBody>
      </p:sp>
      <p:sp>
        <p:nvSpPr>
          <p:cNvPr id="17" name="Shape 12"/>
          <p:cNvSpPr/>
          <p:nvPr/>
        </p:nvSpPr>
        <p:spPr>
          <a:xfrm>
            <a:off x="466344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scale_navy.png"/>
          <p:cNvPicPr>
            <a:picLocks noChangeAspect="1"/>
          </p:cNvPicPr>
          <p:nvPr/>
        </p:nvPicPr>
        <p:blipFill>
          <a:blip r:embed="rId6"/>
          <a:stretch>
            <a:fillRect/>
          </a:stretch>
        </p:blipFill>
        <p:spPr>
          <a:xfrm>
            <a:off x="4864608" y="2889504"/>
            <a:ext cx="292608" cy="292608"/>
          </a:xfrm>
          <a:prstGeom prst="rect">
            <a:avLst/>
          </a:prstGeom>
        </p:spPr>
      </p:pic>
      <p:sp>
        <p:nvSpPr>
          <p:cNvPr id="19" name="Text 13"/>
          <p:cNvSpPr/>
          <p:nvPr/>
        </p:nvSpPr>
        <p:spPr>
          <a:xfrm>
            <a:off x="5266944"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Metrik Utama</a:t>
            </a:r>
            <a:endParaRPr lang="en-US" sz="1250" dirty="0"/>
          </a:p>
        </p:txBody>
      </p:sp>
      <p:sp>
        <p:nvSpPr>
          <p:cNvPr id="20" name="Text 14"/>
          <p:cNvSpPr/>
          <p:nvPr/>
        </p:nvSpPr>
        <p:spPr>
          <a:xfrm>
            <a:off x="4864608" y="3255264"/>
            <a:ext cx="3584448" cy="786384"/>
          </a:xfrm>
          <a:prstGeom prst="rect">
            <a:avLst/>
          </a:prstGeom>
          <a:noFill/>
          <a:ln/>
        </p:spPr>
        <p:txBody>
          <a:bodyPr wrap="square" lIns="0" tIns="0" rIns="0" bIns="0" rtlCol="0" anchor="t"/>
          <a:lstStyle/>
          <a:p>
            <a:pPr marL="0" indent="0">
              <a:lnSpc>
                <a:spcPts val="1357"/>
              </a:lnSpc>
              <a:buNone/>
            </a:pPr>
            <a:r>
              <a:rPr lang="en-US" sz="1020" dirty="0">
                <a:solidFill>
                  <a:srgbClr val="16202B"/>
                </a:solidFill>
                <a:latin typeface="Calibri" pitchFamily="34" charset="0"/>
                <a:ea typeface="Calibri" pitchFamily="34" charset="-122"/>
                <a:cs typeface="Calibri" pitchFamily="34" charset="-120"/>
              </a:rPr>
              <a:t>Recall untuk kelas positif, dengan Precision, F1-Score, dan AUC-ROC sebagai metrik pendamping.</a:t>
            </a:r>
            <a:endParaRPr lang="en-US" sz="1020" dirty="0"/>
          </a:p>
        </p:txBody>
      </p:sp>
      <p:sp>
        <p:nvSpPr>
          <p:cNvPr id="21" name="Shape 15"/>
          <p:cNvSpPr/>
          <p:nvPr/>
        </p:nvSpPr>
        <p:spPr>
          <a:xfrm>
            <a:off x="502920" y="4315968"/>
            <a:ext cx="8138160" cy="384048"/>
          </a:xfrm>
          <a:prstGeom prst="roundRect">
            <a:avLst>
              <a:gd name="adj" fmla="val 14286"/>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2" name="Text 16"/>
          <p:cNvSpPr/>
          <p:nvPr/>
        </p:nvSpPr>
        <p:spPr>
          <a:xfrm>
            <a:off x="713232" y="4407408"/>
            <a:ext cx="7772400" cy="256032"/>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Definisi target: kolom is_canceled sudah tersedia dalam dataset — 1 berarti pemesanan dibatalkan, 0 berarti tamu jadi menginap.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EVALUATION METRICS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Cara kerja metrik evaluasi yang dipakai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02920" y="1097280"/>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13232" y="1207008"/>
            <a:ext cx="1371600" cy="237744"/>
          </a:xfrm>
          <a:prstGeom prst="rect">
            <a:avLst/>
          </a:prstGeom>
          <a:noFill/>
          <a:ln/>
        </p:spPr>
        <p:txBody>
          <a:bodyPr wrap="square" lIns="0" tIns="0" rIns="0" bIns="0" rtlCol="0" anchor="ctr"/>
          <a:lstStyle/>
          <a:p>
            <a:pPr marL="0" indent="0">
              <a:buNone/>
            </a:pPr>
            <a:r>
              <a:rPr lang="en-US" sz="1300" b="1" dirty="0">
                <a:solidFill>
                  <a:srgbClr val="E2703A"/>
                </a:solidFill>
                <a:latin typeface="Calibri" pitchFamily="34" charset="0"/>
                <a:ea typeface="Calibri" pitchFamily="34" charset="-122"/>
                <a:cs typeface="Calibri" pitchFamily="34" charset="-120"/>
              </a:rPr>
              <a:t>Recall</a:t>
            </a:r>
            <a:endParaRPr lang="en-US" sz="1300" dirty="0"/>
          </a:p>
        </p:txBody>
      </p:sp>
      <p:sp>
        <p:nvSpPr>
          <p:cNvPr id="7" name="Text 5"/>
          <p:cNvSpPr/>
          <p:nvPr/>
        </p:nvSpPr>
        <p:spPr>
          <a:xfrm>
            <a:off x="713232" y="1481328"/>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TP / (TP + FN)</a:t>
            </a:r>
            <a:endParaRPr lang="en-US" sz="950" dirty="0"/>
          </a:p>
        </p:txBody>
      </p:sp>
      <p:sp>
        <p:nvSpPr>
          <p:cNvPr id="8" name="Shape 6"/>
          <p:cNvSpPr/>
          <p:nvPr/>
        </p:nvSpPr>
        <p:spPr>
          <a:xfrm>
            <a:off x="2615184" y="1280160"/>
            <a:ext cx="1783080" cy="384048"/>
          </a:xfrm>
          <a:prstGeom prst="roundRect">
            <a:avLst>
              <a:gd name="adj" fmla="val 11905"/>
            </a:avLst>
          </a:prstGeom>
          <a:solidFill>
            <a:srgbClr val="EEF3F8"/>
          </a:solidFill>
          <a:ln/>
        </p:spPr>
        <p:txBody>
          <a:bodyPr/>
          <a:lstStyle/>
          <a:p>
            <a:endParaRPr lang="en-ID"/>
          </a:p>
        </p:txBody>
      </p:sp>
      <p:sp>
        <p:nvSpPr>
          <p:cNvPr id="9" name="Text 7"/>
          <p:cNvSpPr/>
          <p:nvPr/>
        </p:nvSpPr>
        <p:spPr>
          <a:xfrm>
            <a:off x="2651760" y="1353312"/>
            <a:ext cx="1709928" cy="237744"/>
          </a:xfrm>
          <a:prstGeom prst="rect">
            <a:avLst/>
          </a:prstGeom>
          <a:noFill/>
          <a:ln/>
        </p:spPr>
        <p:txBody>
          <a:bodyPr wrap="square" lIns="0" tIns="0" rIns="0" bIns="0" rtlCol="0" anchor="ctr"/>
          <a:lstStyle/>
          <a:p>
            <a:pPr marL="0" indent="0" algn="ctr">
              <a:buNone/>
            </a:pPr>
            <a:r>
              <a:rPr lang="en-US" sz="1000" b="1">
                <a:solidFill>
                  <a:srgbClr val="16202B"/>
                </a:solidFill>
                <a:latin typeface="Consolas" pitchFamily="34" charset="0"/>
                <a:ea typeface="Consolas" pitchFamily="34" charset="-122"/>
                <a:cs typeface="Consolas" pitchFamily="34" charset="-120"/>
              </a:rPr>
              <a:t>399 / (399 + 82) = 0,830</a:t>
            </a:r>
            <a:endParaRPr lang="en-US" sz="1000" dirty="0"/>
          </a:p>
        </p:txBody>
      </p:sp>
      <p:sp>
        <p:nvSpPr>
          <p:cNvPr id="10" name="Text 8"/>
          <p:cNvSpPr/>
          <p:nvPr/>
        </p:nvSpPr>
        <p:spPr>
          <a:xfrm>
            <a:off x="4572000" y="1280160"/>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Dari seluruh pembatalan yang benar-benar terjadi, berapa persen berhasil ditangkap model.</a:t>
            </a:r>
            <a:endParaRPr lang="en-US" sz="980" dirty="0"/>
          </a:p>
        </p:txBody>
      </p:sp>
      <p:sp>
        <p:nvSpPr>
          <p:cNvPr id="11" name="Shape 9"/>
          <p:cNvSpPr/>
          <p:nvPr/>
        </p:nvSpPr>
        <p:spPr>
          <a:xfrm>
            <a:off x="502920" y="1956816"/>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10"/>
          <p:cNvSpPr/>
          <p:nvPr/>
        </p:nvSpPr>
        <p:spPr>
          <a:xfrm>
            <a:off x="713232" y="2066544"/>
            <a:ext cx="1371600" cy="237744"/>
          </a:xfrm>
          <a:prstGeom prst="rect">
            <a:avLst/>
          </a:prstGeom>
          <a:noFill/>
          <a:ln/>
        </p:spPr>
        <p:txBody>
          <a:bodyPr wrap="square" lIns="0" tIns="0" rIns="0" bIns="0" rtlCol="0" anchor="ctr"/>
          <a:lstStyle/>
          <a:p>
            <a:pPr marL="0" indent="0">
              <a:buNone/>
            </a:pPr>
            <a:r>
              <a:rPr lang="en-US" sz="1300" b="1" dirty="0">
                <a:solidFill>
                  <a:srgbClr val="123A5E"/>
                </a:solidFill>
                <a:latin typeface="Calibri" pitchFamily="34" charset="0"/>
                <a:ea typeface="Calibri" pitchFamily="34" charset="-122"/>
                <a:cs typeface="Calibri" pitchFamily="34" charset="-120"/>
              </a:rPr>
              <a:t>Precision</a:t>
            </a:r>
            <a:endParaRPr lang="en-US" sz="1300" dirty="0"/>
          </a:p>
        </p:txBody>
      </p:sp>
      <p:sp>
        <p:nvSpPr>
          <p:cNvPr id="13" name="Text 11"/>
          <p:cNvSpPr/>
          <p:nvPr/>
        </p:nvSpPr>
        <p:spPr>
          <a:xfrm>
            <a:off x="713232" y="2340864"/>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TP / (TP + FP)</a:t>
            </a:r>
            <a:endParaRPr lang="en-US" sz="950" dirty="0"/>
          </a:p>
        </p:txBody>
      </p:sp>
      <p:sp>
        <p:nvSpPr>
          <p:cNvPr id="14" name="Shape 12"/>
          <p:cNvSpPr/>
          <p:nvPr/>
        </p:nvSpPr>
        <p:spPr>
          <a:xfrm>
            <a:off x="2615184" y="2139696"/>
            <a:ext cx="1783080" cy="384048"/>
          </a:xfrm>
          <a:prstGeom prst="roundRect">
            <a:avLst>
              <a:gd name="adj" fmla="val 11905"/>
            </a:avLst>
          </a:prstGeom>
          <a:solidFill>
            <a:srgbClr val="EEF3F8"/>
          </a:solidFill>
          <a:ln/>
        </p:spPr>
        <p:txBody>
          <a:bodyPr/>
          <a:lstStyle/>
          <a:p>
            <a:endParaRPr lang="en-ID"/>
          </a:p>
        </p:txBody>
      </p:sp>
      <p:sp>
        <p:nvSpPr>
          <p:cNvPr id="15" name="Text 13"/>
          <p:cNvSpPr/>
          <p:nvPr/>
        </p:nvSpPr>
        <p:spPr>
          <a:xfrm>
            <a:off x="2651760" y="2212848"/>
            <a:ext cx="1709928" cy="237744"/>
          </a:xfrm>
          <a:prstGeom prst="rect">
            <a:avLst/>
          </a:prstGeom>
          <a:noFill/>
          <a:ln/>
        </p:spPr>
        <p:txBody>
          <a:bodyPr wrap="square" lIns="0" tIns="0" rIns="0" bIns="0" rtlCol="0" anchor="ctr"/>
          <a:lstStyle/>
          <a:p>
            <a:pPr marL="0" indent="0" algn="ctr">
              <a:buNone/>
            </a:pPr>
            <a:r>
              <a:rPr lang="en-US" sz="1000" b="1">
                <a:solidFill>
                  <a:srgbClr val="16202B"/>
                </a:solidFill>
                <a:latin typeface="Consolas" pitchFamily="34" charset="0"/>
                <a:ea typeface="Consolas" pitchFamily="34" charset="-122"/>
                <a:cs typeface="Consolas" pitchFamily="34" charset="-120"/>
              </a:rPr>
              <a:t>399 / (399 + 471) = 0,459</a:t>
            </a:r>
            <a:endParaRPr lang="en-US" sz="1000" dirty="0"/>
          </a:p>
        </p:txBody>
      </p:sp>
      <p:sp>
        <p:nvSpPr>
          <p:cNvPr id="16" name="Text 14"/>
          <p:cNvSpPr/>
          <p:nvPr/>
        </p:nvSpPr>
        <p:spPr>
          <a:xfrm>
            <a:off x="4572000" y="2139696"/>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Dari seluruh booking yang ditandai berisiko, berapa persen yang benar-benar batal.</a:t>
            </a:r>
            <a:endParaRPr lang="en-US" sz="980" dirty="0"/>
          </a:p>
        </p:txBody>
      </p:sp>
      <p:sp>
        <p:nvSpPr>
          <p:cNvPr id="17" name="Shape 15"/>
          <p:cNvSpPr/>
          <p:nvPr/>
        </p:nvSpPr>
        <p:spPr>
          <a:xfrm>
            <a:off x="502920" y="2816352"/>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Text 16"/>
          <p:cNvSpPr/>
          <p:nvPr/>
        </p:nvSpPr>
        <p:spPr>
          <a:xfrm>
            <a:off x="713232" y="2926080"/>
            <a:ext cx="1371600" cy="237744"/>
          </a:xfrm>
          <a:prstGeom prst="rect">
            <a:avLst/>
          </a:prstGeom>
          <a:noFill/>
          <a:ln/>
        </p:spPr>
        <p:txBody>
          <a:bodyPr wrap="square" lIns="0" tIns="0" rIns="0" bIns="0" rtlCol="0" anchor="ctr"/>
          <a:lstStyle/>
          <a:p>
            <a:pPr marL="0" indent="0">
              <a:buNone/>
            </a:pPr>
            <a:r>
              <a:rPr lang="en-US" sz="1300" b="1" dirty="0">
                <a:solidFill>
                  <a:srgbClr val="123A5E"/>
                </a:solidFill>
                <a:latin typeface="Calibri" pitchFamily="34" charset="0"/>
                <a:ea typeface="Calibri" pitchFamily="34" charset="-122"/>
                <a:cs typeface="Calibri" pitchFamily="34" charset="-120"/>
              </a:rPr>
              <a:t>F1-Score</a:t>
            </a:r>
            <a:endParaRPr lang="en-US" sz="1300" dirty="0"/>
          </a:p>
        </p:txBody>
      </p:sp>
      <p:sp>
        <p:nvSpPr>
          <p:cNvPr id="19" name="Text 17"/>
          <p:cNvSpPr/>
          <p:nvPr/>
        </p:nvSpPr>
        <p:spPr>
          <a:xfrm>
            <a:off x="713232" y="3200400"/>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2·(P·R) / (P + R)</a:t>
            </a:r>
            <a:endParaRPr lang="en-US" sz="950" dirty="0"/>
          </a:p>
        </p:txBody>
      </p:sp>
      <p:sp>
        <p:nvSpPr>
          <p:cNvPr id="20" name="Shape 18"/>
          <p:cNvSpPr/>
          <p:nvPr/>
        </p:nvSpPr>
        <p:spPr>
          <a:xfrm>
            <a:off x="2615184" y="2999232"/>
            <a:ext cx="1783080" cy="384048"/>
          </a:xfrm>
          <a:prstGeom prst="roundRect">
            <a:avLst>
              <a:gd name="adj" fmla="val 11905"/>
            </a:avLst>
          </a:prstGeom>
          <a:solidFill>
            <a:srgbClr val="EEF3F8"/>
          </a:solidFill>
          <a:ln/>
        </p:spPr>
        <p:txBody>
          <a:bodyPr/>
          <a:lstStyle/>
          <a:p>
            <a:endParaRPr lang="en-ID"/>
          </a:p>
        </p:txBody>
      </p:sp>
      <p:sp>
        <p:nvSpPr>
          <p:cNvPr id="21" name="Text 19"/>
          <p:cNvSpPr/>
          <p:nvPr/>
        </p:nvSpPr>
        <p:spPr>
          <a:xfrm>
            <a:off x="2651760" y="3072384"/>
            <a:ext cx="1709928" cy="237744"/>
          </a:xfrm>
          <a:prstGeom prst="rect">
            <a:avLst/>
          </a:prstGeom>
          <a:noFill/>
          <a:ln/>
        </p:spPr>
        <p:txBody>
          <a:bodyPr wrap="square" lIns="0" tIns="0" rIns="0" bIns="0" rtlCol="0" anchor="ctr"/>
          <a:lstStyle/>
          <a:p>
            <a:pPr marL="0" indent="0" algn="ctr">
              <a:buNone/>
            </a:pPr>
            <a:r>
              <a:rPr lang="en-US" sz="1000" b="1">
                <a:solidFill>
                  <a:srgbClr val="16202B"/>
                </a:solidFill>
                <a:latin typeface="Consolas" pitchFamily="34" charset="0"/>
                <a:ea typeface="Consolas" pitchFamily="34" charset="-122"/>
                <a:cs typeface="Consolas" pitchFamily="34" charset="-120"/>
              </a:rPr>
              <a:t>= 0,591</a:t>
            </a:r>
            <a:endParaRPr lang="en-US" sz="1000" dirty="0"/>
          </a:p>
        </p:txBody>
      </p:sp>
      <p:sp>
        <p:nvSpPr>
          <p:cNvPr id="22" name="Text 20"/>
          <p:cNvSpPr/>
          <p:nvPr/>
        </p:nvSpPr>
        <p:spPr>
          <a:xfrm>
            <a:off x="4572000" y="2999232"/>
            <a:ext cx="3913632" cy="50292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Rata-rata harmonik keduanya. Dipakai memantau agar Recall tidak naik dengan mengorbankan Precision secara ekstrem.</a:t>
            </a:r>
            <a:endParaRPr lang="en-US" sz="980" dirty="0"/>
          </a:p>
        </p:txBody>
      </p:sp>
      <p:sp>
        <p:nvSpPr>
          <p:cNvPr id="23" name="Shape 21"/>
          <p:cNvSpPr/>
          <p:nvPr/>
        </p:nvSpPr>
        <p:spPr>
          <a:xfrm>
            <a:off x="502920" y="3675888"/>
            <a:ext cx="8138160" cy="749808"/>
          </a:xfrm>
          <a:prstGeom prst="roundRect">
            <a:avLst>
              <a:gd name="adj" fmla="val 731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Text 22"/>
          <p:cNvSpPr/>
          <p:nvPr/>
        </p:nvSpPr>
        <p:spPr>
          <a:xfrm>
            <a:off x="713232" y="3785616"/>
            <a:ext cx="1371600" cy="237744"/>
          </a:xfrm>
          <a:prstGeom prst="rect">
            <a:avLst/>
          </a:prstGeom>
          <a:noFill/>
          <a:ln/>
        </p:spPr>
        <p:txBody>
          <a:bodyPr wrap="square" lIns="0" tIns="0" rIns="0" bIns="0" rtlCol="0" anchor="ctr"/>
          <a:lstStyle/>
          <a:p>
            <a:pPr marL="0" indent="0">
              <a:buNone/>
            </a:pPr>
            <a:r>
              <a:rPr lang="en-US" sz="1300" b="1" dirty="0">
                <a:solidFill>
                  <a:srgbClr val="2F7D5E"/>
                </a:solidFill>
                <a:latin typeface="Calibri" pitchFamily="34" charset="0"/>
                <a:ea typeface="Calibri" pitchFamily="34" charset="-122"/>
                <a:cs typeface="Calibri" pitchFamily="34" charset="-120"/>
              </a:rPr>
              <a:t>AUC-ROC</a:t>
            </a:r>
            <a:endParaRPr lang="en-US" sz="1300" dirty="0"/>
          </a:p>
        </p:txBody>
      </p:sp>
      <p:sp>
        <p:nvSpPr>
          <p:cNvPr id="25" name="Text 23"/>
          <p:cNvSpPr/>
          <p:nvPr/>
        </p:nvSpPr>
        <p:spPr>
          <a:xfrm>
            <a:off x="713232" y="4059936"/>
            <a:ext cx="1828800" cy="219456"/>
          </a:xfrm>
          <a:prstGeom prst="rect">
            <a:avLst/>
          </a:prstGeom>
          <a:noFill/>
          <a:ln/>
        </p:spPr>
        <p:txBody>
          <a:bodyPr wrap="square" lIns="0" tIns="0" rIns="0" bIns="0" rtlCol="0" anchor="ctr"/>
          <a:lstStyle/>
          <a:p>
            <a:pPr marL="0" indent="0">
              <a:buNone/>
            </a:pPr>
            <a:r>
              <a:rPr lang="en-US" sz="950" dirty="0">
                <a:solidFill>
                  <a:srgbClr val="6B7885"/>
                </a:solidFill>
                <a:latin typeface="Consolas" pitchFamily="34" charset="0"/>
                <a:ea typeface="Consolas" pitchFamily="34" charset="-122"/>
                <a:cs typeface="Consolas" pitchFamily="34" charset="-120"/>
              </a:rPr>
              <a:t>Area di bawah kurva ROC</a:t>
            </a:r>
            <a:endParaRPr lang="en-US" sz="950" dirty="0"/>
          </a:p>
        </p:txBody>
      </p:sp>
      <p:sp>
        <p:nvSpPr>
          <p:cNvPr id="26" name="Shape 24"/>
          <p:cNvSpPr/>
          <p:nvPr/>
        </p:nvSpPr>
        <p:spPr>
          <a:xfrm>
            <a:off x="2615184" y="3858768"/>
            <a:ext cx="1783080" cy="384048"/>
          </a:xfrm>
          <a:prstGeom prst="roundRect">
            <a:avLst>
              <a:gd name="adj" fmla="val 11905"/>
            </a:avLst>
          </a:prstGeom>
          <a:solidFill>
            <a:srgbClr val="EEF3F8"/>
          </a:solidFill>
          <a:ln/>
        </p:spPr>
        <p:txBody>
          <a:bodyPr/>
          <a:lstStyle/>
          <a:p>
            <a:endParaRPr lang="en-ID"/>
          </a:p>
        </p:txBody>
      </p:sp>
      <p:sp>
        <p:nvSpPr>
          <p:cNvPr id="27" name="Text 25"/>
          <p:cNvSpPr/>
          <p:nvPr/>
        </p:nvSpPr>
        <p:spPr>
          <a:xfrm>
            <a:off x="2651760" y="3931920"/>
            <a:ext cx="1709928" cy="237744"/>
          </a:xfrm>
          <a:prstGeom prst="rect">
            <a:avLst/>
          </a:prstGeom>
          <a:noFill/>
          <a:ln/>
        </p:spPr>
        <p:txBody>
          <a:bodyPr wrap="square" lIns="0" tIns="0" rIns="0" bIns="0" rtlCol="0" anchor="ctr"/>
          <a:lstStyle/>
          <a:p>
            <a:pPr marL="0" indent="0" algn="ctr">
              <a:buNone/>
            </a:pPr>
            <a:r>
              <a:rPr lang="en-US" sz="1000" b="1">
                <a:solidFill>
                  <a:srgbClr val="16202B"/>
                </a:solidFill>
                <a:latin typeface="Consolas" pitchFamily="34" charset="0"/>
                <a:ea typeface="Consolas" pitchFamily="34" charset="-122"/>
                <a:cs typeface="Consolas" pitchFamily="34" charset="-120"/>
              </a:rPr>
              <a:t>= 0,826 (Avg CV)</a:t>
            </a:r>
            <a:endParaRPr lang="en-US" sz="1000" dirty="0"/>
          </a:p>
        </p:txBody>
      </p:sp>
      <p:sp>
        <p:nvSpPr>
          <p:cNvPr id="28" name="Text 26"/>
          <p:cNvSpPr/>
          <p:nvPr/>
        </p:nvSpPr>
        <p:spPr>
          <a:xfrm>
            <a:off x="4572000" y="3858768"/>
            <a:ext cx="3913632" cy="502920"/>
          </a:xfrm>
          <a:prstGeom prst="rect">
            <a:avLst/>
          </a:prstGeom>
          <a:noFill/>
          <a:ln/>
        </p:spPr>
        <p:txBody>
          <a:bodyPr wrap="square" lIns="0" tIns="0" rIns="0" bIns="0" rtlCol="0" anchor="t"/>
          <a:lstStyle/>
          <a:p>
            <a:pPr marL="0" indent="0">
              <a:lnSpc>
                <a:spcPts val="1303"/>
              </a:lnSpc>
              <a:buNone/>
            </a:pPr>
            <a:r>
              <a:rPr lang="en-US" sz="980">
                <a:solidFill>
                  <a:srgbClr val="6B7885"/>
                </a:solidFill>
                <a:latin typeface="Calibri" pitchFamily="34" charset="0"/>
                <a:ea typeface="Calibri" pitchFamily="34" charset="-122"/>
                <a:cs typeface="Calibri" pitchFamily="34" charset="-120"/>
              </a:rPr>
              <a:t>Rata-rata kemampuan model memeringkat kelas pembatalan di lima fold cross-validation.</a:t>
            </a:r>
            <a:endParaRPr lang="en-US" sz="980" dirty="0"/>
          </a:p>
        </p:txBody>
      </p:sp>
      <p:sp>
        <p:nvSpPr>
          <p:cNvPr id="29" name="Text 27"/>
          <p:cNvSpPr/>
          <p:nvPr/>
        </p:nvSpPr>
        <p:spPr>
          <a:xfrm>
            <a:off x="502920" y="4480560"/>
            <a:ext cx="7635240" cy="365760"/>
          </a:xfrm>
          <a:prstGeom prst="rect">
            <a:avLst/>
          </a:prstGeom>
          <a:noFill/>
          <a:ln/>
        </p:spPr>
        <p:txBody>
          <a:bodyPr wrap="square" lIns="0" tIns="0" rIns="0" bIns="0" rtlCol="0" anchor="t"/>
          <a:lstStyle/>
          <a:p>
            <a:pPr marL="0" indent="0">
              <a:lnSpc>
                <a:spcPts val="1264"/>
              </a:lnSpc>
              <a:buNone/>
            </a:pPr>
            <a:r>
              <a:rPr lang="en-US" sz="950" dirty="0">
                <a:solidFill>
                  <a:srgbClr val="B3392E"/>
                </a:solidFill>
                <a:latin typeface="Calibri" pitchFamily="34" charset="0"/>
                <a:ea typeface="Calibri" pitchFamily="34" charset="-122"/>
                <a:cs typeface="Calibri" pitchFamily="34" charset="-120"/>
              </a:rPr>
              <a:t>Accuracy tidak dipakai sebagai metrik utama: karena 76,2% data berlabel "tidak dibatalkan", model yang selalu menebak "tidak batal" sudah otomatis mendapat akurasi 76% tanpa berguna sama sekali.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Kapan dan bagaimana model dipakai dalam operasional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0292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1078992" y="1353312"/>
            <a:ext cx="384048" cy="384048"/>
          </a:xfrm>
          <a:prstGeom prst="ellipse">
            <a:avLst/>
          </a:prstGeom>
          <a:solidFill>
            <a:srgbClr val="123A5E"/>
          </a:solidFill>
          <a:ln/>
        </p:spPr>
        <p:txBody>
          <a:bodyPr/>
          <a:lstStyle/>
          <a:p>
            <a:endParaRPr lang="en-ID"/>
          </a:p>
        </p:txBody>
      </p:sp>
      <p:sp>
        <p:nvSpPr>
          <p:cNvPr id="7" name="Text 5"/>
          <p:cNvSpPr/>
          <p:nvPr/>
        </p:nvSpPr>
        <p:spPr>
          <a:xfrm>
            <a:off x="107899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pic>
        <p:nvPicPr>
          <p:cNvPr id="8" name="Image 0" descr="/home/claude/assets/ic_data_navy.png"/>
          <p:cNvPicPr>
            <a:picLocks noChangeAspect="1"/>
          </p:cNvPicPr>
          <p:nvPr/>
        </p:nvPicPr>
        <p:blipFill>
          <a:blip r:embed="rId3"/>
          <a:stretch>
            <a:fillRect/>
          </a:stretch>
        </p:blipFill>
        <p:spPr>
          <a:xfrm>
            <a:off x="1124712" y="1883664"/>
            <a:ext cx="292608" cy="292608"/>
          </a:xfrm>
          <a:prstGeom prst="rect">
            <a:avLst/>
          </a:prstGeom>
        </p:spPr>
      </p:pic>
      <p:sp>
        <p:nvSpPr>
          <p:cNvPr id="9" name="Text 6"/>
          <p:cNvSpPr/>
          <p:nvPr/>
        </p:nvSpPr>
        <p:spPr>
          <a:xfrm>
            <a:off x="57607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Booking masuk</a:t>
            </a:r>
            <a:endParaRPr lang="en-US" sz="1050" dirty="0"/>
          </a:p>
        </p:txBody>
      </p:sp>
      <p:sp>
        <p:nvSpPr>
          <p:cNvPr id="10" name="Text 7"/>
          <p:cNvSpPr/>
          <p:nvPr/>
        </p:nvSpPr>
        <p:spPr>
          <a:xfrm>
            <a:off x="59436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Data pemesanan tercatat di sistem reservasi hotel.</a:t>
            </a:r>
            <a:endParaRPr lang="en-US" sz="850" dirty="0"/>
          </a:p>
        </p:txBody>
      </p:sp>
      <p:sp>
        <p:nvSpPr>
          <p:cNvPr id="11" name="Text 8"/>
          <p:cNvSpPr/>
          <p:nvPr/>
        </p:nvSpPr>
        <p:spPr>
          <a:xfrm>
            <a:off x="203911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12" name="Shape 9"/>
          <p:cNvSpPr/>
          <p:nvPr/>
        </p:nvSpPr>
        <p:spPr>
          <a:xfrm>
            <a:off x="214884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3" name="Shape 10"/>
          <p:cNvSpPr/>
          <p:nvPr/>
        </p:nvSpPr>
        <p:spPr>
          <a:xfrm>
            <a:off x="2724912" y="1353312"/>
            <a:ext cx="384048" cy="384048"/>
          </a:xfrm>
          <a:prstGeom prst="ellipse">
            <a:avLst/>
          </a:prstGeom>
          <a:solidFill>
            <a:srgbClr val="123A5E"/>
          </a:solidFill>
          <a:ln/>
        </p:spPr>
        <p:txBody>
          <a:bodyPr/>
          <a:lstStyle/>
          <a:p>
            <a:endParaRPr lang="en-ID"/>
          </a:p>
        </p:txBody>
      </p:sp>
      <p:sp>
        <p:nvSpPr>
          <p:cNvPr id="14" name="Text 11"/>
          <p:cNvSpPr/>
          <p:nvPr/>
        </p:nvSpPr>
        <p:spPr>
          <a:xfrm>
            <a:off x="272491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pic>
        <p:nvPicPr>
          <p:cNvPr id="15" name="Image 1" descr="/home/claude/assets/ic_brain_navy.png"/>
          <p:cNvPicPr>
            <a:picLocks noChangeAspect="1"/>
          </p:cNvPicPr>
          <p:nvPr/>
        </p:nvPicPr>
        <p:blipFill>
          <a:blip r:embed="rId4"/>
          <a:stretch>
            <a:fillRect/>
          </a:stretch>
        </p:blipFill>
        <p:spPr>
          <a:xfrm>
            <a:off x="2770632" y="1883664"/>
            <a:ext cx="292608" cy="292608"/>
          </a:xfrm>
          <a:prstGeom prst="rect">
            <a:avLst/>
          </a:prstGeom>
        </p:spPr>
      </p:pic>
      <p:sp>
        <p:nvSpPr>
          <p:cNvPr id="16" name="Text 12"/>
          <p:cNvSpPr/>
          <p:nvPr/>
        </p:nvSpPr>
        <p:spPr>
          <a:xfrm>
            <a:off x="222199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Model memberi skor</a:t>
            </a:r>
            <a:endParaRPr lang="en-US" sz="1050" dirty="0"/>
          </a:p>
        </p:txBody>
      </p:sp>
      <p:sp>
        <p:nvSpPr>
          <p:cNvPr id="17" name="Text 13"/>
          <p:cNvSpPr/>
          <p:nvPr/>
        </p:nvSpPr>
        <p:spPr>
          <a:xfrm>
            <a:off x="224028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Pipeline menghasilkan probabilitas pembatalan 0–1 untuk booking tersebut.</a:t>
            </a:r>
            <a:endParaRPr lang="en-US" sz="850" dirty="0"/>
          </a:p>
        </p:txBody>
      </p:sp>
      <p:sp>
        <p:nvSpPr>
          <p:cNvPr id="18" name="Text 14"/>
          <p:cNvSpPr/>
          <p:nvPr/>
        </p:nvSpPr>
        <p:spPr>
          <a:xfrm>
            <a:off x="368503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19" name="Shape 15"/>
          <p:cNvSpPr/>
          <p:nvPr/>
        </p:nvSpPr>
        <p:spPr>
          <a:xfrm>
            <a:off x="379476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0" name="Shape 16"/>
          <p:cNvSpPr/>
          <p:nvPr/>
        </p:nvSpPr>
        <p:spPr>
          <a:xfrm>
            <a:off x="4370832" y="1353312"/>
            <a:ext cx="384048" cy="384048"/>
          </a:xfrm>
          <a:prstGeom prst="ellipse">
            <a:avLst/>
          </a:prstGeom>
          <a:solidFill>
            <a:srgbClr val="E2703A"/>
          </a:solidFill>
          <a:ln/>
        </p:spPr>
        <p:txBody>
          <a:bodyPr/>
          <a:lstStyle/>
          <a:p>
            <a:endParaRPr lang="en-ID"/>
          </a:p>
        </p:txBody>
      </p:sp>
      <p:sp>
        <p:nvSpPr>
          <p:cNvPr id="21" name="Text 17"/>
          <p:cNvSpPr/>
          <p:nvPr/>
        </p:nvSpPr>
        <p:spPr>
          <a:xfrm>
            <a:off x="437083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pic>
        <p:nvPicPr>
          <p:cNvPr id="22" name="Image 2" descr="/home/claude/assets/ic_list_navy.png"/>
          <p:cNvPicPr>
            <a:picLocks noChangeAspect="1"/>
          </p:cNvPicPr>
          <p:nvPr/>
        </p:nvPicPr>
        <p:blipFill>
          <a:blip r:embed="rId5"/>
          <a:stretch>
            <a:fillRect/>
          </a:stretch>
        </p:blipFill>
        <p:spPr>
          <a:xfrm>
            <a:off x="4416552" y="1883664"/>
            <a:ext cx="292608" cy="292608"/>
          </a:xfrm>
          <a:prstGeom prst="rect">
            <a:avLst/>
          </a:prstGeom>
        </p:spPr>
      </p:pic>
      <p:sp>
        <p:nvSpPr>
          <p:cNvPr id="23" name="Text 18"/>
          <p:cNvSpPr/>
          <p:nvPr/>
        </p:nvSpPr>
        <p:spPr>
          <a:xfrm>
            <a:off x="386791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Booking diperingkat</a:t>
            </a:r>
            <a:endParaRPr lang="en-US" sz="1050" dirty="0"/>
          </a:p>
        </p:txBody>
      </p:sp>
      <p:sp>
        <p:nvSpPr>
          <p:cNvPr id="24" name="Text 19"/>
          <p:cNvSpPr/>
          <p:nvPr/>
        </p:nvSpPr>
        <p:spPr>
          <a:xfrm>
            <a:off x="388620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Daftar harian disusun dari probabilitas tertinggi ke terendah.</a:t>
            </a:r>
            <a:endParaRPr lang="en-US" sz="850" dirty="0"/>
          </a:p>
        </p:txBody>
      </p:sp>
      <p:sp>
        <p:nvSpPr>
          <p:cNvPr id="25" name="Text 20"/>
          <p:cNvSpPr/>
          <p:nvPr/>
        </p:nvSpPr>
        <p:spPr>
          <a:xfrm>
            <a:off x="533095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26" name="Shape 21"/>
          <p:cNvSpPr/>
          <p:nvPr/>
        </p:nvSpPr>
        <p:spPr>
          <a:xfrm>
            <a:off x="544068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7" name="Shape 22"/>
          <p:cNvSpPr/>
          <p:nvPr/>
        </p:nvSpPr>
        <p:spPr>
          <a:xfrm>
            <a:off x="6016752" y="1353312"/>
            <a:ext cx="384048" cy="384048"/>
          </a:xfrm>
          <a:prstGeom prst="ellipse">
            <a:avLst/>
          </a:prstGeom>
          <a:solidFill>
            <a:srgbClr val="E2703A"/>
          </a:solidFill>
          <a:ln/>
        </p:spPr>
        <p:txBody>
          <a:bodyPr/>
          <a:lstStyle/>
          <a:p>
            <a:endParaRPr lang="en-ID"/>
          </a:p>
        </p:txBody>
      </p:sp>
      <p:sp>
        <p:nvSpPr>
          <p:cNvPr id="28" name="Text 23"/>
          <p:cNvSpPr/>
          <p:nvPr/>
        </p:nvSpPr>
        <p:spPr>
          <a:xfrm>
            <a:off x="601675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pic>
        <p:nvPicPr>
          <p:cNvPr id="29" name="Image 3" descr="/home/claude/assets/ic_phone_navy.png"/>
          <p:cNvPicPr>
            <a:picLocks noChangeAspect="1"/>
          </p:cNvPicPr>
          <p:nvPr/>
        </p:nvPicPr>
        <p:blipFill>
          <a:blip r:embed="rId6"/>
          <a:stretch>
            <a:fillRect/>
          </a:stretch>
        </p:blipFill>
        <p:spPr>
          <a:xfrm>
            <a:off x="6062472" y="1883664"/>
            <a:ext cx="292608" cy="292608"/>
          </a:xfrm>
          <a:prstGeom prst="rect">
            <a:avLst/>
          </a:prstGeom>
        </p:spPr>
      </p:pic>
      <p:sp>
        <p:nvSpPr>
          <p:cNvPr id="30" name="Text 24"/>
          <p:cNvSpPr/>
          <p:nvPr/>
        </p:nvSpPr>
        <p:spPr>
          <a:xfrm>
            <a:off x="551383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Tim melakukan intervensi</a:t>
            </a:r>
            <a:endParaRPr lang="en-US" sz="1050" dirty="0"/>
          </a:p>
        </p:txBody>
      </p:sp>
      <p:sp>
        <p:nvSpPr>
          <p:cNvPr id="31" name="Text 25"/>
          <p:cNvSpPr/>
          <p:nvPr/>
        </p:nvSpPr>
        <p:spPr>
          <a:xfrm>
            <a:off x="553212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Customer Service menghubungi sesuai kapasitas harian, dimulai dari peringkat teratas.</a:t>
            </a:r>
            <a:endParaRPr lang="en-US" sz="850" dirty="0"/>
          </a:p>
        </p:txBody>
      </p:sp>
      <p:sp>
        <p:nvSpPr>
          <p:cNvPr id="32" name="Text 26"/>
          <p:cNvSpPr/>
          <p:nvPr/>
        </p:nvSpPr>
        <p:spPr>
          <a:xfrm>
            <a:off x="6976872" y="2066544"/>
            <a:ext cx="128016" cy="182880"/>
          </a:xfrm>
          <a:prstGeom prst="rect">
            <a:avLst/>
          </a:prstGeom>
          <a:noFill/>
          <a:ln/>
        </p:spPr>
        <p:txBody>
          <a:bodyPr wrap="square" lIns="0" tIns="0" rIns="0" bIns="0" rtlCol="0" anchor="ctr"/>
          <a:lstStyle/>
          <a:p>
            <a:pPr marL="0" indent="0">
              <a:buNone/>
            </a:pPr>
            <a:r>
              <a:rPr lang="en-US" sz="1000" dirty="0">
                <a:solidFill>
                  <a:srgbClr val="E2703A"/>
                </a:solidFill>
                <a:latin typeface="Calibri" pitchFamily="34" charset="0"/>
                <a:ea typeface="Calibri" pitchFamily="34" charset="-122"/>
                <a:cs typeface="Calibri" pitchFamily="34" charset="-120"/>
              </a:rPr>
              <a:t>▶</a:t>
            </a:r>
            <a:endParaRPr lang="en-US" sz="1000" dirty="0"/>
          </a:p>
        </p:txBody>
      </p:sp>
      <p:sp>
        <p:nvSpPr>
          <p:cNvPr id="33" name="Shape 27"/>
          <p:cNvSpPr/>
          <p:nvPr/>
        </p:nvSpPr>
        <p:spPr>
          <a:xfrm>
            <a:off x="7086600" y="1188720"/>
            <a:ext cx="1517904" cy="2103120"/>
          </a:xfrm>
          <a:prstGeom prst="roundRect">
            <a:avLst>
              <a:gd name="adj" fmla="val 361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34" name="Shape 28"/>
          <p:cNvSpPr/>
          <p:nvPr/>
        </p:nvSpPr>
        <p:spPr>
          <a:xfrm>
            <a:off x="7662672" y="1353312"/>
            <a:ext cx="384048" cy="384048"/>
          </a:xfrm>
          <a:prstGeom prst="ellipse">
            <a:avLst/>
          </a:prstGeom>
          <a:solidFill>
            <a:srgbClr val="E2703A"/>
          </a:solidFill>
          <a:ln/>
        </p:spPr>
        <p:txBody>
          <a:bodyPr/>
          <a:lstStyle/>
          <a:p>
            <a:endParaRPr lang="en-ID"/>
          </a:p>
        </p:txBody>
      </p:sp>
      <p:sp>
        <p:nvSpPr>
          <p:cNvPr id="35" name="Text 29"/>
          <p:cNvSpPr/>
          <p:nvPr/>
        </p:nvSpPr>
        <p:spPr>
          <a:xfrm>
            <a:off x="7662672" y="140817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pic>
        <p:nvPicPr>
          <p:cNvPr id="36" name="Image 4" descr="/home/claude/assets/ic_check_navy.png"/>
          <p:cNvPicPr>
            <a:picLocks noChangeAspect="1"/>
          </p:cNvPicPr>
          <p:nvPr/>
        </p:nvPicPr>
        <p:blipFill>
          <a:blip r:embed="rId7"/>
          <a:stretch>
            <a:fillRect/>
          </a:stretch>
        </p:blipFill>
        <p:spPr>
          <a:xfrm>
            <a:off x="7708392" y="1883664"/>
            <a:ext cx="292608" cy="292608"/>
          </a:xfrm>
          <a:prstGeom prst="rect">
            <a:avLst/>
          </a:prstGeom>
        </p:spPr>
      </p:pic>
      <p:sp>
        <p:nvSpPr>
          <p:cNvPr id="37" name="Text 30"/>
          <p:cNvSpPr/>
          <p:nvPr/>
        </p:nvSpPr>
        <p:spPr>
          <a:xfrm>
            <a:off x="7159752" y="2286000"/>
            <a:ext cx="1371600" cy="347472"/>
          </a:xfrm>
          <a:prstGeom prst="rect">
            <a:avLst/>
          </a:prstGeom>
          <a:noFill/>
          <a:ln/>
        </p:spPr>
        <p:txBody>
          <a:bodyPr wrap="square" lIns="0" tIns="0" rIns="0" bIns="0" rtlCol="0" anchor="ctr"/>
          <a:lstStyle/>
          <a:p>
            <a:pPr marL="0" indent="0" algn="ctr">
              <a:lnSpc>
                <a:spcPts val="1300"/>
              </a:lnSpc>
              <a:buNone/>
            </a:pPr>
            <a:r>
              <a:rPr lang="en-US" sz="1050" b="1" dirty="0">
                <a:solidFill>
                  <a:srgbClr val="123A5E"/>
                </a:solidFill>
                <a:latin typeface="Calibri" pitchFamily="34" charset="0"/>
                <a:ea typeface="Calibri" pitchFamily="34" charset="-122"/>
                <a:cs typeface="Calibri" pitchFamily="34" charset="-120"/>
              </a:rPr>
              <a:t>Hasil dicatat kembali</a:t>
            </a:r>
            <a:endParaRPr lang="en-US" sz="1050" dirty="0"/>
          </a:p>
        </p:txBody>
      </p:sp>
      <p:sp>
        <p:nvSpPr>
          <p:cNvPr id="38" name="Text 31"/>
          <p:cNvSpPr/>
          <p:nvPr/>
        </p:nvSpPr>
        <p:spPr>
          <a:xfrm>
            <a:off x="7178040" y="2670048"/>
            <a:ext cx="1335024" cy="566928"/>
          </a:xfrm>
          <a:prstGeom prst="rect">
            <a:avLst/>
          </a:prstGeom>
          <a:noFill/>
          <a:ln/>
        </p:spPr>
        <p:txBody>
          <a:bodyPr wrap="square" lIns="0" tIns="0" rIns="0" bIns="0" rtlCol="0" anchor="t"/>
          <a:lstStyle/>
          <a:p>
            <a:pPr marL="0" indent="0">
              <a:lnSpc>
                <a:spcPts val="1131"/>
              </a:lnSpc>
              <a:buNone/>
            </a:pPr>
            <a:r>
              <a:rPr lang="en-US" sz="850" dirty="0">
                <a:solidFill>
                  <a:srgbClr val="6B7885"/>
                </a:solidFill>
                <a:latin typeface="Calibri" pitchFamily="34" charset="0"/>
                <a:ea typeface="Calibri" pitchFamily="34" charset="-122"/>
                <a:cs typeface="Calibri" pitchFamily="34" charset="-120"/>
              </a:rPr>
              <a:t>Respons tamu menjadi data untuk evaluasi dan pelatihan ulang model.</a:t>
            </a:r>
            <a:endParaRPr lang="en-US" sz="850" dirty="0"/>
          </a:p>
        </p:txBody>
      </p:sp>
      <p:sp>
        <p:nvSpPr>
          <p:cNvPr id="39" name="Shape 32"/>
          <p:cNvSpPr/>
          <p:nvPr/>
        </p:nvSpPr>
        <p:spPr>
          <a:xfrm>
            <a:off x="502920" y="3456432"/>
            <a:ext cx="8138160" cy="969264"/>
          </a:xfrm>
          <a:prstGeom prst="roundRect">
            <a:avLst>
              <a:gd name="adj" fmla="val 5660"/>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40" name="Image 5" descr="/home/claude/assets/ic_clock_orange.png"/>
          <p:cNvPicPr>
            <a:picLocks noChangeAspect="1"/>
          </p:cNvPicPr>
          <p:nvPr/>
        </p:nvPicPr>
        <p:blipFill>
          <a:blip r:embed="rId8"/>
          <a:stretch>
            <a:fillRect/>
          </a:stretch>
        </p:blipFill>
        <p:spPr>
          <a:xfrm>
            <a:off x="731520" y="3657600"/>
            <a:ext cx="256032" cy="256032"/>
          </a:xfrm>
          <a:prstGeom prst="rect">
            <a:avLst/>
          </a:prstGeom>
        </p:spPr>
      </p:pic>
      <p:sp>
        <p:nvSpPr>
          <p:cNvPr id="41" name="Text 33"/>
          <p:cNvSpPr/>
          <p:nvPr/>
        </p:nvSpPr>
        <p:spPr>
          <a:xfrm>
            <a:off x="1115568" y="363931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Kapan skor paling berguna</a:t>
            </a:r>
            <a:endParaRPr lang="en-US" sz="1250" dirty="0"/>
          </a:p>
        </p:txBody>
      </p:sp>
      <p:sp>
        <p:nvSpPr>
          <p:cNvPr id="42" name="Text 34"/>
          <p:cNvSpPr/>
          <p:nvPr/>
        </p:nvSpPr>
        <p:spPr>
          <a:xfrm>
            <a:off x="1115568" y="3895344"/>
            <a:ext cx="7269480" cy="50292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Model ini tidak punya dimensi waktu di dalam data, sehingga skor sebaiknya dihitung ulang secara berkala (misalnya harian) dan intervensi dilakukan jauh sebelum tanggal check-in. Semakin dekat ke tanggal menginap, semakin kecil ruang hotel untuk menjual ulang kamar yang batal.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02</a:t>
            </a:r>
            <a:endParaRPr lang="en-US" sz="5800" dirty="0"/>
          </a:p>
        </p:txBody>
      </p:sp>
      <p:pic>
        <p:nvPicPr>
          <p:cNvPr id="5" name="Image 0" descr="/home/claude/assets/ic_data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Data &amp; EDA</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Pemahaman data, cleaning, dan pola yang ditemukan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Satu baris = satu pemesanan hotel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10</a:t>
            </a:r>
            <a:endParaRPr lang="en-US" sz="900" dirty="0"/>
          </a:p>
        </p:txBody>
      </p:sp>
      <p:sp>
        <p:nvSpPr>
          <p:cNvPr id="5" name="Text 3"/>
          <p:cNvSpPr/>
          <p:nvPr/>
        </p:nvSpPr>
        <p:spPr>
          <a:xfrm>
            <a:off x="502920" y="969264"/>
            <a:ext cx="8138160" cy="274320"/>
          </a:xfrm>
          <a:prstGeom prst="rect">
            <a:avLst/>
          </a:prstGeom>
          <a:noFill/>
          <a:ln/>
        </p:spPr>
        <p:txBody>
          <a:bodyPr wrap="square" lIns="0" tIns="0" rIns="0" bIns="0" rtlCol="0" anchor="t"/>
          <a:lstStyle/>
          <a:p>
            <a:pPr marL="0" indent="0">
              <a:lnSpc>
                <a:spcPts val="1463"/>
              </a:lnSpc>
              <a:buNone/>
            </a:pPr>
            <a:r>
              <a:rPr lang="en-US" sz="1100" dirty="0">
                <a:solidFill>
                  <a:srgbClr val="6B7885"/>
                </a:solidFill>
                <a:latin typeface="Calibri" pitchFamily="34" charset="0"/>
                <a:ea typeface="Calibri" pitchFamily="34" charset="-122"/>
                <a:cs typeface="Calibri" pitchFamily="34" charset="-120"/>
              </a:rPr>
              <a:t>Setiap observasi mewakili satu entri pemesanan. Tidak ada kolom identitas tamu, sehingga satu tamu yang memesan dua kali tercatat sebagai dua baris terpisah.</a:t>
            </a:r>
            <a:endParaRPr lang="en-US" sz="1100" dirty="0"/>
          </a:p>
        </p:txBody>
      </p:sp>
      <p:sp>
        <p:nvSpPr>
          <p:cNvPr id="6" name="Shape 4"/>
          <p:cNvSpPr/>
          <p:nvPr/>
        </p:nvSpPr>
        <p:spPr>
          <a:xfrm>
            <a:off x="502920"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0" descr="/home/claude/assets/ic_data_navy.png"/>
          <p:cNvPicPr>
            <a:picLocks noChangeAspect="1"/>
          </p:cNvPicPr>
          <p:nvPr/>
        </p:nvPicPr>
        <p:blipFill>
          <a:blip r:embed="rId3"/>
          <a:stretch>
            <a:fillRect/>
          </a:stretch>
        </p:blipFill>
        <p:spPr>
          <a:xfrm>
            <a:off x="1289304" y="1481328"/>
            <a:ext cx="329184" cy="329184"/>
          </a:xfrm>
          <a:prstGeom prst="rect">
            <a:avLst/>
          </a:prstGeom>
        </p:spPr>
      </p:pic>
      <p:sp>
        <p:nvSpPr>
          <p:cNvPr id="8" name="Text 5"/>
          <p:cNvSpPr/>
          <p:nvPr/>
        </p:nvSpPr>
        <p:spPr>
          <a:xfrm>
            <a:off x="594360"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10.097</a:t>
            </a:r>
            <a:endParaRPr lang="en-US" sz="2600" dirty="0"/>
          </a:p>
        </p:txBody>
      </p:sp>
      <p:sp>
        <p:nvSpPr>
          <p:cNvPr id="9" name="Text 6"/>
          <p:cNvSpPr/>
          <p:nvPr/>
        </p:nvSpPr>
        <p:spPr>
          <a:xfrm>
            <a:off x="612648"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baris setelah cleaning</a:t>
            </a:r>
            <a:endParaRPr lang="en-US" sz="950" dirty="0"/>
          </a:p>
        </p:txBody>
      </p:sp>
      <p:sp>
        <p:nvSpPr>
          <p:cNvPr id="10" name="Shape 7"/>
          <p:cNvSpPr/>
          <p:nvPr/>
        </p:nvSpPr>
        <p:spPr>
          <a:xfrm>
            <a:off x="2569464"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1" descr="/home/claude/assets/ic_list_navy.png"/>
          <p:cNvPicPr>
            <a:picLocks noChangeAspect="1"/>
          </p:cNvPicPr>
          <p:nvPr/>
        </p:nvPicPr>
        <p:blipFill>
          <a:blip r:embed="rId4"/>
          <a:stretch>
            <a:fillRect/>
          </a:stretch>
        </p:blipFill>
        <p:spPr>
          <a:xfrm>
            <a:off x="3355848" y="1481328"/>
            <a:ext cx="329184" cy="329184"/>
          </a:xfrm>
          <a:prstGeom prst="rect">
            <a:avLst/>
          </a:prstGeom>
        </p:spPr>
      </p:pic>
      <p:sp>
        <p:nvSpPr>
          <p:cNvPr id="12" name="Text 8"/>
          <p:cNvSpPr/>
          <p:nvPr/>
        </p:nvSpPr>
        <p:spPr>
          <a:xfrm>
            <a:off x="2660904"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5</a:t>
            </a:r>
            <a:endParaRPr lang="en-US" sz="2600" dirty="0"/>
          </a:p>
        </p:txBody>
      </p:sp>
      <p:sp>
        <p:nvSpPr>
          <p:cNvPr id="13" name="Text 9"/>
          <p:cNvSpPr/>
          <p:nvPr/>
        </p:nvSpPr>
        <p:spPr>
          <a:xfrm>
            <a:off x="2679192"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fitur kategorik</a:t>
            </a:r>
            <a:endParaRPr lang="en-US" sz="950" dirty="0"/>
          </a:p>
        </p:txBody>
      </p:sp>
      <p:sp>
        <p:nvSpPr>
          <p:cNvPr id="14" name="Shape 10"/>
          <p:cNvSpPr/>
          <p:nvPr/>
        </p:nvSpPr>
        <p:spPr>
          <a:xfrm>
            <a:off x="4636008"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2" descr="/home/claude/assets/ic_chart_navy.png"/>
          <p:cNvPicPr>
            <a:picLocks noChangeAspect="1"/>
          </p:cNvPicPr>
          <p:nvPr/>
        </p:nvPicPr>
        <p:blipFill>
          <a:blip r:embed="rId5"/>
          <a:stretch>
            <a:fillRect/>
          </a:stretch>
        </p:blipFill>
        <p:spPr>
          <a:xfrm>
            <a:off x="5422392" y="1481328"/>
            <a:ext cx="329184" cy="329184"/>
          </a:xfrm>
          <a:prstGeom prst="rect">
            <a:avLst/>
          </a:prstGeom>
        </p:spPr>
      </p:pic>
      <p:sp>
        <p:nvSpPr>
          <p:cNvPr id="16" name="Text 11"/>
          <p:cNvSpPr/>
          <p:nvPr/>
        </p:nvSpPr>
        <p:spPr>
          <a:xfrm>
            <a:off x="4727448" y="1901952"/>
            <a:ext cx="1737360" cy="402336"/>
          </a:xfrm>
          <a:prstGeom prst="rect">
            <a:avLst/>
          </a:prstGeom>
          <a:noFill/>
          <a:ln/>
        </p:spPr>
        <p:txBody>
          <a:bodyPr wrap="square" lIns="0" tIns="0" rIns="0" bIns="0" rtlCol="0" anchor="ctr"/>
          <a:lstStyle/>
          <a:p>
            <a:pPr marL="0" indent="0" algn="ctr">
              <a:buNone/>
            </a:pPr>
            <a:r>
              <a:rPr lang="en-US" sz="2600" b="1" dirty="0">
                <a:solidFill>
                  <a:srgbClr val="123A5E"/>
                </a:solidFill>
                <a:latin typeface="Calibri" pitchFamily="34" charset="0"/>
                <a:ea typeface="Calibri" pitchFamily="34" charset="-122"/>
                <a:cs typeface="Calibri" pitchFamily="34" charset="-120"/>
              </a:rPr>
              <a:t>5</a:t>
            </a:r>
            <a:endParaRPr lang="en-US" sz="2600" dirty="0"/>
          </a:p>
        </p:txBody>
      </p:sp>
      <p:sp>
        <p:nvSpPr>
          <p:cNvPr id="17" name="Text 12"/>
          <p:cNvSpPr/>
          <p:nvPr/>
        </p:nvSpPr>
        <p:spPr>
          <a:xfrm>
            <a:off x="4745736"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fitur numerik</a:t>
            </a:r>
            <a:endParaRPr lang="en-US" sz="950" dirty="0"/>
          </a:p>
        </p:txBody>
      </p:sp>
      <p:sp>
        <p:nvSpPr>
          <p:cNvPr id="18" name="Shape 13"/>
          <p:cNvSpPr/>
          <p:nvPr/>
        </p:nvSpPr>
        <p:spPr>
          <a:xfrm>
            <a:off x="6702552" y="1316736"/>
            <a:ext cx="192024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9" name="Image 3" descr="/home/claude/assets/ic_target_navy.png"/>
          <p:cNvPicPr>
            <a:picLocks noChangeAspect="1"/>
          </p:cNvPicPr>
          <p:nvPr/>
        </p:nvPicPr>
        <p:blipFill>
          <a:blip r:embed="rId6"/>
          <a:stretch>
            <a:fillRect/>
          </a:stretch>
        </p:blipFill>
        <p:spPr>
          <a:xfrm>
            <a:off x="7488936" y="1481328"/>
            <a:ext cx="329184" cy="329184"/>
          </a:xfrm>
          <a:prstGeom prst="rect">
            <a:avLst/>
          </a:prstGeom>
        </p:spPr>
      </p:pic>
      <p:sp>
        <p:nvSpPr>
          <p:cNvPr id="20" name="Text 14"/>
          <p:cNvSpPr/>
          <p:nvPr/>
        </p:nvSpPr>
        <p:spPr>
          <a:xfrm>
            <a:off x="6793992" y="1901952"/>
            <a:ext cx="1737360" cy="402336"/>
          </a:xfrm>
          <a:prstGeom prst="rect">
            <a:avLst/>
          </a:prstGeom>
          <a:noFill/>
          <a:ln/>
        </p:spPr>
        <p:txBody>
          <a:bodyPr wrap="square" lIns="0" tIns="0" rIns="0" bIns="0" rtlCol="0" anchor="ctr"/>
          <a:lstStyle/>
          <a:p>
            <a:pPr marL="0" indent="0" algn="ctr">
              <a:buNone/>
            </a:pPr>
            <a:r>
              <a:rPr lang="en-US" sz="2600" b="1" dirty="0">
                <a:solidFill>
                  <a:srgbClr val="E2703A"/>
                </a:solidFill>
                <a:latin typeface="Calibri" pitchFamily="34" charset="0"/>
                <a:ea typeface="Calibri" pitchFamily="34" charset="-122"/>
                <a:cs typeface="Calibri" pitchFamily="34" charset="-120"/>
              </a:rPr>
              <a:t>1</a:t>
            </a:r>
            <a:endParaRPr lang="en-US" sz="2600" dirty="0"/>
          </a:p>
        </p:txBody>
      </p:sp>
      <p:sp>
        <p:nvSpPr>
          <p:cNvPr id="21" name="Text 15"/>
          <p:cNvSpPr/>
          <p:nvPr/>
        </p:nvSpPr>
        <p:spPr>
          <a:xfrm>
            <a:off x="6812280" y="2340864"/>
            <a:ext cx="1700784" cy="329184"/>
          </a:xfrm>
          <a:prstGeom prst="rect">
            <a:avLst/>
          </a:prstGeom>
          <a:noFill/>
          <a:ln/>
        </p:spPr>
        <p:txBody>
          <a:bodyPr wrap="square" lIns="0" tIns="0" rIns="0" bIns="0" rtlCol="0" anchor="ctr"/>
          <a:lstStyle/>
          <a:p>
            <a:pPr marL="0" indent="0" algn="ctr">
              <a:lnSpc>
                <a:spcPts val="1200"/>
              </a:lnSpc>
              <a:buNone/>
            </a:pPr>
            <a:r>
              <a:rPr lang="en-US" sz="950" dirty="0">
                <a:solidFill>
                  <a:srgbClr val="6B7885"/>
                </a:solidFill>
                <a:latin typeface="Calibri" pitchFamily="34" charset="0"/>
                <a:ea typeface="Calibri" pitchFamily="34" charset="-122"/>
                <a:cs typeface="Calibri" pitchFamily="34" charset="-120"/>
              </a:rPr>
              <a:t>kolom target (is_canceled)</a:t>
            </a:r>
            <a:endParaRPr lang="en-US" sz="950" dirty="0"/>
          </a:p>
        </p:txBody>
      </p:sp>
      <p:sp>
        <p:nvSpPr>
          <p:cNvPr id="22" name="Shape 16"/>
          <p:cNvSpPr/>
          <p:nvPr/>
        </p:nvSpPr>
        <p:spPr>
          <a:xfrm>
            <a:off x="502920" y="2926080"/>
            <a:ext cx="3977640" cy="932688"/>
          </a:xfrm>
          <a:prstGeom prst="roundRect">
            <a:avLst>
              <a:gd name="adj" fmla="val 588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3" name="Image 4" descr="/home/claude/assets/ic_check_navy.png"/>
          <p:cNvPicPr>
            <a:picLocks noChangeAspect="1"/>
          </p:cNvPicPr>
          <p:nvPr/>
        </p:nvPicPr>
        <p:blipFill>
          <a:blip r:embed="rId7"/>
          <a:stretch>
            <a:fillRect/>
          </a:stretch>
        </p:blipFill>
        <p:spPr>
          <a:xfrm>
            <a:off x="713232" y="3108960"/>
            <a:ext cx="256032" cy="256032"/>
          </a:xfrm>
          <a:prstGeom prst="rect">
            <a:avLst/>
          </a:prstGeom>
        </p:spPr>
      </p:pic>
      <p:sp>
        <p:nvSpPr>
          <p:cNvPr id="24" name="Text 17"/>
          <p:cNvSpPr/>
          <p:nvPr/>
        </p:nvSpPr>
        <p:spPr>
          <a:xfrm>
            <a:off x="1097280" y="3090672"/>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Kondisi data</a:t>
            </a:r>
            <a:endParaRPr lang="en-US" sz="1250" dirty="0"/>
          </a:p>
        </p:txBody>
      </p:sp>
      <p:sp>
        <p:nvSpPr>
          <p:cNvPr id="25" name="Text 18"/>
          <p:cNvSpPr/>
          <p:nvPr/>
        </p:nvSpPr>
        <p:spPr>
          <a:xfrm>
            <a:off x="1097280" y="3346704"/>
            <a:ext cx="3200400" cy="45720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Tidak ada missing value tersisa, tidak ada duplikat, dan seluruh tipe data sudah sesuai peruntukannya.</a:t>
            </a:r>
            <a:endParaRPr lang="en-US" sz="980" dirty="0"/>
          </a:p>
        </p:txBody>
      </p:sp>
      <p:sp>
        <p:nvSpPr>
          <p:cNvPr id="26" name="Shape 19"/>
          <p:cNvSpPr/>
          <p:nvPr/>
        </p:nvSpPr>
        <p:spPr>
          <a:xfrm>
            <a:off x="4663440" y="2926080"/>
            <a:ext cx="3977640" cy="932688"/>
          </a:xfrm>
          <a:prstGeom prst="roundRect">
            <a:avLst>
              <a:gd name="adj" fmla="val 5882"/>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7" name="Image 5" descr="/home/claude/assets/ic_warn_orange.png"/>
          <p:cNvPicPr>
            <a:picLocks noChangeAspect="1"/>
          </p:cNvPicPr>
          <p:nvPr/>
        </p:nvPicPr>
        <p:blipFill>
          <a:blip r:embed="rId8"/>
          <a:stretch>
            <a:fillRect/>
          </a:stretch>
        </p:blipFill>
        <p:spPr>
          <a:xfrm>
            <a:off x="4873752" y="3108960"/>
            <a:ext cx="256032" cy="256032"/>
          </a:xfrm>
          <a:prstGeom prst="rect">
            <a:avLst/>
          </a:prstGeom>
        </p:spPr>
      </p:pic>
      <p:sp>
        <p:nvSpPr>
          <p:cNvPr id="28" name="Text 20"/>
          <p:cNvSpPr/>
          <p:nvPr/>
        </p:nvSpPr>
        <p:spPr>
          <a:xfrm>
            <a:off x="5257800" y="3090672"/>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Kolom yang tidak tersedia</a:t>
            </a:r>
            <a:endParaRPr lang="en-US" sz="1250" dirty="0"/>
          </a:p>
        </p:txBody>
      </p:sp>
      <p:sp>
        <p:nvSpPr>
          <p:cNvPr id="29" name="Text 21"/>
          <p:cNvSpPr/>
          <p:nvPr/>
        </p:nvSpPr>
        <p:spPr>
          <a:xfrm>
            <a:off x="5257800" y="3346704"/>
            <a:ext cx="3200400" cy="45720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lead_time, tanggal menginap, harga kamar (ADR), dan identitas tamu — semuanya prediktor kuat di literatur perhotelan.</a:t>
            </a:r>
            <a:endParaRPr lang="en-US" sz="980" dirty="0"/>
          </a:p>
        </p:txBody>
      </p:sp>
      <p:sp>
        <p:nvSpPr>
          <p:cNvPr id="30" name="Shape 22"/>
          <p:cNvSpPr/>
          <p:nvPr/>
        </p:nvSpPr>
        <p:spPr>
          <a:xfrm>
            <a:off x="502920" y="4005072"/>
            <a:ext cx="8138160" cy="658368"/>
          </a:xfrm>
          <a:prstGeom prst="roundRect">
            <a:avLst>
              <a:gd name="adj" fmla="val 833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31" name="Text 23"/>
          <p:cNvSpPr/>
          <p:nvPr/>
        </p:nvSpPr>
        <p:spPr>
          <a:xfrm>
            <a:off x="713232" y="4133088"/>
            <a:ext cx="7726680" cy="45720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Konsekuensi: model hanya bisa belajar dari karakteristik pemesanan itu sendiri (deposit, kanal, tipe tamu, permintaan khusus), bukan dari dinamika waktu maupun harga. Ini membatasi seberapa tinggi performa yang realistis dicapai.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Lima fitur kategorik dan sebaran nilainya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1865376"/>
        </p:xfrm>
        <a:graphic>
          <a:graphicData uri="http://schemas.openxmlformats.org/drawingml/2006/table">
            <a:tbl>
              <a:tblPr/>
              <a:tblGrid>
                <a:gridCol w="16002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310896">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Kolom</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Nilai unik</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Nilai dominan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dirty="0">
                          <a:solidFill>
                            <a:srgbClr val="FFFFFF"/>
                          </a:solidFill>
                          <a:latin typeface="Calibri" pitchFamily="34" charset="0"/>
                          <a:ea typeface="Calibri" pitchFamily="34" charset="-122"/>
                          <a:cs typeface="Calibri" pitchFamily="34" charset="-120"/>
                        </a:rPr>
                        <a:t>Arti dalam konteks bisnis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country</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162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PRT — 2.006 (19,9%)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Negara asal tamu. Ekor panjang: 157 negara berbagi 5.672 booking</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market_segment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Online TA — 4.924 (48,8%)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Kanal pemesanan. Satu baris berlabel "Undefined"</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deposit_type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No Deposit — 9.856 (97,6%)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Jaminan finansial. Non Refund 194, Refundable 47</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customer_type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4</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Transient — 6.825 (67,6%)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Tipe pemesan: individual, rombongan, atau kontrak</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reserved_room_type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10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A — 4.566 (45,2%)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dirty="0">
                          <a:solidFill>
                            <a:srgbClr val="16202B"/>
                          </a:solidFill>
                          <a:latin typeface="Calibri" pitchFamily="34" charset="0"/>
                          <a:ea typeface="Calibri" pitchFamily="34" charset="-122"/>
                          <a:cs typeface="Calibri" pitchFamily="34" charset="-120"/>
                        </a:rPr>
                        <a:t>Kode tipe kamar. Tipe P dan L masing-masing &lt; 5 baris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3310128"/>
            <a:ext cx="8138160" cy="914400"/>
          </a:xfrm>
          <a:prstGeom prst="roundRect">
            <a:avLst>
              <a:gd name="adj" fmla="val 600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Text 7"/>
          <p:cNvSpPr/>
          <p:nvPr/>
        </p:nvSpPr>
        <p:spPr>
          <a:xfrm>
            <a:off x="502920" y="4370832"/>
            <a:ext cx="7635240" cy="23774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Sumber angka: output df[kolom].value_counts() pada notebook setelah data cleaning.</a:t>
            </a:r>
            <a:endParaRPr lang="en-US" sz="8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UNDERSTANDING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Lima fitur numerik: hampir semuanya bernilai nol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12</a:t>
            </a:r>
            <a:endParaRPr lang="en-US" sz="900" dirty="0"/>
          </a:p>
        </p:txBody>
      </p:sp>
      <p:sp>
        <p:nvSpPr>
          <p:cNvPr id="5" name="Text 3"/>
          <p:cNvSpPr/>
          <p:nvPr/>
        </p:nvSpPr>
        <p:spPr>
          <a:xfrm>
            <a:off x="502920" y="969264"/>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Statistik deskriptif dari df.describe() setelah cleaning, n = 10.097.</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2048256"/>
        </p:xfrm>
        <a:graphic>
          <a:graphicData uri="http://schemas.openxmlformats.org/drawingml/2006/table">
            <a:tbl>
              <a:tblPr/>
              <a:tblGrid>
                <a:gridCol w="26517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292608">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Kolom</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Mean</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Std</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Median</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Max</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previous_cancellations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0,089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0,832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26</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booking_changes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0,799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1,297</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days_in_waiting_list</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3,597</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22,309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391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required_car_parking_spaces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0,165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0,392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total_of_special_requests</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0,942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1,039</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is_canceled  (target)</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0,238</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0,426</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50" dirty="0">
                          <a:solidFill>
                            <a:srgbClr val="1620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3529584"/>
            <a:ext cx="3977640" cy="896112"/>
          </a:xfrm>
          <a:prstGeom prst="roundRect">
            <a:avLst>
              <a:gd name="adj" fmla="val 6122"/>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0" descr="/home/claude/assets/ic_search_navy.png"/>
          <p:cNvPicPr>
            <a:picLocks noChangeAspect="1"/>
          </p:cNvPicPr>
          <p:nvPr/>
        </p:nvPicPr>
        <p:blipFill>
          <a:blip r:embed="rId3"/>
          <a:stretch>
            <a:fillRect/>
          </a:stretch>
        </p:blipFill>
        <p:spPr>
          <a:xfrm>
            <a:off x="694944" y="3694176"/>
            <a:ext cx="237744" cy="237744"/>
          </a:xfrm>
          <a:prstGeom prst="rect">
            <a:avLst/>
          </a:prstGeom>
        </p:spPr>
      </p:pic>
      <p:sp>
        <p:nvSpPr>
          <p:cNvPr id="9" name="Text 5"/>
          <p:cNvSpPr/>
          <p:nvPr/>
        </p:nvSpPr>
        <p:spPr>
          <a:xfrm>
            <a:off x="1024128" y="3675888"/>
            <a:ext cx="32004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Distribusi sangat miring</a:t>
            </a:r>
            <a:endParaRPr lang="en-US" sz="1250" dirty="0"/>
          </a:p>
        </p:txBody>
      </p:sp>
      <p:sp>
        <p:nvSpPr>
          <p:cNvPr id="10" name="Text 6"/>
          <p:cNvSpPr/>
          <p:nvPr/>
        </p:nvSpPr>
        <p:spPr>
          <a:xfrm>
            <a:off x="1024128" y="3931920"/>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Median 0 pada empat dari lima fitur. Contoh ekstrem: days_in_waiting_list punya mean 3,6 tapi maksimum 391 hari.</a:t>
            </a:r>
            <a:endParaRPr lang="en-US" sz="930" dirty="0"/>
          </a:p>
        </p:txBody>
      </p:sp>
      <p:sp>
        <p:nvSpPr>
          <p:cNvPr id="11" name="Shape 7"/>
          <p:cNvSpPr/>
          <p:nvPr/>
        </p:nvSpPr>
        <p:spPr>
          <a:xfrm>
            <a:off x="4663440" y="3529584"/>
            <a:ext cx="3977640" cy="896112"/>
          </a:xfrm>
          <a:prstGeom prst="roundRect">
            <a:avLst>
              <a:gd name="adj" fmla="val 612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1" descr="/home/claude/assets/ic_check_navy.png"/>
          <p:cNvPicPr>
            <a:picLocks noChangeAspect="1"/>
          </p:cNvPicPr>
          <p:nvPr/>
        </p:nvPicPr>
        <p:blipFill>
          <a:blip r:embed="rId4"/>
          <a:stretch>
            <a:fillRect/>
          </a:stretch>
        </p:blipFill>
        <p:spPr>
          <a:xfrm>
            <a:off x="4855464" y="3694176"/>
            <a:ext cx="237744" cy="237744"/>
          </a:xfrm>
          <a:prstGeom prst="rect">
            <a:avLst/>
          </a:prstGeom>
        </p:spPr>
      </p:pic>
      <p:sp>
        <p:nvSpPr>
          <p:cNvPr id="6" name="Text 8"/>
          <p:cNvSpPr/>
          <p:nvPr/>
        </p:nvSpPr>
        <p:spPr>
          <a:xfrm>
            <a:off x="5184648" y="367588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Implikasi preprocessing</a:t>
            </a:r>
            <a:endParaRPr lang="en-US" sz="1250" dirty="0"/>
          </a:p>
        </p:txBody>
      </p:sp>
      <p:sp>
        <p:nvSpPr>
          <p:cNvPr id="14" name="Text 9"/>
          <p:cNvSpPr/>
          <p:nvPr/>
        </p:nvSpPr>
        <p:spPr>
          <a:xfrm>
            <a:off x="5184648" y="3931920"/>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Karena itu imputasi memakai median (bukan mean) dan scaling memakai StandardScaler yang diterapkan seragam ke semua fitur numerik.</a:t>
            </a:r>
            <a:endParaRPr lang="en-US" sz="930" dirty="0"/>
          </a:p>
        </p:txBody>
      </p:sp>
      <p:sp>
        <p:nvSpPr>
          <p:cNvPr id="15" name="Text 10"/>
          <p:cNvSpPr/>
          <p:nvPr/>
        </p:nvSpPr>
        <p:spPr>
          <a:xfrm>
            <a:off x="502920" y="4517136"/>
            <a:ext cx="7635240" cy="274320"/>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Catatan: outlier tidak dibuang karena nilai seperti 26 kali pembatalan atau 391 hari waiting list masih mungkin terjadi secara operasional dan justru membawa sinyal.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CLEANING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Proses pembersihan data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13</a:t>
            </a:r>
            <a:endParaRPr lang="en-US" sz="900" dirty="0"/>
          </a:p>
        </p:txBody>
      </p:sp>
      <p:pic>
        <p:nvPicPr>
          <p:cNvPr id="5" name="Image 0" descr="/home/claude/assets/funnel.png"/>
          <p:cNvPicPr>
            <a:picLocks noChangeAspect="1"/>
          </p:cNvPicPr>
          <p:nvPr/>
        </p:nvPicPr>
        <p:blipFill>
          <a:blip r:embed="rId3"/>
          <a:stretch>
            <a:fillRect/>
          </a:stretch>
        </p:blipFill>
        <p:spPr>
          <a:xfrm>
            <a:off x="566928" y="1042416"/>
            <a:ext cx="5623560" cy="2157984"/>
          </a:xfrm>
          <a:prstGeom prst="rect">
            <a:avLst/>
          </a:prstGeom>
        </p:spPr>
      </p:pic>
      <p:sp>
        <p:nvSpPr>
          <p:cNvPr id="6" name="Shape 3"/>
          <p:cNvSpPr/>
          <p:nvPr/>
        </p:nvSpPr>
        <p:spPr>
          <a:xfrm>
            <a:off x="6446520" y="1042416"/>
            <a:ext cx="2194560" cy="2157984"/>
          </a:xfrm>
          <a:prstGeom prst="roundRect">
            <a:avLst>
              <a:gd name="adj" fmla="val 254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broom_navy.png"/>
          <p:cNvPicPr>
            <a:picLocks noChangeAspect="1"/>
          </p:cNvPicPr>
          <p:nvPr/>
        </p:nvPicPr>
        <p:blipFill>
          <a:blip r:embed="rId4"/>
          <a:stretch>
            <a:fillRect/>
          </a:stretch>
        </p:blipFill>
        <p:spPr>
          <a:xfrm>
            <a:off x="6620256" y="1207008"/>
            <a:ext cx="256032" cy="256032"/>
          </a:xfrm>
          <a:prstGeom prst="rect">
            <a:avLst/>
          </a:prstGeom>
        </p:spPr>
      </p:pic>
      <p:sp>
        <p:nvSpPr>
          <p:cNvPr id="8" name="Text 4"/>
          <p:cNvSpPr/>
          <p:nvPr/>
        </p:nvSpPr>
        <p:spPr>
          <a:xfrm>
            <a:off x="6949440" y="1216152"/>
            <a:ext cx="14630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Tiga langkah</a:t>
            </a:r>
            <a:endParaRPr lang="en-US" sz="1250" dirty="0"/>
          </a:p>
        </p:txBody>
      </p:sp>
      <p:sp>
        <p:nvSpPr>
          <p:cNvPr id="9" name="Text 5"/>
          <p:cNvSpPr/>
          <p:nvPr/>
        </p:nvSpPr>
        <p:spPr>
          <a:xfrm>
            <a:off x="6601968" y="1536192"/>
            <a:ext cx="1874520" cy="1064362"/>
          </a:xfrm>
          <a:prstGeom prst="rect">
            <a:avLst/>
          </a:prstGeom>
          <a:noFill/>
          <a:ln/>
        </p:spPr>
        <p:txBody>
          <a:bodyPr wrap="square" lIns="0" tIns="0" rIns="0" bIns="0" rtlCol="0" anchor="t"/>
          <a:lstStyle/>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Missing value: country 351 null (0,42%), diimputasi dengan modus PRT</a:t>
            </a:r>
            <a:endParaRPr lang="en-US" sz="900" dirty="0"/>
          </a:p>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Duplikat: 73.476 baris identik dihapus</a:t>
            </a:r>
            <a:endParaRPr lang="en-US" sz="900" dirty="0"/>
          </a:p>
          <a:p>
            <a:pPr marL="342900" indent="-342900">
              <a:lnSpc>
                <a:spcPts val="1170"/>
              </a:lnSpc>
              <a:spcAft>
                <a:spcPts val="500"/>
              </a:spcAft>
              <a:buSzPct val="100000"/>
              <a:buChar char="•"/>
            </a:pPr>
            <a:r>
              <a:rPr lang="en-US" sz="900" dirty="0">
                <a:solidFill>
                  <a:srgbClr val="16202B"/>
                </a:solidFill>
                <a:latin typeface="Calibri" pitchFamily="34" charset="0"/>
                <a:ea typeface="Calibri" pitchFamily="34" charset="-122"/>
                <a:cs typeface="Calibri" pitchFamily="34" charset="-120"/>
              </a:rPr>
              <a:t>Outlier: dipertahankan karena nilai ekstrem masih masuk akal secara operasional</a:t>
            </a:r>
            <a:endParaRPr lang="en-US" sz="900" dirty="0"/>
          </a:p>
        </p:txBody>
      </p:sp>
      <p:sp>
        <p:nvSpPr>
          <p:cNvPr id="10" name="Shape 6"/>
          <p:cNvSpPr/>
          <p:nvPr/>
        </p:nvSpPr>
        <p:spPr>
          <a:xfrm>
            <a:off x="502920" y="3346704"/>
            <a:ext cx="3977640" cy="859536"/>
          </a:xfrm>
          <a:prstGeom prst="roundRect">
            <a:avLst>
              <a:gd name="adj" fmla="val 6383"/>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check_navy.png"/>
          <p:cNvPicPr>
            <a:picLocks noChangeAspect="1"/>
          </p:cNvPicPr>
          <p:nvPr/>
        </p:nvPicPr>
        <p:blipFill>
          <a:blip r:embed="rId5"/>
          <a:stretch>
            <a:fillRect/>
          </a:stretch>
        </p:blipFill>
        <p:spPr>
          <a:xfrm>
            <a:off x="694944" y="3511296"/>
            <a:ext cx="237744" cy="237744"/>
          </a:xfrm>
          <a:prstGeom prst="rect">
            <a:avLst/>
          </a:prstGeom>
        </p:spPr>
      </p:pic>
      <p:sp>
        <p:nvSpPr>
          <p:cNvPr id="12" name="Text 7"/>
          <p:cNvSpPr/>
          <p:nvPr/>
        </p:nvSpPr>
        <p:spPr>
          <a:xfrm>
            <a:off x="1024128" y="349300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Alasan imputasi modus</a:t>
            </a:r>
            <a:endParaRPr lang="en-US" sz="1250" dirty="0"/>
          </a:p>
        </p:txBody>
      </p:sp>
      <p:sp>
        <p:nvSpPr>
          <p:cNvPr id="13" name="Text 8"/>
          <p:cNvSpPr/>
          <p:nvPr/>
        </p:nvSpPr>
        <p:spPr>
          <a:xfrm>
            <a:off x="1024128" y="3730752"/>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Hanya 0,42% data yang hilang dan country bersifat kategorik, sehingga modus adalah pilihan paling sederhana tanpa mengubah distribusi secara berarti.</a:t>
            </a:r>
            <a:endParaRPr lang="en-US" sz="930" dirty="0"/>
          </a:p>
        </p:txBody>
      </p:sp>
      <p:sp>
        <p:nvSpPr>
          <p:cNvPr id="14" name="Shape 9"/>
          <p:cNvSpPr/>
          <p:nvPr/>
        </p:nvSpPr>
        <p:spPr>
          <a:xfrm>
            <a:off x="4663440" y="3346704"/>
            <a:ext cx="3977640" cy="859536"/>
          </a:xfrm>
          <a:prstGeom prst="roundRect">
            <a:avLst>
              <a:gd name="adj" fmla="val 6383"/>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3" descr="/home/claude/assets/ic_search_navy.png"/>
          <p:cNvPicPr>
            <a:picLocks noChangeAspect="1"/>
          </p:cNvPicPr>
          <p:nvPr/>
        </p:nvPicPr>
        <p:blipFill>
          <a:blip r:embed="rId6"/>
          <a:stretch>
            <a:fillRect/>
          </a:stretch>
        </p:blipFill>
        <p:spPr>
          <a:xfrm>
            <a:off x="4855464" y="3511296"/>
            <a:ext cx="237744" cy="237744"/>
          </a:xfrm>
          <a:prstGeom prst="rect">
            <a:avLst/>
          </a:prstGeom>
        </p:spPr>
      </p:pic>
      <p:sp>
        <p:nvSpPr>
          <p:cNvPr id="16" name="Text 10"/>
          <p:cNvSpPr/>
          <p:nvPr/>
        </p:nvSpPr>
        <p:spPr>
          <a:xfrm>
            <a:off x="5184648" y="3493008"/>
            <a:ext cx="32004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Alasan outlier dipertahankan</a:t>
            </a:r>
            <a:endParaRPr lang="en-US" sz="1250" dirty="0"/>
          </a:p>
        </p:txBody>
      </p:sp>
      <p:sp>
        <p:nvSpPr>
          <p:cNvPr id="17" name="Text 11"/>
          <p:cNvSpPr/>
          <p:nvPr/>
        </p:nvSpPr>
        <p:spPr>
          <a:xfrm>
            <a:off x="5184648" y="3730752"/>
            <a:ext cx="3291840" cy="457200"/>
          </a:xfrm>
          <a:prstGeom prst="rect">
            <a:avLst/>
          </a:prstGeom>
          <a:noFill/>
          <a:ln/>
        </p:spPr>
        <p:txBody>
          <a:bodyPr wrap="square" lIns="0" tIns="0" rIns="0" bIns="0" rtlCol="0" anchor="t"/>
          <a:lstStyle/>
          <a:p>
            <a:pPr marL="0" indent="0">
              <a:lnSpc>
                <a:spcPts val="1237"/>
              </a:lnSpc>
              <a:buNone/>
            </a:pPr>
            <a:r>
              <a:rPr lang="en-US" sz="930" dirty="0">
                <a:solidFill>
                  <a:srgbClr val="16202B"/>
                </a:solidFill>
                <a:latin typeface="Calibri" pitchFamily="34" charset="0"/>
                <a:ea typeface="Calibri" pitchFamily="34" charset="-122"/>
                <a:cs typeface="Calibri" pitchFamily="34" charset="-120"/>
              </a:rPr>
              <a:t>Tamu dengan 26 kali riwayat pembatalan atau 391 hari waiting list memang ada, dan justru membawa sinyal risiko yang ingin ditangkap model.</a:t>
            </a:r>
            <a:endParaRPr lang="en-US" sz="930" dirty="0"/>
          </a:p>
        </p:txBody>
      </p:sp>
      <p:sp>
        <p:nvSpPr>
          <p:cNvPr id="18" name="Text 12"/>
          <p:cNvSpPr/>
          <p:nvPr/>
        </p:nvSpPr>
        <p:spPr>
          <a:xfrm>
            <a:off x="502920" y="4334256"/>
            <a:ext cx="7635240" cy="274320"/>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Alternatif imputasi yang bisa diuji: membuat kategori khusus "Unknown" agar informasi "negara tidak tercatat" tidak hilang.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DATA CLEANING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Penghapusan duplikat: keputusan yang perlu diuji ulang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14</a:t>
            </a:r>
            <a:endParaRPr lang="en-US" sz="900" dirty="0"/>
          </a:p>
        </p:txBody>
      </p:sp>
      <p:sp>
        <p:nvSpPr>
          <p:cNvPr id="5" name="Text 3"/>
          <p:cNvSpPr/>
          <p:nvPr/>
        </p:nvSpPr>
        <p:spPr>
          <a:xfrm>
            <a:off x="502920" y="969264"/>
            <a:ext cx="8138160" cy="274320"/>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Ini keputusan tunggal dengan dampak terbesar pada seluruh hasil project. Dataset menyusut dari 83.573 menjadi 10.097 baris — hanya 12,1% yang tersisa.</a:t>
            </a:r>
            <a:endParaRPr lang="en-US" sz="1050" dirty="0"/>
          </a:p>
        </p:txBody>
      </p:sp>
      <p:sp>
        <p:nvSpPr>
          <p:cNvPr id="6" name="Shape 4"/>
          <p:cNvSpPr/>
          <p:nvPr/>
        </p:nvSpPr>
        <p:spPr>
          <a:xfrm>
            <a:off x="502920" y="1335024"/>
            <a:ext cx="3977640" cy="2048256"/>
          </a:xfrm>
          <a:prstGeom prst="roundRect">
            <a:avLst>
              <a:gd name="adj" fmla="val 2679"/>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7" name="Text 5"/>
          <p:cNvSpPr/>
          <p:nvPr/>
        </p:nvSpPr>
        <p:spPr>
          <a:xfrm>
            <a:off x="713232" y="1517904"/>
            <a:ext cx="3566160" cy="237744"/>
          </a:xfrm>
          <a:prstGeom prst="rect">
            <a:avLst/>
          </a:prstGeom>
          <a:noFill/>
          <a:ln/>
        </p:spPr>
        <p:txBody>
          <a:bodyPr wrap="square" lIns="0" tIns="0" rIns="0" bIns="0" rtlCol="0" anchor="ctr"/>
          <a:lstStyle/>
          <a:p>
            <a:pPr marL="0" indent="0">
              <a:buNone/>
            </a:pPr>
            <a:r>
              <a:rPr lang="en-US" sz="1200" b="1" dirty="0">
                <a:solidFill>
                  <a:srgbClr val="2F7D5E"/>
                </a:solidFill>
                <a:latin typeface="Calibri" pitchFamily="34" charset="0"/>
                <a:ea typeface="Calibri" pitchFamily="34" charset="-122"/>
                <a:cs typeface="Calibri" pitchFamily="34" charset="-120"/>
              </a:rPr>
              <a:t>Argumen mendukung penghapusan</a:t>
            </a:r>
            <a:endParaRPr lang="en-US" sz="1200" dirty="0"/>
          </a:p>
        </p:txBody>
      </p:sp>
      <p:sp>
        <p:nvSpPr>
          <p:cNvPr id="8" name="Text 6"/>
          <p:cNvSpPr/>
          <p:nvPr/>
        </p:nvSpPr>
        <p:spPr>
          <a:xfrm>
            <a:off x="713232" y="1828800"/>
            <a:ext cx="356616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Baris identik berulang membuat model memberi bobot berlebih pada pola yang sama</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Berpotensi menyebabkan kebocoran antara train dan test bila baris kembar terpisah ke dua set</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Metrik evaluasi jadi terlalu optimistis</a:t>
            </a:r>
            <a:endParaRPr lang="en-US" sz="940" dirty="0"/>
          </a:p>
        </p:txBody>
      </p:sp>
      <p:sp>
        <p:nvSpPr>
          <p:cNvPr id="9" name="Shape 7"/>
          <p:cNvSpPr/>
          <p:nvPr/>
        </p:nvSpPr>
        <p:spPr>
          <a:xfrm>
            <a:off x="4663440" y="1335024"/>
            <a:ext cx="3977640" cy="2048256"/>
          </a:xfrm>
          <a:prstGeom prst="roundRect">
            <a:avLst>
              <a:gd name="adj" fmla="val 2679"/>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73752" y="1517904"/>
            <a:ext cx="3566160" cy="237744"/>
          </a:xfrm>
          <a:prstGeom prst="rect">
            <a:avLst/>
          </a:prstGeom>
          <a:noFill/>
          <a:ln/>
        </p:spPr>
        <p:txBody>
          <a:bodyPr wrap="square" lIns="0" tIns="0" rIns="0" bIns="0" rtlCol="0" anchor="ctr"/>
          <a:lstStyle/>
          <a:p>
            <a:pPr marL="0" indent="0">
              <a:buNone/>
            </a:pPr>
            <a:r>
              <a:rPr lang="en-US" sz="1200" b="1" dirty="0">
                <a:solidFill>
                  <a:srgbClr val="B3392E"/>
                </a:solidFill>
                <a:latin typeface="Calibri" pitchFamily="34" charset="0"/>
                <a:ea typeface="Calibri" pitchFamily="34" charset="-122"/>
                <a:cs typeface="Calibri" pitchFamily="34" charset="-120"/>
              </a:rPr>
              <a:t>Argumen menolak penghapusan</a:t>
            </a:r>
            <a:endParaRPr lang="en-US" sz="1200" dirty="0"/>
          </a:p>
        </p:txBody>
      </p:sp>
      <p:sp>
        <p:nvSpPr>
          <p:cNvPr id="11" name="Text 9"/>
          <p:cNvSpPr/>
          <p:nvPr/>
        </p:nvSpPr>
        <p:spPr>
          <a:xfrm>
            <a:off x="4873752" y="1828800"/>
            <a:ext cx="356616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Hanya ada 10 kolom berkardinalitas rendah, sehingga dua booking berbeda sangat mungkin identik</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Tanpa ID tamu atau tanggal, "duplikat" tidak bisa dibedakan dari kebetulan</a:t>
            </a:r>
            <a:endParaRPr lang="en-US" sz="940" dirty="0"/>
          </a:p>
          <a:p>
            <a:pPr marL="342900" indent="-342900">
              <a:lnSpc>
                <a:spcPts val="1222"/>
              </a:lnSpc>
              <a:spcAft>
                <a:spcPts val="500"/>
              </a:spcAft>
              <a:buSzPct val="100000"/>
              <a:buChar char="•"/>
            </a:pPr>
            <a:r>
              <a:rPr lang="en-US" sz="940" dirty="0">
                <a:solidFill>
                  <a:srgbClr val="16202B"/>
                </a:solidFill>
                <a:latin typeface="Calibri" pitchFamily="34" charset="0"/>
                <a:ea typeface="Calibri" pitchFamily="34" charset="-122"/>
                <a:cs typeface="Calibri" pitchFamily="34" charset="-120"/>
              </a:rPr>
              <a:t>88% data hilang, termasuk informasi frekuensi pola yang sebenarnya nyata</a:t>
            </a:r>
            <a:endParaRPr lang="en-US" sz="940" dirty="0"/>
          </a:p>
        </p:txBody>
      </p:sp>
      <p:sp>
        <p:nvSpPr>
          <p:cNvPr id="12" name="Shape 10"/>
          <p:cNvSpPr/>
          <p:nvPr/>
        </p:nvSpPr>
        <p:spPr>
          <a:xfrm>
            <a:off x="502920" y="3529584"/>
            <a:ext cx="8138160" cy="1097280"/>
          </a:xfrm>
          <a:prstGeom prst="roundRect">
            <a:avLst>
              <a:gd name="adj" fmla="val 5000"/>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3" name="Image 0" descr="/home/claude/assets/ic_gear_navy.png"/>
          <p:cNvPicPr>
            <a:picLocks noChangeAspect="1"/>
          </p:cNvPicPr>
          <p:nvPr/>
        </p:nvPicPr>
        <p:blipFill>
          <a:blip r:embed="rId3"/>
          <a:stretch>
            <a:fillRect/>
          </a:stretch>
        </p:blipFill>
        <p:spPr>
          <a:xfrm>
            <a:off x="713232" y="3712464"/>
            <a:ext cx="274320" cy="274320"/>
          </a:xfrm>
          <a:prstGeom prst="rect">
            <a:avLst/>
          </a:prstGeom>
        </p:spPr>
      </p:pic>
      <p:sp>
        <p:nvSpPr>
          <p:cNvPr id="14" name="Text 11"/>
          <p:cNvSpPr/>
          <p:nvPr/>
        </p:nvSpPr>
        <p:spPr>
          <a:xfrm>
            <a:off x="1115568" y="3694176"/>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Cara menyelesaikan perdebatan ini</a:t>
            </a:r>
            <a:endParaRPr lang="en-US" sz="1250" dirty="0"/>
          </a:p>
        </p:txBody>
      </p:sp>
      <p:sp>
        <p:nvSpPr>
          <p:cNvPr id="15" name="Text 12"/>
          <p:cNvSpPr/>
          <p:nvPr/>
        </p:nvSpPr>
        <p:spPr>
          <a:xfrm>
            <a:off x="1115568" y="3950208"/>
            <a:ext cx="7360920" cy="60350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Jangan diputuskan lewat argumen, tapi lewat eksperimen: latih dua versi model dengan pipeline yang persis sama — satu memakai data penuh 83.573 baris, satu memakai 10.097 baris — lalu bandingkan Recall, Precision, dan AUC-ROC pada test set masing-masing. Versi mana pun yang dipakai, keputusannya jadi punya dasar bukti, bukan asumsi.</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1 dari 4 pemesanan berakhir dibatalkan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15</a:t>
            </a:r>
            <a:endParaRPr lang="en-US" sz="900" dirty="0"/>
          </a:p>
        </p:txBody>
      </p:sp>
      <p:pic>
        <p:nvPicPr>
          <p:cNvPr id="5" name="Image 0" descr="/home/claude/assets/target_dist.png"/>
          <p:cNvPicPr>
            <a:picLocks noChangeAspect="1"/>
          </p:cNvPicPr>
          <p:nvPr/>
        </p:nvPicPr>
        <p:blipFill>
          <a:blip r:embed="rId3"/>
          <a:stretch>
            <a:fillRect/>
          </a:stretch>
        </p:blipFill>
        <p:spPr>
          <a:xfrm>
            <a:off x="548640" y="1115568"/>
            <a:ext cx="4617720" cy="2450592"/>
          </a:xfrm>
          <a:prstGeom prst="rect">
            <a:avLst/>
          </a:prstGeom>
        </p:spPr>
      </p:pic>
      <p:sp>
        <p:nvSpPr>
          <p:cNvPr id="6" name="Shape 3"/>
          <p:cNvSpPr/>
          <p:nvPr/>
        </p:nvSpPr>
        <p:spPr>
          <a:xfrm>
            <a:off x="5440680" y="1115568"/>
            <a:ext cx="3200400" cy="2450592"/>
          </a:xfrm>
          <a:prstGeom prst="roundRect">
            <a:avLst>
              <a:gd name="adj" fmla="val 223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chart_navy.png"/>
          <p:cNvPicPr>
            <a:picLocks noChangeAspect="1"/>
          </p:cNvPicPr>
          <p:nvPr/>
        </p:nvPicPr>
        <p:blipFill>
          <a:blip r:embed="rId4"/>
          <a:stretch>
            <a:fillRect/>
          </a:stretch>
        </p:blipFill>
        <p:spPr>
          <a:xfrm>
            <a:off x="5650992" y="1298448"/>
            <a:ext cx="274320" cy="274320"/>
          </a:xfrm>
          <a:prstGeom prst="rect">
            <a:avLst/>
          </a:prstGeom>
        </p:spPr>
      </p:pic>
      <p:sp>
        <p:nvSpPr>
          <p:cNvPr id="8" name="Text 4"/>
          <p:cNvSpPr/>
          <p:nvPr/>
        </p:nvSpPr>
        <p:spPr>
          <a:xfrm>
            <a:off x="6035040" y="1307592"/>
            <a:ext cx="246888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Implikasi ke modeling</a:t>
            </a:r>
            <a:endParaRPr lang="en-US" sz="1250" dirty="0"/>
          </a:p>
        </p:txBody>
      </p:sp>
      <p:sp>
        <p:nvSpPr>
          <p:cNvPr id="9" name="Text 5"/>
          <p:cNvSpPr/>
          <p:nvPr/>
        </p:nvSpPr>
        <p:spPr>
          <a:xfrm>
            <a:off x="5632704" y="1645920"/>
            <a:ext cx="2798064" cy="1454262"/>
          </a:xfrm>
          <a:prstGeom prst="rect">
            <a:avLst/>
          </a:prstGeom>
          <a:noFill/>
          <a:ln/>
        </p:spPr>
        <p:txBody>
          <a:bodyPr wrap="square" lIns="0" tIns="0" rIns="0" bIns="0" rtlCol="0" anchor="t"/>
          <a:lstStyle/>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Kelas tidak seimbang: 76,2% vs 23,8% (rasio ± 3:1)</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Model yang selalu menebak "tidak batal" langsung dapat akurasi 76%</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Karena itu accuracy tidak dipakai sebagai metrik utama</a:t>
            </a:r>
            <a:endParaRPr lang="en-US" sz="930" dirty="0"/>
          </a:p>
          <a:p>
            <a:pPr marL="342900" indent="-342900">
              <a:lnSpc>
                <a:spcPts val="1209"/>
              </a:lnSpc>
              <a:spcAft>
                <a:spcPts val="500"/>
              </a:spcAft>
              <a:buSzPct val="100000"/>
              <a:buChar char="•"/>
            </a:pPr>
            <a:r>
              <a:rPr lang="en-US" sz="930" dirty="0">
                <a:solidFill>
                  <a:srgbClr val="16202B"/>
                </a:solidFill>
                <a:latin typeface="Calibri" pitchFamily="34" charset="0"/>
                <a:ea typeface="Calibri" pitchFamily="34" charset="-122"/>
                <a:cs typeface="Calibri" pitchFamily="34" charset="-120"/>
              </a:rPr>
              <a:t>Train–test split memakai stratify=y agar proporsi terjaga</a:t>
            </a:r>
            <a:endParaRPr lang="en-US" sz="930" dirty="0"/>
          </a:p>
        </p:txBody>
      </p:sp>
      <p:sp>
        <p:nvSpPr>
          <p:cNvPr id="10" name="Text 6"/>
          <p:cNvSpPr/>
          <p:nvPr/>
        </p:nvSpPr>
        <p:spPr>
          <a:xfrm>
            <a:off x="548640" y="3767328"/>
            <a:ext cx="8092440" cy="219456"/>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Total 10.097 pemesanan  •  2.405 dibatalkan  •  7.692 tidak dibatalkan</a:t>
            </a:r>
            <a:endParaRPr lang="en-US" sz="1000" dirty="0"/>
          </a:p>
        </p:txBody>
      </p:sp>
      <p:sp>
        <p:nvSpPr>
          <p:cNvPr id="11" name="Shape 7"/>
          <p:cNvSpPr/>
          <p:nvPr/>
        </p:nvSpPr>
        <p:spPr>
          <a:xfrm>
            <a:off x="502920" y="4078224"/>
            <a:ext cx="8138160" cy="566928"/>
          </a:xfrm>
          <a:prstGeom prst="roundRect">
            <a:avLst>
              <a:gd name="adj" fmla="val 967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8"/>
          <p:cNvSpPr/>
          <p:nvPr/>
        </p:nvSpPr>
        <p:spPr>
          <a:xfrm>
            <a:off x="713232" y="4187952"/>
            <a:ext cx="7680960" cy="365760"/>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Ketidakseimbangan ini ditangani lewat pembobotan kelas saat pelatihan (class_weight=balanced pada model final), bukan lewat resampling seperti SMOTE.</a:t>
            </a:r>
            <a:endParaRPr lang="en-US" sz="9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Hampir semua tamu memesan tanpa jaminan finansial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16</a:t>
            </a:r>
            <a:endParaRPr lang="en-US" sz="900" dirty="0"/>
          </a:p>
        </p:txBody>
      </p:sp>
      <p:pic>
        <p:nvPicPr>
          <p:cNvPr id="5" name="Image 0" descr="/home/claude/assets/cat_dist.png"/>
          <p:cNvPicPr>
            <a:picLocks noChangeAspect="1"/>
          </p:cNvPicPr>
          <p:nvPr/>
        </p:nvPicPr>
        <p:blipFill>
          <a:blip r:embed="rId3"/>
          <a:stretch>
            <a:fillRect/>
          </a:stretch>
        </p:blipFill>
        <p:spPr>
          <a:xfrm>
            <a:off x="502920" y="1078992"/>
            <a:ext cx="8138160" cy="2542032"/>
          </a:xfrm>
          <a:prstGeom prst="rect">
            <a:avLst/>
          </a:prstGeom>
        </p:spPr>
      </p:pic>
      <p:sp>
        <p:nvSpPr>
          <p:cNvPr id="6" name="Shape 3"/>
          <p:cNvSpPr/>
          <p:nvPr/>
        </p:nvSpPr>
        <p:spPr>
          <a:xfrm>
            <a:off x="502920" y="3712464"/>
            <a:ext cx="3977640" cy="896112"/>
          </a:xfrm>
          <a:prstGeom prst="roundRect">
            <a:avLst>
              <a:gd name="adj" fmla="val 61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orange.png"/>
          <p:cNvPicPr>
            <a:picLocks noChangeAspect="1"/>
          </p:cNvPicPr>
          <p:nvPr/>
        </p:nvPicPr>
        <p:blipFill>
          <a:blip r:embed="rId4"/>
          <a:stretch>
            <a:fillRect/>
          </a:stretch>
        </p:blipFill>
        <p:spPr>
          <a:xfrm>
            <a:off x="694944" y="3877056"/>
            <a:ext cx="237744" cy="237744"/>
          </a:xfrm>
          <a:prstGeom prst="rect">
            <a:avLst/>
          </a:prstGeom>
        </p:spPr>
      </p:pic>
      <p:sp>
        <p:nvSpPr>
          <p:cNvPr id="8" name="Text 4"/>
          <p:cNvSpPr/>
          <p:nvPr/>
        </p:nvSpPr>
        <p:spPr>
          <a:xfrm>
            <a:off x="1024128" y="3840480"/>
            <a:ext cx="3337560" cy="60350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97,6% booking berstatus No Deposit — hotel praktis tidak memegang jaminan apa pun. Non Refund hanya 194 booking (1,9%).</a:t>
            </a:r>
            <a:endParaRPr lang="en-US" sz="950" dirty="0"/>
          </a:p>
        </p:txBody>
      </p:sp>
      <p:sp>
        <p:nvSpPr>
          <p:cNvPr id="9" name="Shape 5"/>
          <p:cNvSpPr/>
          <p:nvPr/>
        </p:nvSpPr>
        <p:spPr>
          <a:xfrm>
            <a:off x="4663440" y="3712464"/>
            <a:ext cx="3977640" cy="896112"/>
          </a:xfrm>
          <a:prstGeom prst="roundRect">
            <a:avLst>
              <a:gd name="adj" fmla="val 61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2" descr="/home/claude/assets/ic_search_orange.png"/>
          <p:cNvPicPr>
            <a:picLocks noChangeAspect="1"/>
          </p:cNvPicPr>
          <p:nvPr/>
        </p:nvPicPr>
        <p:blipFill>
          <a:blip r:embed="rId4"/>
          <a:stretch>
            <a:fillRect/>
          </a:stretch>
        </p:blipFill>
        <p:spPr>
          <a:xfrm>
            <a:off x="4855464" y="3877056"/>
            <a:ext cx="237744" cy="237744"/>
          </a:xfrm>
          <a:prstGeom prst="rect">
            <a:avLst/>
          </a:prstGeom>
        </p:spPr>
      </p:pic>
      <p:sp>
        <p:nvSpPr>
          <p:cNvPr id="11" name="Text 6"/>
          <p:cNvSpPr/>
          <p:nvPr/>
        </p:nvSpPr>
        <p:spPr>
          <a:xfrm>
            <a:off x="5184648" y="3840480"/>
            <a:ext cx="3337560" cy="603504"/>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67,6% tamu bertipe Transient (pemesan individual, bukan bagian grup atau kontrak) — segmen yang paling fleksibel membatalkan.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Kanal pemesanan dan sebaran fitur numerik</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17</a:t>
            </a:r>
            <a:endParaRPr lang="en-US" sz="900" dirty="0"/>
          </a:p>
        </p:txBody>
      </p:sp>
      <p:pic>
        <p:nvPicPr>
          <p:cNvPr id="5" name="Image 0" descr="/home/claude/assets/market_seg.png"/>
          <p:cNvPicPr>
            <a:picLocks noChangeAspect="1"/>
          </p:cNvPicPr>
          <p:nvPr/>
        </p:nvPicPr>
        <p:blipFill>
          <a:blip r:embed="rId3"/>
          <a:stretch>
            <a:fillRect/>
          </a:stretch>
        </p:blipFill>
        <p:spPr>
          <a:xfrm>
            <a:off x="502920" y="1078992"/>
            <a:ext cx="3977640" cy="2148840"/>
          </a:xfrm>
          <a:prstGeom prst="rect">
            <a:avLst/>
          </a:prstGeom>
        </p:spPr>
      </p:pic>
      <p:pic>
        <p:nvPicPr>
          <p:cNvPr id="6" name="Image 1" descr="/home/claude/assets/boxplots.png"/>
          <p:cNvPicPr>
            <a:picLocks noChangeAspect="1"/>
          </p:cNvPicPr>
          <p:nvPr/>
        </p:nvPicPr>
        <p:blipFill>
          <a:blip r:embed="rId4"/>
          <a:stretch>
            <a:fillRect/>
          </a:stretch>
        </p:blipFill>
        <p:spPr>
          <a:xfrm>
            <a:off x="4681728" y="1078992"/>
            <a:ext cx="3959352" cy="2624328"/>
          </a:xfrm>
          <a:prstGeom prst="rect">
            <a:avLst/>
          </a:prstGeom>
        </p:spPr>
      </p:pic>
      <p:sp>
        <p:nvSpPr>
          <p:cNvPr id="7" name="Text 3"/>
          <p:cNvSpPr/>
          <p:nvPr/>
        </p:nvSpPr>
        <p:spPr>
          <a:xfrm>
            <a:off x="502920" y="3273552"/>
            <a:ext cx="39776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market_segment</a:t>
            </a:r>
            <a:endParaRPr lang="en-US" sz="1250" dirty="0"/>
          </a:p>
        </p:txBody>
      </p:sp>
      <p:sp>
        <p:nvSpPr>
          <p:cNvPr id="8" name="Text 4"/>
          <p:cNvSpPr/>
          <p:nvPr/>
        </p:nvSpPr>
        <p:spPr>
          <a:xfrm>
            <a:off x="502920" y="3493008"/>
            <a:ext cx="3977640" cy="56692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Online TA mendominasi dengan 4.924 booking (48,8%). Groups hanya 845 booking, tetapi secara operasional punya karakter pembatalan yang berbeda dari tamu individual.</a:t>
            </a:r>
            <a:endParaRPr lang="en-US" sz="950" dirty="0"/>
          </a:p>
        </p:txBody>
      </p:sp>
      <p:sp>
        <p:nvSpPr>
          <p:cNvPr id="9" name="Text 5"/>
          <p:cNvSpPr/>
          <p:nvPr/>
        </p:nvSpPr>
        <p:spPr>
          <a:xfrm>
            <a:off x="4681728" y="3767328"/>
            <a:ext cx="3959352"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Boxplot fitur numerik (output notebook)</a:t>
            </a:r>
            <a:endParaRPr lang="en-US" sz="1250" dirty="0"/>
          </a:p>
        </p:txBody>
      </p:sp>
      <p:sp>
        <p:nvSpPr>
          <p:cNvPr id="10" name="Text 6"/>
          <p:cNvSpPr/>
          <p:nvPr/>
        </p:nvSpPr>
        <p:spPr>
          <a:xfrm>
            <a:off x="4681728" y="3986784"/>
            <a:ext cx="3959352" cy="566928"/>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previous_cancellations dan days_in_waiting_list sangat miring: median 0, maksimum 26 dan 391. Mayoritas tamu tidak pernah membatalkan dan tidak pernah masuk daftar tunggu.</a:t>
            </a:r>
            <a:endParaRPr lang="en-US" sz="950" dirty="0"/>
          </a:p>
        </p:txBody>
      </p:sp>
      <p:sp>
        <p:nvSpPr>
          <p:cNvPr id="11" name="Shape 7"/>
          <p:cNvSpPr/>
          <p:nvPr/>
        </p:nvSpPr>
        <p:spPr>
          <a:xfrm>
            <a:off x="502920" y="4169664"/>
            <a:ext cx="3977640" cy="475488"/>
          </a:xfrm>
          <a:prstGeom prst="roundRect">
            <a:avLst>
              <a:gd name="adj" fmla="val 1153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Text 8"/>
          <p:cNvSpPr/>
          <p:nvPr/>
        </p:nvSpPr>
        <p:spPr>
          <a:xfrm>
            <a:off x="658368" y="4261104"/>
            <a:ext cx="3703320" cy="292608"/>
          </a:xfrm>
          <a:prstGeom prst="rect">
            <a:avLst/>
          </a:prstGeom>
          <a:noFill/>
          <a:ln/>
        </p:spPr>
        <p:txBody>
          <a:bodyPr wrap="square" lIns="0" tIns="0" rIns="0" bIns="0" rtlCol="0" anchor="t"/>
          <a:lstStyle/>
          <a:p>
            <a:pPr marL="0" indent="0">
              <a:lnSpc>
                <a:spcPts val="1197"/>
              </a:lnSpc>
              <a:buNone/>
            </a:pPr>
            <a:r>
              <a:rPr lang="en-US" sz="900" dirty="0">
                <a:solidFill>
                  <a:srgbClr val="B3392E"/>
                </a:solidFill>
                <a:latin typeface="Calibri" pitchFamily="34" charset="0"/>
                <a:ea typeface="Calibri" pitchFamily="34" charset="-122"/>
                <a:cs typeface="Calibri" pitchFamily="34" charset="-120"/>
              </a:rPr>
              <a:t>Belum ada analisis bivariat (cancellation rate per kategori) — lihat slide rekomendasi.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Tipe kamar dan konsentrasi pada kelas 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18</a:t>
            </a:r>
            <a:endParaRPr lang="en-US" sz="900" dirty="0"/>
          </a:p>
        </p:txBody>
      </p:sp>
      <p:pic>
        <p:nvPicPr>
          <p:cNvPr id="5" name="Image 0" descr="/home/claude/assets/room_type.png"/>
          <p:cNvPicPr>
            <a:picLocks noChangeAspect="1"/>
          </p:cNvPicPr>
          <p:nvPr/>
        </p:nvPicPr>
        <p:blipFill>
          <a:blip r:embed="rId3"/>
          <a:stretch>
            <a:fillRect/>
          </a:stretch>
        </p:blipFill>
        <p:spPr>
          <a:xfrm>
            <a:off x="502920" y="1097280"/>
            <a:ext cx="5074920" cy="2340864"/>
          </a:xfrm>
          <a:prstGeom prst="rect">
            <a:avLst/>
          </a:prstGeom>
        </p:spPr>
      </p:pic>
      <p:sp>
        <p:nvSpPr>
          <p:cNvPr id="6" name="Shape 3"/>
          <p:cNvSpPr/>
          <p:nvPr/>
        </p:nvSpPr>
        <p:spPr>
          <a:xfrm>
            <a:off x="5760720" y="1097280"/>
            <a:ext cx="2880360" cy="2340864"/>
          </a:xfrm>
          <a:prstGeom prst="roundRect">
            <a:avLst>
              <a:gd name="adj" fmla="val 2344"/>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navy.png"/>
          <p:cNvPicPr>
            <a:picLocks noChangeAspect="1"/>
          </p:cNvPicPr>
          <p:nvPr/>
        </p:nvPicPr>
        <p:blipFill>
          <a:blip r:embed="rId4"/>
          <a:stretch>
            <a:fillRect/>
          </a:stretch>
        </p:blipFill>
        <p:spPr>
          <a:xfrm>
            <a:off x="5961888" y="1261872"/>
            <a:ext cx="256032" cy="256032"/>
          </a:xfrm>
          <a:prstGeom prst="rect">
            <a:avLst/>
          </a:prstGeom>
        </p:spPr>
      </p:pic>
      <p:sp>
        <p:nvSpPr>
          <p:cNvPr id="8" name="Text 4"/>
          <p:cNvSpPr/>
          <p:nvPr/>
        </p:nvSpPr>
        <p:spPr>
          <a:xfrm>
            <a:off x="5961888" y="1591056"/>
            <a:ext cx="256032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Yang perlu diperhatikan</a:t>
            </a:r>
            <a:endParaRPr lang="en-US" sz="1250" dirty="0"/>
          </a:p>
        </p:txBody>
      </p:sp>
      <p:sp>
        <p:nvSpPr>
          <p:cNvPr id="9" name="Text 5"/>
          <p:cNvSpPr/>
          <p:nvPr/>
        </p:nvSpPr>
        <p:spPr>
          <a:xfrm>
            <a:off x="5943600" y="1883664"/>
            <a:ext cx="2514600" cy="1395740"/>
          </a:xfrm>
          <a:prstGeom prst="rect">
            <a:avLst/>
          </a:prstGeom>
          <a:noFill/>
          <a:ln/>
        </p:spPr>
        <p:txBody>
          <a:bodyPr wrap="square" lIns="0" tIns="0" rIns="0" bIns="0" rtlCol="0" anchor="t"/>
          <a:lstStyle/>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Tipe A mendominasi dengan 4.566 booking (45,2%)</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Tiga tipe teratas (A, D, E) mencakup 77,7% seluruh pemesanan</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Tipe P hanya 4 baris dan tipe L hanya 2 baris</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Kategori sekecil itu tidak cukup untuk dipelajari model</a:t>
            </a:r>
            <a:endParaRPr lang="en-US" sz="880" dirty="0"/>
          </a:p>
        </p:txBody>
      </p:sp>
      <p:sp>
        <p:nvSpPr>
          <p:cNvPr id="10" name="Shape 6"/>
          <p:cNvSpPr/>
          <p:nvPr/>
        </p:nvSpPr>
        <p:spPr>
          <a:xfrm>
            <a:off x="502920" y="3602736"/>
            <a:ext cx="8138160" cy="969264"/>
          </a:xfrm>
          <a:prstGeom prst="roundRect">
            <a:avLst>
              <a:gd name="adj" fmla="val 566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warn_orange.png"/>
          <p:cNvPicPr>
            <a:picLocks noChangeAspect="1"/>
          </p:cNvPicPr>
          <p:nvPr/>
        </p:nvPicPr>
        <p:blipFill>
          <a:blip r:embed="rId5"/>
          <a:stretch>
            <a:fillRect/>
          </a:stretch>
        </p:blipFill>
        <p:spPr>
          <a:xfrm>
            <a:off x="713232" y="3785616"/>
            <a:ext cx="256032" cy="256032"/>
          </a:xfrm>
          <a:prstGeom prst="rect">
            <a:avLst/>
          </a:prstGeom>
        </p:spPr>
      </p:pic>
      <p:sp>
        <p:nvSpPr>
          <p:cNvPr id="12" name="Text 7"/>
          <p:cNvSpPr/>
          <p:nvPr/>
        </p:nvSpPr>
        <p:spPr>
          <a:xfrm>
            <a:off x="1097280" y="3767328"/>
            <a:ext cx="45720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Konsekuensi untuk keandalan prediksi</a:t>
            </a:r>
            <a:endParaRPr lang="en-US" sz="1250" dirty="0"/>
          </a:p>
        </p:txBody>
      </p:sp>
      <p:sp>
        <p:nvSpPr>
          <p:cNvPr id="13" name="Text 8"/>
          <p:cNvSpPr/>
          <p:nvPr/>
        </p:nvSpPr>
        <p:spPr>
          <a:xfrm>
            <a:off x="1097280" y="4023360"/>
            <a:ext cx="7360920" cy="50292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Setelah train–test split 80:20, tipe kamar P dan L kemungkinan besar hanya muncul di salah satu set. Prediksi model untuk booking dengan tipe kamar langka ini praktis tidak bisa dipercaya. Solusinya: gabungkan tipe kamar berfrekuensi rendah ke satu kategori "Lainnya" sebelum encoding.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EXPLORATORY DATA ANALYSIS</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Asal tamu terpusat di Eropa dengan ekor panjang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19</a:t>
            </a:r>
            <a:endParaRPr lang="en-US" sz="900" dirty="0"/>
          </a:p>
        </p:txBody>
      </p:sp>
      <p:pic>
        <p:nvPicPr>
          <p:cNvPr id="5" name="Image 0" descr="/home/claude/assets/country_dist.png"/>
          <p:cNvPicPr>
            <a:picLocks noChangeAspect="1"/>
          </p:cNvPicPr>
          <p:nvPr/>
        </p:nvPicPr>
        <p:blipFill>
          <a:blip r:embed="rId3"/>
          <a:stretch>
            <a:fillRect/>
          </a:stretch>
        </p:blipFill>
        <p:spPr>
          <a:xfrm>
            <a:off x="502920" y="1097280"/>
            <a:ext cx="4846320" cy="2240280"/>
          </a:xfrm>
          <a:prstGeom prst="rect">
            <a:avLst/>
          </a:prstGeom>
        </p:spPr>
      </p:pic>
      <p:sp>
        <p:nvSpPr>
          <p:cNvPr id="6" name="Shape 3"/>
          <p:cNvSpPr/>
          <p:nvPr/>
        </p:nvSpPr>
        <p:spPr>
          <a:xfrm>
            <a:off x="5532120" y="1097280"/>
            <a:ext cx="3108960" cy="2240280"/>
          </a:xfrm>
          <a:prstGeom prst="roundRect">
            <a:avLst>
              <a:gd name="adj" fmla="val 244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1" descr="/home/claude/assets/ic_search_navy.png"/>
          <p:cNvPicPr>
            <a:picLocks noChangeAspect="1"/>
          </p:cNvPicPr>
          <p:nvPr/>
        </p:nvPicPr>
        <p:blipFill>
          <a:blip r:embed="rId4"/>
          <a:stretch>
            <a:fillRect/>
          </a:stretch>
        </p:blipFill>
        <p:spPr>
          <a:xfrm>
            <a:off x="5733288" y="1261872"/>
            <a:ext cx="256032" cy="256032"/>
          </a:xfrm>
          <a:prstGeom prst="rect">
            <a:avLst/>
          </a:prstGeom>
        </p:spPr>
      </p:pic>
      <p:sp>
        <p:nvSpPr>
          <p:cNvPr id="8" name="Text 4"/>
          <p:cNvSpPr/>
          <p:nvPr/>
        </p:nvSpPr>
        <p:spPr>
          <a:xfrm>
            <a:off x="5733288" y="1591056"/>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Struktur distribusi</a:t>
            </a:r>
            <a:endParaRPr lang="en-US" sz="1250" dirty="0"/>
          </a:p>
        </p:txBody>
      </p:sp>
      <p:sp>
        <p:nvSpPr>
          <p:cNvPr id="9" name="Text 5"/>
          <p:cNvSpPr/>
          <p:nvPr/>
        </p:nvSpPr>
        <p:spPr>
          <a:xfrm>
            <a:off x="5715000" y="1883664"/>
            <a:ext cx="2743200" cy="1395740"/>
          </a:xfrm>
          <a:prstGeom prst="rect">
            <a:avLst/>
          </a:prstGeom>
          <a:noFill/>
          <a:ln/>
        </p:spPr>
        <p:txBody>
          <a:bodyPr wrap="square" lIns="0" tIns="0" rIns="0" bIns="0" rtlCol="0" anchor="t"/>
          <a:lstStyle/>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Portugal (PRT) menyumbang 19,9% booking — lokasi hotel kemungkinan di Portugal</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Lima negara teratas mencakup 43,8% data</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157 negara sisanya berbagi 5.672 booking</a:t>
            </a:r>
            <a:endParaRPr lang="en-US" sz="880" dirty="0"/>
          </a:p>
          <a:p>
            <a:pPr marL="342900" indent="-342900">
              <a:lnSpc>
                <a:spcPts val="1144"/>
              </a:lnSpc>
              <a:spcAft>
                <a:spcPts val="500"/>
              </a:spcAft>
              <a:buSzPct val="100000"/>
              <a:buChar char="•"/>
            </a:pPr>
            <a:r>
              <a:rPr lang="en-US" sz="880" dirty="0">
                <a:solidFill>
                  <a:srgbClr val="16202B"/>
                </a:solidFill>
                <a:latin typeface="Calibri" pitchFamily="34" charset="0"/>
                <a:ea typeface="Calibri" pitchFamily="34" charset="-122"/>
                <a:cs typeface="Calibri" pitchFamily="34" charset="-120"/>
              </a:rPr>
              <a:t>Banyak negara hanya punya 1 baris (DMA, KIR, MYT, KNA, AIA)</a:t>
            </a:r>
            <a:endParaRPr lang="en-US" sz="880" dirty="0"/>
          </a:p>
        </p:txBody>
      </p:sp>
      <p:pic>
        <p:nvPicPr>
          <p:cNvPr id="10" name="Image 2" descr="/home/claude/assets/boxplots.png"/>
          <p:cNvPicPr>
            <a:picLocks noChangeAspect="1"/>
          </p:cNvPicPr>
          <p:nvPr/>
        </p:nvPicPr>
        <p:blipFill>
          <a:blip r:embed="rId5"/>
          <a:stretch>
            <a:fillRect/>
          </a:stretch>
        </p:blipFill>
        <p:spPr>
          <a:xfrm>
            <a:off x="502920" y="3456432"/>
            <a:ext cx="3931920" cy="1188720"/>
          </a:xfrm>
          <a:prstGeom prst="rect">
            <a:avLst/>
          </a:prstGeom>
        </p:spPr>
      </p:pic>
      <p:sp>
        <p:nvSpPr>
          <p:cNvPr id="11" name="Text 6"/>
          <p:cNvSpPr/>
          <p:nvPr/>
        </p:nvSpPr>
        <p:spPr>
          <a:xfrm>
            <a:off x="4617720" y="3493008"/>
            <a:ext cx="40233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Sebaran fitur numerik (output notebook)</a:t>
            </a:r>
            <a:endParaRPr lang="en-US" sz="1250" dirty="0"/>
          </a:p>
        </p:txBody>
      </p:sp>
      <p:sp>
        <p:nvSpPr>
          <p:cNvPr id="12" name="Text 7"/>
          <p:cNvSpPr/>
          <p:nvPr/>
        </p:nvSpPr>
        <p:spPr>
          <a:xfrm>
            <a:off x="4617720" y="3730752"/>
            <a:ext cx="4023360" cy="914400"/>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Boxplot menegaskan temuan dari statistik deskriptif: previous_cancellations, days_in_waiting_list, dan required_car_parking_spaces sangat terpusat di nol dengan sedikit nilai ekstrem. Pola seperti ini membuat fitur tersebut hanya membedakan minoritas booking — tetapi justru minoritas itulah yang paling relevan untuk prediksi pembatalan.</a:t>
            </a:r>
            <a:endParaRPr lang="en-US" sz="9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ANALISIS BIVARIAT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Non Refund justru paling sering dibatalkan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20</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Cancellation rate per kategori deposit. Garis putus-putus adalah rata-rata keseluruhan 23,8%.</a:t>
            </a:r>
            <a:endParaRPr lang="en-US" sz="1050" dirty="0"/>
          </a:p>
        </p:txBody>
      </p:sp>
      <p:pic>
        <p:nvPicPr>
          <p:cNvPr id="6" name="Image 0" descr="/home/claude/assets/biv_deposit.png"/>
          <p:cNvPicPr>
            <a:picLocks noChangeAspect="1"/>
          </p:cNvPicPr>
          <p:nvPr/>
        </p:nvPicPr>
        <p:blipFill>
          <a:blip r:embed="rId3"/>
          <a:stretch>
            <a:fillRect/>
          </a:stretch>
        </p:blipFill>
        <p:spPr>
          <a:xfrm>
            <a:off x="502920" y="1243584"/>
            <a:ext cx="5440680" cy="2139696"/>
          </a:xfrm>
          <a:prstGeom prst="rect">
            <a:avLst/>
          </a:prstGeom>
        </p:spPr>
      </p:pic>
      <p:sp>
        <p:nvSpPr>
          <p:cNvPr id="7" name="Shape 4"/>
          <p:cNvSpPr/>
          <p:nvPr/>
        </p:nvSpPr>
        <p:spPr>
          <a:xfrm>
            <a:off x="6080760" y="1243584"/>
            <a:ext cx="2560320" cy="2139696"/>
          </a:xfrm>
          <a:prstGeom prst="roundRect">
            <a:avLst>
              <a:gd name="adj" fmla="val 2564"/>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warn_orange.png"/>
          <p:cNvPicPr>
            <a:picLocks noChangeAspect="1"/>
          </p:cNvPicPr>
          <p:nvPr/>
        </p:nvPicPr>
        <p:blipFill>
          <a:blip r:embed="rId4"/>
          <a:stretch>
            <a:fillRect/>
          </a:stretch>
        </p:blipFill>
        <p:spPr>
          <a:xfrm>
            <a:off x="6263640" y="1408176"/>
            <a:ext cx="256032" cy="256032"/>
          </a:xfrm>
          <a:prstGeom prst="rect">
            <a:avLst/>
          </a:prstGeom>
        </p:spPr>
      </p:pic>
      <p:sp>
        <p:nvSpPr>
          <p:cNvPr id="9" name="Text 5"/>
          <p:cNvSpPr/>
          <p:nvPr/>
        </p:nvSpPr>
        <p:spPr>
          <a:xfrm>
            <a:off x="6263640" y="1737360"/>
            <a:ext cx="22860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Berlawanan dugaan</a:t>
            </a:r>
            <a:endParaRPr lang="en-US" sz="1250" dirty="0"/>
          </a:p>
        </p:txBody>
      </p:sp>
      <p:sp>
        <p:nvSpPr>
          <p:cNvPr id="10" name="Text 6"/>
          <p:cNvSpPr/>
          <p:nvPr/>
        </p:nvSpPr>
        <p:spPr>
          <a:xfrm>
            <a:off x="6245352" y="2029968"/>
            <a:ext cx="224028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89,2% booking Non Refund berakhir dibatalkan — hampir 4x rata-rata</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No Deposit justru paling aman: 22,5%</a:t>
            </a:r>
            <a:endParaRPr lang="en-US" sz="860" dirty="0"/>
          </a:p>
          <a:p>
            <a:pPr marL="342900" indent="-342900">
              <a:lnSpc>
                <a:spcPts val="1118"/>
              </a:lnSpc>
              <a:spcAft>
                <a:spcPts val="500"/>
              </a:spcAft>
              <a:buSzPct val="100000"/>
              <a:buChar char="•"/>
            </a:pPr>
            <a:r>
              <a:rPr lang="en-US" sz="860" dirty="0">
                <a:solidFill>
                  <a:srgbClr val="16202B"/>
                </a:solidFill>
                <a:latin typeface="Calibri" pitchFamily="34" charset="0"/>
                <a:ea typeface="Calibri" pitchFamily="34" charset="-122"/>
                <a:cs typeface="Calibri" pitchFamily="34" charset="-120"/>
              </a:rPr>
              <a:t>Deposit bukan pencegah pembatalan, melainkan penanda booking yang sudah berisiko</a:t>
            </a:r>
            <a:endParaRPr lang="en-US" sz="860" dirty="0"/>
          </a:p>
        </p:txBody>
      </p:sp>
      <p:sp>
        <p:nvSpPr>
          <p:cNvPr id="11" name="Shape 7"/>
          <p:cNvSpPr/>
          <p:nvPr/>
        </p:nvSpPr>
        <p:spPr>
          <a:xfrm>
            <a:off x="502920" y="3511296"/>
            <a:ext cx="8138160" cy="1115568"/>
          </a:xfrm>
          <a:prstGeom prst="roundRect">
            <a:avLst>
              <a:gd name="adj" fmla="val 4918"/>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search_navy.png"/>
          <p:cNvPicPr>
            <a:picLocks noChangeAspect="1"/>
          </p:cNvPicPr>
          <p:nvPr/>
        </p:nvPicPr>
        <p:blipFill>
          <a:blip r:embed="rId5"/>
          <a:stretch>
            <a:fillRect/>
          </a:stretch>
        </p:blipFill>
        <p:spPr>
          <a:xfrm>
            <a:off x="713232" y="3694176"/>
            <a:ext cx="274320" cy="274320"/>
          </a:xfrm>
          <a:prstGeom prst="rect">
            <a:avLst/>
          </a:prstGeom>
        </p:spPr>
      </p:pic>
      <p:sp>
        <p:nvSpPr>
          <p:cNvPr id="13" name="Text 8"/>
          <p:cNvSpPr/>
          <p:nvPr/>
        </p:nvSpPr>
        <p:spPr>
          <a:xfrm>
            <a:off x="1115568" y="3675888"/>
            <a:ext cx="4572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Kemungkinan penjelasannya</a:t>
            </a:r>
            <a:endParaRPr lang="en-US" sz="1250" dirty="0"/>
          </a:p>
        </p:txBody>
      </p:sp>
      <p:sp>
        <p:nvSpPr>
          <p:cNvPr id="14" name="Text 9"/>
          <p:cNvSpPr/>
          <p:nvPr/>
        </p:nvSpPr>
        <p:spPr>
          <a:xfrm>
            <a:off x="1115568" y="3931920"/>
            <a:ext cx="7360920" cy="640080"/>
          </a:xfrm>
          <a:prstGeom prst="rect">
            <a:avLst/>
          </a:prstGeom>
          <a:noFill/>
          <a:ln/>
        </p:spPr>
        <p:txBody>
          <a:bodyPr wrap="square" lIns="0" tIns="0" rIns="0" bIns="0" rtlCol="0" anchor="t"/>
          <a:lstStyle/>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Tarif Non Refund biasanya dijual lebih murah, sehingga menarik tamu yang memesan spekulatif dan rela kehilangan uangnya bila rencana berubah. Bisa juga hotel menerapkan syarat Non Refund pada segmen yang sudah diketahui berisiko. Yang perlu ditekankan: ini pola asosiasi dalam data, penyebab pastinya hanya bisa dipastikan lewat konfirmasi ke tim operasional hotel.</a:t>
            </a:r>
            <a:endParaRPr lang="en-US" sz="980" dirty="0"/>
          </a:p>
          <a:p>
            <a:pPr marL="0" indent="0">
              <a:lnSpc>
                <a:spcPts val="1303"/>
              </a:lnSpc>
              <a:buNone/>
            </a:pPr>
            <a:endParaRPr lang="en-US" sz="980" dirty="0"/>
          </a:p>
          <a:p>
            <a:pPr marL="0" indent="0">
              <a:lnSpc>
                <a:spcPts val="1303"/>
              </a:lnSpc>
              <a:buNone/>
            </a:pPr>
            <a:r>
              <a:rPr lang="en-US" sz="980" dirty="0">
                <a:solidFill>
                  <a:srgbClr val="16202B"/>
                </a:solidFill>
                <a:latin typeface="Calibri" pitchFamily="34" charset="0"/>
                <a:ea typeface="Calibri" pitchFamily="34" charset="-122"/>
                <a:cs typeface="Calibri" pitchFamily="34" charset="-120"/>
              </a:rPr>
              <a:t>Konsekuensi praktis: rekomendasi "perluas tarif Non Refund" tidak didukung data ini dan sebaiknya tidak diajukan.</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ANALISIS BIVARIAT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Online TA dan tamu Transient paling berisiko</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21</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Cancellation rate per kanal pemesanan dan tipe tamu. Garis putus-putus adalah rata-rata 23,8%.</a:t>
            </a:r>
            <a:endParaRPr lang="en-US" sz="1050" dirty="0"/>
          </a:p>
        </p:txBody>
      </p:sp>
      <p:pic>
        <p:nvPicPr>
          <p:cNvPr id="6" name="Image 0" descr="/home/claude/assets/biv_segment.png"/>
          <p:cNvPicPr>
            <a:picLocks noChangeAspect="1"/>
          </p:cNvPicPr>
          <p:nvPr/>
        </p:nvPicPr>
        <p:blipFill>
          <a:blip r:embed="rId3"/>
          <a:stretch>
            <a:fillRect/>
          </a:stretch>
        </p:blipFill>
        <p:spPr>
          <a:xfrm>
            <a:off x="502920" y="1243584"/>
            <a:ext cx="8138160" cy="2468880"/>
          </a:xfrm>
          <a:prstGeom prst="rect">
            <a:avLst/>
          </a:prstGeom>
        </p:spPr>
      </p:pic>
      <p:sp>
        <p:nvSpPr>
          <p:cNvPr id="7" name="Shape 4"/>
          <p:cNvSpPr/>
          <p:nvPr/>
        </p:nvSpPr>
        <p:spPr>
          <a:xfrm>
            <a:off x="502920" y="3803904"/>
            <a:ext cx="3977640" cy="841248"/>
          </a:xfrm>
          <a:prstGeom prst="roundRect">
            <a:avLst>
              <a:gd name="adj" fmla="val 65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earch_orange.png"/>
          <p:cNvPicPr>
            <a:picLocks noChangeAspect="1"/>
          </p:cNvPicPr>
          <p:nvPr/>
        </p:nvPicPr>
        <p:blipFill>
          <a:blip r:embed="rId4"/>
          <a:stretch>
            <a:fillRect/>
          </a:stretch>
        </p:blipFill>
        <p:spPr>
          <a:xfrm>
            <a:off x="694944" y="3968496"/>
            <a:ext cx="237744" cy="237744"/>
          </a:xfrm>
          <a:prstGeom prst="rect">
            <a:avLst/>
          </a:prstGeom>
        </p:spPr>
      </p:pic>
      <p:sp>
        <p:nvSpPr>
          <p:cNvPr id="9" name="Text 5"/>
          <p:cNvSpPr/>
          <p:nvPr/>
        </p:nvSpPr>
        <p:spPr>
          <a:xfrm>
            <a:off x="1024128" y="3931920"/>
            <a:ext cx="3337560" cy="566928"/>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Online TA: 31,2% dari 4.924 booking. Kanal terbesar sekaligus paling berisiko — inilah gabungan volume dan risiko yang paling layak diintervensi.</a:t>
            </a:r>
            <a:endParaRPr lang="en-US" sz="950" dirty="0"/>
          </a:p>
        </p:txBody>
      </p:sp>
      <p:sp>
        <p:nvSpPr>
          <p:cNvPr id="10" name="Shape 6"/>
          <p:cNvSpPr/>
          <p:nvPr/>
        </p:nvSpPr>
        <p:spPr>
          <a:xfrm>
            <a:off x="4663440" y="3803904"/>
            <a:ext cx="3977640" cy="841248"/>
          </a:xfrm>
          <a:prstGeom prst="roundRect">
            <a:avLst>
              <a:gd name="adj" fmla="val 6522"/>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2" descr="/home/claude/assets/ic_search_orange.png"/>
          <p:cNvPicPr>
            <a:picLocks noChangeAspect="1"/>
          </p:cNvPicPr>
          <p:nvPr/>
        </p:nvPicPr>
        <p:blipFill>
          <a:blip r:embed="rId4"/>
          <a:stretch>
            <a:fillRect/>
          </a:stretch>
        </p:blipFill>
        <p:spPr>
          <a:xfrm>
            <a:off x="4855464" y="3968496"/>
            <a:ext cx="237744" cy="237744"/>
          </a:xfrm>
          <a:prstGeom prst="rect">
            <a:avLst/>
          </a:prstGeom>
        </p:spPr>
      </p:pic>
      <p:sp>
        <p:nvSpPr>
          <p:cNvPr id="12" name="Text 7"/>
          <p:cNvSpPr/>
          <p:nvPr/>
        </p:nvSpPr>
        <p:spPr>
          <a:xfrm>
            <a:off x="5184648" y="3931920"/>
            <a:ext cx="3337560" cy="566928"/>
          </a:xfrm>
          <a:prstGeom prst="rect">
            <a:avLst/>
          </a:prstGeom>
          <a:noFill/>
          <a:ln/>
        </p:spPr>
        <p:txBody>
          <a:bodyPr wrap="square" lIns="0" tIns="0" rIns="0" bIns="0" rtlCol="0" anchor="t"/>
          <a:lstStyle/>
          <a:p>
            <a:pPr marL="0" indent="0">
              <a:lnSpc>
                <a:spcPts val="1264"/>
              </a:lnSpc>
              <a:buNone/>
            </a:pPr>
            <a:r>
              <a:rPr lang="en-US" sz="950" dirty="0">
                <a:solidFill>
                  <a:srgbClr val="16202B"/>
                </a:solidFill>
                <a:latin typeface="Calibri" pitchFamily="34" charset="0"/>
                <a:ea typeface="Calibri" pitchFamily="34" charset="-122"/>
                <a:cs typeface="Calibri" pitchFamily="34" charset="-120"/>
              </a:rPr>
              <a:t>Transient: 29,0% dari 6.825 booking, lebih dari dua kali lipat Transient-Party (13,4%). Tamu individual jauh lebih mudah berubah rencana.</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03</a:t>
            </a:r>
            <a:endParaRPr lang="en-US" sz="5800" dirty="0"/>
          </a:p>
        </p:txBody>
      </p:sp>
      <p:pic>
        <p:nvPicPr>
          <p:cNvPr id="5" name="Image 0" descr="/home/claude/assets/ic_brain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Preprocessing &amp; Modeling</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Pipeline, benchmark algoritma, dan evaluasi</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PERSIAPAN DATA</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Feature Selection, Engineering, dan Pipeline</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502920"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1216152" y="1316736"/>
            <a:ext cx="502920" cy="502920"/>
          </a:xfrm>
          <a:prstGeom prst="roundRect">
            <a:avLst>
              <a:gd name="adj" fmla="val 18182"/>
            </a:avLst>
          </a:prstGeom>
          <a:solidFill>
            <a:srgbClr val="123A5E"/>
          </a:solidFill>
          <a:ln/>
        </p:spPr>
        <p:txBody>
          <a:bodyPr/>
          <a:lstStyle/>
          <a:p>
            <a:endParaRPr lang="en-ID"/>
          </a:p>
        </p:txBody>
      </p:sp>
      <p:pic>
        <p:nvPicPr>
          <p:cNvPr id="7" name="Image 0" descr="/home/claude/assets/ic_gear_white.png"/>
          <p:cNvPicPr>
            <a:picLocks noChangeAspect="1"/>
          </p:cNvPicPr>
          <p:nvPr/>
        </p:nvPicPr>
        <p:blipFill>
          <a:blip r:embed="rId3"/>
          <a:stretch>
            <a:fillRect/>
          </a:stretch>
        </p:blipFill>
        <p:spPr>
          <a:xfrm>
            <a:off x="1344168" y="1444752"/>
            <a:ext cx="256032" cy="256032"/>
          </a:xfrm>
          <a:prstGeom prst="rect">
            <a:avLst/>
          </a:prstGeom>
        </p:spPr>
      </p:pic>
      <p:sp>
        <p:nvSpPr>
          <p:cNvPr id="8" name="Text 5"/>
          <p:cNvSpPr/>
          <p:nvPr/>
        </p:nvSpPr>
        <p:spPr>
          <a:xfrm>
            <a:off x="612648"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Fitur Baru</a:t>
            </a:r>
            <a:endParaRPr lang="en-US" sz="1150" dirty="0"/>
          </a:p>
        </p:txBody>
      </p:sp>
      <p:sp>
        <p:nvSpPr>
          <p:cNvPr id="9" name="Text 6"/>
          <p:cNvSpPr/>
          <p:nvPr/>
        </p:nvSpPr>
        <p:spPr>
          <a:xfrm>
            <a:off x="630936"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has_previous_cancellations, is_domestic (country == PRT), dan has_high_booking_changes — tiga fitur turunan dari kolom asli.</a:t>
            </a:r>
            <a:endParaRPr lang="en-US" sz="880" dirty="0"/>
          </a:p>
        </p:txBody>
      </p:sp>
      <p:sp>
        <p:nvSpPr>
          <p:cNvPr id="10" name="Text 7"/>
          <p:cNvSpPr/>
          <p:nvPr/>
        </p:nvSpPr>
        <p:spPr>
          <a:xfrm>
            <a:off x="2441448"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2569464"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3282696" y="1316736"/>
            <a:ext cx="502920" cy="502920"/>
          </a:xfrm>
          <a:prstGeom prst="roundRect">
            <a:avLst>
              <a:gd name="adj" fmla="val 18182"/>
            </a:avLst>
          </a:prstGeom>
          <a:solidFill>
            <a:srgbClr val="123A5E"/>
          </a:solidFill>
          <a:ln/>
        </p:spPr>
        <p:txBody>
          <a:bodyPr/>
          <a:lstStyle/>
          <a:p>
            <a:endParaRPr lang="en-ID"/>
          </a:p>
        </p:txBody>
      </p:sp>
      <p:pic>
        <p:nvPicPr>
          <p:cNvPr id="13" name="Image 1" descr="/home/claude/assets/ic_data_white.png"/>
          <p:cNvPicPr>
            <a:picLocks noChangeAspect="1"/>
          </p:cNvPicPr>
          <p:nvPr/>
        </p:nvPicPr>
        <p:blipFill>
          <a:blip r:embed="rId4"/>
          <a:stretch>
            <a:fillRect/>
          </a:stretch>
        </p:blipFill>
        <p:spPr>
          <a:xfrm>
            <a:off x="3410712" y="1444752"/>
            <a:ext cx="256032" cy="256032"/>
          </a:xfrm>
          <a:prstGeom prst="rect">
            <a:avLst/>
          </a:prstGeom>
        </p:spPr>
      </p:pic>
      <p:sp>
        <p:nvSpPr>
          <p:cNvPr id="14" name="Text 10"/>
          <p:cNvSpPr/>
          <p:nvPr/>
        </p:nvSpPr>
        <p:spPr>
          <a:xfrm>
            <a:off x="2679192" y="1938528"/>
            <a:ext cx="1700784" cy="384048"/>
          </a:xfrm>
          <a:prstGeom prst="rect">
            <a:avLst/>
          </a:prstGeom>
          <a:noFill/>
          <a:ln/>
        </p:spPr>
        <p:txBody>
          <a:bodyPr wrap="square" lIns="0" tIns="0" rIns="0" bIns="0" rtlCol="0" anchor="ctr"/>
          <a:lstStyle/>
          <a:p>
            <a:pPr marL="0" indent="0" algn="ctr">
              <a:lnSpc>
                <a:spcPts val="1400"/>
              </a:lnSpc>
              <a:buNone/>
            </a:pPr>
            <a:r>
              <a:rPr lang="en-US" sz="1150" b="1" dirty="0">
                <a:solidFill>
                  <a:srgbClr val="123A5E"/>
                </a:solidFill>
                <a:latin typeface="Calibri" pitchFamily="34" charset="0"/>
                <a:ea typeface="Calibri" pitchFamily="34" charset="-122"/>
                <a:cs typeface="Calibri" pitchFamily="34" charset="-120"/>
              </a:rPr>
              <a:t>Numerik — 6 fitur</a:t>
            </a:r>
            <a:endParaRPr lang="en-US" sz="1150" dirty="0"/>
          </a:p>
        </p:txBody>
      </p:sp>
      <p:sp>
        <p:nvSpPr>
          <p:cNvPr id="15" name="Text 11"/>
          <p:cNvSpPr/>
          <p:nvPr/>
        </p:nvSpPr>
        <p:spPr>
          <a:xfrm>
            <a:off x="2697480" y="2359152"/>
            <a:ext cx="1664208" cy="914400"/>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SimpleImputer(median) lalu StandardScaler, termasuk is_domestic yang kini berupa 0/1.</a:t>
            </a:r>
            <a:endParaRPr lang="en-US" sz="880" dirty="0"/>
          </a:p>
        </p:txBody>
      </p:sp>
      <p:sp>
        <p:nvSpPr>
          <p:cNvPr id="16" name="Text 12"/>
          <p:cNvSpPr/>
          <p:nvPr/>
        </p:nvSpPr>
        <p:spPr>
          <a:xfrm>
            <a:off x="4507992"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17" name="Shape 13"/>
          <p:cNvSpPr/>
          <p:nvPr/>
        </p:nvSpPr>
        <p:spPr>
          <a:xfrm>
            <a:off x="4636008"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5349240" y="1316736"/>
            <a:ext cx="502920" cy="502920"/>
          </a:xfrm>
          <a:prstGeom prst="roundRect">
            <a:avLst>
              <a:gd name="adj" fmla="val 18182"/>
            </a:avLst>
          </a:prstGeom>
          <a:solidFill>
            <a:srgbClr val="123A5E"/>
          </a:solidFill>
          <a:ln/>
        </p:spPr>
        <p:txBody>
          <a:bodyPr/>
          <a:lstStyle/>
          <a:p>
            <a:endParaRPr lang="en-ID"/>
          </a:p>
        </p:txBody>
      </p:sp>
      <p:pic>
        <p:nvPicPr>
          <p:cNvPr id="19" name="Image 2" descr="/home/claude/assets/ic_warn_white.png"/>
          <p:cNvPicPr>
            <a:picLocks noChangeAspect="1"/>
          </p:cNvPicPr>
          <p:nvPr/>
        </p:nvPicPr>
        <p:blipFill>
          <a:blip r:embed="rId5"/>
          <a:stretch>
            <a:fillRect/>
          </a:stretch>
        </p:blipFill>
        <p:spPr>
          <a:xfrm>
            <a:off x="5477256" y="1444752"/>
            <a:ext cx="256032" cy="256032"/>
          </a:xfrm>
          <a:prstGeom prst="rect">
            <a:avLst/>
          </a:prstGeom>
        </p:spPr>
      </p:pic>
      <p:sp>
        <p:nvSpPr>
          <p:cNvPr id="20" name="Text 15"/>
          <p:cNvSpPr/>
          <p:nvPr/>
        </p:nvSpPr>
        <p:spPr>
          <a:xfrm>
            <a:off x="4745736" y="1938528"/>
            <a:ext cx="1700784" cy="384048"/>
          </a:xfrm>
          <a:prstGeom prst="rect">
            <a:avLst/>
          </a:prstGeom>
          <a:noFill/>
          <a:ln/>
        </p:spPr>
        <p:txBody>
          <a:bodyPr wrap="square" lIns="0" tIns="0" rIns="0" bIns="0" rtlCol="0" anchor="ctr"/>
          <a:lstStyle/>
          <a:p>
            <a:pPr marL="0" indent="0" algn="ctr">
              <a:lnSpc>
                <a:spcPts val="1400"/>
              </a:lnSpc>
              <a:buNone/>
            </a:pPr>
            <a:r>
              <a:rPr lang="en-US" sz="1150" b="1">
                <a:solidFill>
                  <a:srgbClr val="123A5E"/>
                </a:solidFill>
                <a:latin typeface="Calibri" pitchFamily="34" charset="0"/>
                <a:ea typeface="Calibri" pitchFamily="34" charset="-122"/>
                <a:cs typeface="Calibri" pitchFamily="34" charset="-120"/>
              </a:rPr>
              <a:t>4 kolom asli tidak dipakai langsung</a:t>
            </a:r>
            <a:endParaRPr lang="en-US" sz="1150" dirty="0"/>
          </a:p>
        </p:txBody>
      </p:sp>
      <p:sp>
        <p:nvSpPr>
          <p:cNvPr id="21" name="Text 16"/>
          <p:cNvSpPr/>
          <p:nvPr/>
        </p:nvSpPr>
        <p:spPr>
          <a:xfrm>
            <a:off x="4764024" y="2359152"/>
            <a:ext cx="1664208" cy="914400"/>
          </a:xfrm>
          <a:prstGeom prst="rect">
            <a:avLst/>
          </a:prstGeom>
          <a:noFill/>
          <a:ln/>
        </p:spPr>
        <p:txBody>
          <a:bodyPr wrap="square" lIns="0" tIns="0" rIns="0" bIns="0" rtlCol="0" anchor="t"/>
          <a:lstStyle/>
          <a:p>
            <a:pPr marL="0" indent="0">
              <a:lnSpc>
                <a:spcPts val="1170"/>
              </a:lnSpc>
              <a:buNone/>
            </a:pPr>
            <a:r>
              <a:rPr lang="en-US" sz="880">
                <a:solidFill>
                  <a:srgbClr val="6B7885"/>
                </a:solidFill>
                <a:latin typeface="Calibri" pitchFamily="34" charset="0"/>
                <a:ea typeface="Calibri" pitchFamily="34" charset="-122"/>
                <a:cs typeface="Calibri" pitchFamily="34" charset="-120"/>
              </a:rPr>
              <a:t>previous_cancellations dan country diubah menjadi fitur biner; days_in_waiting_list dan reserved_room_type dihapus. Kolom reserved_room_type_grouped tetap diproses.</a:t>
            </a:r>
            <a:endParaRPr lang="en-US" sz="880" dirty="0"/>
          </a:p>
        </p:txBody>
      </p:sp>
      <p:sp>
        <p:nvSpPr>
          <p:cNvPr id="22" name="Text 17"/>
          <p:cNvSpPr/>
          <p:nvPr/>
        </p:nvSpPr>
        <p:spPr>
          <a:xfrm>
            <a:off x="6574536" y="2084832"/>
            <a:ext cx="146304" cy="182880"/>
          </a:xfrm>
          <a:prstGeom prst="rect">
            <a:avLst/>
          </a:prstGeom>
          <a:noFill/>
          <a:ln/>
        </p:spPr>
        <p:txBody>
          <a:bodyPr wrap="square" lIns="0" tIns="0" rIns="0" bIns="0" rtlCol="0" anchor="ctr"/>
          <a:lstStyle/>
          <a:p>
            <a:pPr marL="0" indent="0">
              <a:buNone/>
            </a:pPr>
            <a:r>
              <a:rPr lang="en-US" sz="1100" dirty="0">
                <a:solidFill>
                  <a:srgbClr val="E2703A"/>
                </a:solidFill>
                <a:latin typeface="Calibri" pitchFamily="34" charset="0"/>
                <a:ea typeface="Calibri" pitchFamily="34" charset="-122"/>
                <a:cs typeface="Calibri" pitchFamily="34" charset="-120"/>
              </a:rPr>
              <a:t>▶</a:t>
            </a:r>
            <a:endParaRPr lang="en-US" sz="1100" dirty="0"/>
          </a:p>
        </p:txBody>
      </p:sp>
      <p:sp>
        <p:nvSpPr>
          <p:cNvPr id="23" name="Shape 18"/>
          <p:cNvSpPr/>
          <p:nvPr/>
        </p:nvSpPr>
        <p:spPr>
          <a:xfrm>
            <a:off x="6702552" y="1152144"/>
            <a:ext cx="1920240" cy="2176272"/>
          </a:xfrm>
          <a:prstGeom prst="roundRect">
            <a:avLst>
              <a:gd name="adj" fmla="val 2857"/>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7415784" y="1316736"/>
            <a:ext cx="502920" cy="502920"/>
          </a:xfrm>
          <a:prstGeom prst="roundRect">
            <a:avLst>
              <a:gd name="adj" fmla="val 18182"/>
            </a:avLst>
          </a:prstGeom>
          <a:solidFill>
            <a:srgbClr val="123A5E"/>
          </a:solidFill>
          <a:ln/>
        </p:spPr>
        <p:txBody>
          <a:bodyPr/>
          <a:lstStyle/>
          <a:p>
            <a:endParaRPr lang="en-ID"/>
          </a:p>
        </p:txBody>
      </p:sp>
      <p:pic>
        <p:nvPicPr>
          <p:cNvPr id="25" name="Image 3" descr="/home/claude/assets/ic_list_white.png"/>
          <p:cNvPicPr>
            <a:picLocks noChangeAspect="1"/>
          </p:cNvPicPr>
          <p:nvPr/>
        </p:nvPicPr>
        <p:blipFill>
          <a:blip r:embed="rId6"/>
          <a:stretch>
            <a:fillRect/>
          </a:stretch>
        </p:blipFill>
        <p:spPr>
          <a:xfrm>
            <a:off x="7543800" y="1444752"/>
            <a:ext cx="256032" cy="256032"/>
          </a:xfrm>
          <a:prstGeom prst="rect">
            <a:avLst/>
          </a:prstGeom>
        </p:spPr>
      </p:pic>
      <p:sp>
        <p:nvSpPr>
          <p:cNvPr id="26" name="Text 20"/>
          <p:cNvSpPr/>
          <p:nvPr/>
        </p:nvSpPr>
        <p:spPr>
          <a:xfrm>
            <a:off x="6812280" y="1938528"/>
            <a:ext cx="1700784" cy="384048"/>
          </a:xfrm>
          <a:prstGeom prst="rect">
            <a:avLst/>
          </a:prstGeom>
          <a:noFill/>
          <a:ln/>
        </p:spPr>
        <p:txBody>
          <a:bodyPr wrap="square" lIns="0" tIns="0" rIns="0" bIns="0" rtlCol="0" anchor="ctr"/>
          <a:lstStyle/>
          <a:p>
            <a:pPr marL="0" indent="0" algn="ctr">
              <a:lnSpc>
                <a:spcPts val="1400"/>
              </a:lnSpc>
              <a:buNone/>
            </a:pPr>
            <a:r>
              <a:rPr lang="en-US" sz="1150" b="1">
                <a:solidFill>
                  <a:srgbClr val="123A5E"/>
                </a:solidFill>
                <a:latin typeface="Calibri" pitchFamily="34" charset="0"/>
                <a:ea typeface="Calibri" pitchFamily="34" charset="-122"/>
                <a:cs typeface="Calibri" pitchFamily="34" charset="-120"/>
              </a:rPr>
              <a:t>Kategorik â€” 4 fitur</a:t>
            </a:r>
            <a:endParaRPr lang="en-US" sz="1150" dirty="0"/>
          </a:p>
        </p:txBody>
      </p:sp>
      <p:sp>
        <p:nvSpPr>
          <p:cNvPr id="27" name="Text 21"/>
          <p:cNvSpPr/>
          <p:nvPr/>
        </p:nvSpPr>
        <p:spPr>
          <a:xfrm>
            <a:off x="6830568" y="2359152"/>
            <a:ext cx="1664208" cy="914400"/>
          </a:xfrm>
          <a:prstGeom prst="rect">
            <a:avLst/>
          </a:prstGeom>
          <a:noFill/>
          <a:ln/>
        </p:spPr>
        <p:txBody>
          <a:bodyPr wrap="square" lIns="0" tIns="0" rIns="0" bIns="0" rtlCol="0" anchor="t"/>
          <a:lstStyle/>
          <a:p>
            <a:pPr marL="0" indent="0">
              <a:lnSpc>
                <a:spcPts val="1170"/>
              </a:lnSpc>
              <a:buNone/>
            </a:pPr>
            <a:r>
              <a:rPr lang="en-US" sz="880">
                <a:solidFill>
                  <a:srgbClr val="6B7885"/>
                </a:solidFill>
                <a:latin typeface="Calibri" pitchFamily="34" charset="0"/>
                <a:ea typeface="Calibri" pitchFamily="34" charset="-122"/>
                <a:cs typeface="Calibri" pitchFamily="34" charset="-120"/>
              </a:rPr>
              <a:t>market_segment, deposit_type, customer_type, dan reserved_room_type_grouped diproses dengan OneHotEncoder.</a:t>
            </a:r>
            <a:endParaRPr lang="en-US" sz="880" dirty="0"/>
          </a:p>
        </p:txBody>
      </p:sp>
      <p:sp>
        <p:nvSpPr>
          <p:cNvPr id="28" name="Shape 22"/>
          <p:cNvSpPr/>
          <p:nvPr/>
        </p:nvSpPr>
        <p:spPr>
          <a:xfrm>
            <a:off x="502920" y="3474720"/>
            <a:ext cx="8138160" cy="932688"/>
          </a:xfrm>
          <a:prstGeom prst="roundRect">
            <a:avLst>
              <a:gd name="adj" fmla="val 5882"/>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9" name="Image 4" descr="/home/claude/assets/ic_check_navy.png"/>
          <p:cNvPicPr>
            <a:picLocks noChangeAspect="1"/>
          </p:cNvPicPr>
          <p:nvPr/>
        </p:nvPicPr>
        <p:blipFill>
          <a:blip r:embed="rId7"/>
          <a:stretch>
            <a:fillRect/>
          </a:stretch>
        </p:blipFill>
        <p:spPr>
          <a:xfrm>
            <a:off x="713232" y="3657600"/>
            <a:ext cx="256032" cy="256032"/>
          </a:xfrm>
          <a:prstGeom prst="rect">
            <a:avLst/>
          </a:prstGeom>
        </p:spPr>
      </p:pic>
      <p:sp>
        <p:nvSpPr>
          <p:cNvPr id="30" name="Text 23"/>
          <p:cNvSpPr/>
          <p:nvPr/>
        </p:nvSpPr>
        <p:spPr>
          <a:xfrm>
            <a:off x="1097280" y="3639312"/>
            <a:ext cx="2286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Train–Test Split</a:t>
            </a:r>
            <a:endParaRPr lang="en-US" sz="1250" dirty="0"/>
          </a:p>
        </p:txBody>
      </p:sp>
      <p:sp>
        <p:nvSpPr>
          <p:cNvPr id="31" name="Text 24"/>
          <p:cNvSpPr/>
          <p:nvPr/>
        </p:nvSpPr>
        <p:spPr>
          <a:xfrm>
            <a:off x="1097280" y="3895344"/>
            <a:ext cx="7360920" cy="502920"/>
          </a:xfrm>
          <a:prstGeom prst="rect">
            <a:avLst/>
          </a:prstGeom>
          <a:noFill/>
          <a:ln/>
        </p:spPr>
        <p:txBody>
          <a:bodyPr wrap="square" lIns="0" tIns="0" rIns="0" bIns="0" rtlCol="0" anchor="t"/>
          <a:lstStyle/>
          <a:p>
            <a:pPr marL="0" indent="0">
              <a:lnSpc>
                <a:spcPts val="1277"/>
              </a:lnSpc>
              <a:buNone/>
            </a:pPr>
            <a:r>
              <a:rPr lang="en-US" sz="960">
                <a:solidFill>
                  <a:srgbClr val="16202B"/>
                </a:solidFill>
                <a:latin typeface="Calibri" pitchFamily="34" charset="0"/>
                <a:ea typeface="Calibri" pitchFamily="34" charset="-122"/>
                <a:cs typeface="Calibri" pitchFamily="34" charset="-120"/>
              </a:rPr>
              <a:t>Split 80:20 dengan stratify=y dan random_state=42 menghasilkan 8.077 baris latih dan 2.020 baris uji. Output preprocessing notebook berjumlah 22 kolom. Pipeline di-fit ulang pada tiap fold cross-validation.</a:t>
            </a:r>
            <a:endParaRPr lang="en-US" sz="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Benchmark 7 algoritma dengan Stratified 5-Fold CV</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24</a:t>
            </a:r>
            <a:endParaRPr lang="en-US" sz="900" dirty="0"/>
          </a:p>
        </p:txBody>
      </p:sp>
      <p:sp>
        <p:nvSpPr>
          <p:cNvPr id="5" name="Text 3"/>
          <p:cNvSpPr/>
          <p:nvPr/>
        </p:nvSpPr>
        <p:spPr>
          <a:xfrm>
            <a:off x="502920" y="950976"/>
            <a:ext cx="8138160" cy="274320"/>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Setiap model dilatih 5 kali pada pembagian data berbeda; skor adalah rata-rata kelima fold.</a:t>
            </a:r>
            <a:endParaRPr lang="en-US" sz="1050" dirty="0"/>
          </a:p>
        </p:txBody>
      </p:sp>
      <p:sp>
        <p:nvSpPr>
          <p:cNvPr id="7" name="Shape 4"/>
          <p:cNvSpPr/>
          <p:nvPr/>
        </p:nvSpPr>
        <p:spPr>
          <a:xfrm>
            <a:off x="6035040" y="1261872"/>
            <a:ext cx="2606040" cy="2212848"/>
          </a:xfrm>
          <a:prstGeom prst="roundRect">
            <a:avLst>
              <a:gd name="adj" fmla="val 2479"/>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gear_navy.png"/>
          <p:cNvPicPr>
            <a:picLocks noChangeAspect="1"/>
          </p:cNvPicPr>
          <p:nvPr/>
        </p:nvPicPr>
        <p:blipFill>
          <a:blip r:embed="rId3"/>
          <a:stretch>
            <a:fillRect/>
          </a:stretch>
        </p:blipFill>
        <p:spPr>
          <a:xfrm>
            <a:off x="6217920" y="1426464"/>
            <a:ext cx="256032" cy="256032"/>
          </a:xfrm>
          <a:prstGeom prst="rect">
            <a:avLst/>
          </a:prstGeom>
        </p:spPr>
      </p:pic>
      <p:sp>
        <p:nvSpPr>
          <p:cNvPr id="9" name="Text 5"/>
          <p:cNvSpPr/>
          <p:nvPr/>
        </p:nvSpPr>
        <p:spPr>
          <a:xfrm>
            <a:off x="6217920" y="1755648"/>
            <a:ext cx="2286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Aturan pemilihan</a:t>
            </a:r>
            <a:endParaRPr lang="en-US" sz="1250" dirty="0"/>
          </a:p>
        </p:txBody>
      </p:sp>
      <p:sp>
        <p:nvSpPr>
          <p:cNvPr id="10" name="Text 6"/>
          <p:cNvSpPr/>
          <p:nvPr/>
        </p:nvSpPr>
        <p:spPr>
          <a:xfrm>
            <a:off x="6199632" y="2029968"/>
            <a:ext cx="2240280" cy="1348923"/>
          </a:xfrm>
          <a:prstGeom prst="rect">
            <a:avLst/>
          </a:prstGeom>
          <a:noFill/>
          <a:ln/>
        </p:spPr>
        <p:txBody>
          <a:bodyPr wrap="square" lIns="0" tIns="0" rIns="0" bIns="0" rtlCol="0" anchor="t"/>
          <a:lstStyle/>
          <a:p>
            <a:pPr marL="342900" indent="-342900">
              <a:lnSpc>
                <a:spcPts val="1092"/>
              </a:lnSpc>
              <a:spcAft>
                <a:spcPts val="500"/>
              </a:spcAft>
              <a:buSzPct val="100000"/>
              <a:buChar char="•"/>
            </a:pPr>
            <a:r>
              <a:rPr lang="en-US" sz="840">
                <a:solidFill>
                  <a:srgbClr val="16202B"/>
                </a:solidFill>
                <a:latin typeface="Calibri" pitchFamily="34" charset="0"/>
                <a:ea typeface="Calibri" pitchFamily="34" charset="-122"/>
                <a:cs typeface="Calibri" pitchFamily="34" charset="-120"/>
              </a:rPr>
              <a:t>Avg Precision minimal 0,40</a:t>
            </a:r>
          </a:p>
          <a:p>
            <a:pPr marL="342900" indent="-342900">
              <a:lnSpc>
                <a:spcPts val="1092"/>
              </a:lnSpc>
              <a:spcAft>
                <a:spcPts val="500"/>
              </a:spcAft>
              <a:buSzPct val="100000"/>
              <a:buChar char="•"/>
            </a:pPr>
            <a:r>
              <a:rPr lang="en-US" sz="840">
                <a:solidFill>
                  <a:srgbClr val="16202B"/>
                </a:solidFill>
                <a:latin typeface="Calibri" pitchFamily="34" charset="0"/>
                <a:ea typeface="Calibri" pitchFamily="34" charset="-122"/>
                <a:cs typeface="Calibri" pitchFamily="34" charset="-120"/>
              </a:rPr>
              <a:t>Pilih Avg Recall tertinggi</a:t>
            </a:r>
          </a:p>
          <a:p>
            <a:pPr marL="342900" indent="-342900">
              <a:lnSpc>
                <a:spcPts val="1092"/>
              </a:lnSpc>
              <a:spcAft>
                <a:spcPts val="500"/>
              </a:spcAft>
              <a:buSzPct val="100000"/>
              <a:buChar char="•"/>
            </a:pPr>
            <a:r>
              <a:rPr lang="en-US" sz="840">
                <a:solidFill>
                  <a:srgbClr val="16202B"/>
                </a:solidFill>
                <a:latin typeface="Calibri" pitchFamily="34" charset="0"/>
                <a:ea typeface="Calibri" pitchFamily="34" charset="-122"/>
                <a:cs typeface="Calibri" pitchFamily="34" charset="-120"/>
              </a:rPr>
              <a:t>Hasil: Logistic Regression (Recall 0,822; Precision 0,453)</a:t>
            </a:r>
          </a:p>
          <a:p>
            <a:pPr marL="342900" indent="-342900">
              <a:lnSpc>
                <a:spcPts val="1092"/>
              </a:lnSpc>
              <a:spcAft>
                <a:spcPts val="500"/>
              </a:spcAft>
              <a:buSzPct val="100000"/>
              <a:buChar char="•"/>
            </a:pPr>
            <a:r>
              <a:rPr lang="en-US" sz="840">
                <a:solidFill>
                  <a:srgbClr val="16202B"/>
                </a:solidFill>
                <a:latin typeface="Calibri" pitchFamily="34" charset="0"/>
                <a:ea typeface="Calibri" pitchFamily="34" charset="-122"/>
                <a:cs typeface="Calibri" pitchFamily="34" charset="-120"/>
              </a:rPr>
              <a:t>Aturan dijalankan pada hasil cross-validation</a:t>
            </a:r>
            <a:endParaRPr lang="en-US" sz="840" dirty="0"/>
          </a:p>
        </p:txBody>
      </p:sp>
      <p:sp>
        <p:nvSpPr>
          <p:cNvPr id="11" name="Shape 7"/>
          <p:cNvSpPr/>
          <p:nvPr/>
        </p:nvSpPr>
        <p:spPr>
          <a:xfrm>
            <a:off x="502920" y="3621024"/>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4"/>
          <a:stretch>
            <a:fillRect/>
          </a:stretch>
        </p:blipFill>
        <p:spPr>
          <a:xfrm>
            <a:off x="713232" y="3803904"/>
            <a:ext cx="256032" cy="256032"/>
          </a:xfrm>
          <a:prstGeom prst="rect">
            <a:avLst/>
          </a:prstGeom>
        </p:spPr>
      </p:pic>
      <p:sp>
        <p:nvSpPr>
          <p:cNvPr id="13" name="Text 8"/>
          <p:cNvSpPr/>
          <p:nvPr/>
        </p:nvSpPr>
        <p:spPr>
          <a:xfrm>
            <a:off x="1097280" y="3785616"/>
            <a:ext cx="4572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Mengapa syarat Precision perlu ada</a:t>
            </a:r>
            <a:endParaRPr lang="en-US" sz="1250" dirty="0"/>
          </a:p>
        </p:txBody>
      </p:sp>
      <p:sp>
        <p:nvSpPr>
          <p:cNvPr id="14" name="Text 9"/>
          <p:cNvSpPr/>
          <p:nvPr/>
        </p:nvSpPr>
        <p:spPr>
          <a:xfrm>
            <a:off x="1097280" y="4041648"/>
            <a:ext cx="7360920" cy="530352"/>
          </a:xfrm>
          <a:prstGeom prst="rect">
            <a:avLst/>
          </a:prstGeom>
          <a:noFill/>
          <a:ln/>
        </p:spPr>
        <p:txBody>
          <a:bodyPr wrap="square" lIns="0" tIns="0" rIns="0" bIns="0" rtlCol="0" anchor="t"/>
          <a:lstStyle/>
          <a:p>
            <a:pPr marL="0" indent="0">
              <a:lnSpc>
                <a:spcPts val="1303"/>
              </a:lnSpc>
              <a:buNone/>
            </a:pPr>
            <a:r>
              <a:rPr lang="en-US" sz="980">
                <a:solidFill>
                  <a:srgbClr val="16202B"/>
                </a:solidFill>
                <a:latin typeface="Calibri" pitchFamily="34" charset="0"/>
                <a:ea typeface="Calibri" pitchFamily="34" charset="-122"/>
                <a:cs typeface="Calibri" pitchFamily="34" charset="-120"/>
              </a:rPr>
              <a:t>Logistic Regression memiliki Avg Recall tertinggi, yaitu 0,822, di antara kandidat yang lolos. XGBoost berada di posisi kedua dengan Avg Recall 0,803 dan Avg Precision 0,440.</a:t>
            </a:r>
            <a:endParaRPr lang="en-US" sz="980" dirty="0"/>
          </a:p>
        </p:txBody>
      </p:sp>
      <p:graphicFrame>
        <p:nvGraphicFramePr>
          <p:cNvPr id="15" name="Table 14">
            <a:extLst>
              <a:ext uri="{FF2B5EF4-FFF2-40B4-BE49-F238E27FC236}">
                <a16:creationId xmlns:a16="http://schemas.microsoft.com/office/drawing/2014/main" id="{66FB4E5D-D245-4C49-56AD-89F1806801EB}"/>
              </a:ext>
            </a:extLst>
          </p:cNvPr>
          <p:cNvGraphicFramePr>
            <a:graphicFrameLocks noGrp="1"/>
          </p:cNvGraphicFramePr>
          <p:nvPr>
            <p:extLst>
              <p:ext uri="{D42A27DB-BD31-4B8C-83A1-F6EECF244321}">
                <p14:modId xmlns:p14="http://schemas.microsoft.com/office/powerpoint/2010/main" val="1401249141"/>
              </p:ext>
            </p:extLst>
          </p:nvPr>
        </p:nvGraphicFramePr>
        <p:xfrm>
          <a:off x="502920" y="1261872"/>
          <a:ext cx="5349239" cy="2212848"/>
        </p:xfrm>
        <a:graphic>
          <a:graphicData uri="http://schemas.openxmlformats.org/drawingml/2006/table">
            <a:tbl>
              <a:tblPr firstRow="1" bandRow="1">
                <a:tableStyleId>{5C22544A-7EE6-4342-B048-85BDC9FD1C3A}</a:tableStyleId>
              </a:tblPr>
              <a:tblGrid>
                <a:gridCol w="2567635">
                  <a:extLst>
                    <a:ext uri="{9D8B030D-6E8A-4147-A177-3AD203B41FA5}">
                      <a16:colId xmlns:a16="http://schemas.microsoft.com/office/drawing/2014/main" val="627364543"/>
                    </a:ext>
                  </a:extLst>
                </a:gridCol>
                <a:gridCol w="1390802">
                  <a:extLst>
                    <a:ext uri="{9D8B030D-6E8A-4147-A177-3AD203B41FA5}">
                      <a16:colId xmlns:a16="http://schemas.microsoft.com/office/drawing/2014/main" val="738038706"/>
                    </a:ext>
                  </a:extLst>
                </a:gridCol>
                <a:gridCol w="1390802">
                  <a:extLst>
                    <a:ext uri="{9D8B030D-6E8A-4147-A177-3AD203B41FA5}">
                      <a16:colId xmlns:a16="http://schemas.microsoft.com/office/drawing/2014/main" val="831740432"/>
                    </a:ext>
                  </a:extLst>
                </a:gridCol>
              </a:tblGrid>
              <a:tr h="276606">
                <a:tc>
                  <a:txBody>
                    <a:bodyPr/>
                    <a:lstStyle/>
                    <a:p>
                      <a:r>
                        <a:rPr lang="en-ID" sz="1100" b="1">
                          <a:solidFill>
                            <a:srgbClr val="FFFFFF"/>
                          </a:solidFill>
                          <a:latin typeface="Aptos" panose="020B0004020202020204" pitchFamily="34" charset="0"/>
                        </a:rPr>
                        <a:t>Model</a:t>
                      </a:r>
                    </a:p>
                  </a:txBody>
                  <a:tcPr marL="63500" marR="63500" marT="38100" marB="38100">
                    <a:solidFill>
                      <a:srgbClr val="144063"/>
                    </a:solidFill>
                  </a:tcPr>
                </a:tc>
                <a:tc>
                  <a:txBody>
                    <a:bodyPr/>
                    <a:lstStyle/>
                    <a:p>
                      <a:r>
                        <a:rPr lang="en-ID" sz="1100" b="1">
                          <a:solidFill>
                            <a:srgbClr val="FFFFFF"/>
                          </a:solidFill>
                          <a:latin typeface="Aptos" panose="020B0004020202020204" pitchFamily="34" charset="0"/>
                        </a:rPr>
                        <a:t>Avg Recall</a:t>
                      </a:r>
                    </a:p>
                  </a:txBody>
                  <a:tcPr marL="63500" marR="63500" marT="38100" marB="38100">
                    <a:solidFill>
                      <a:srgbClr val="144063"/>
                    </a:solidFill>
                  </a:tcPr>
                </a:tc>
                <a:tc>
                  <a:txBody>
                    <a:bodyPr/>
                    <a:lstStyle/>
                    <a:p>
                      <a:r>
                        <a:rPr lang="en-ID" sz="1100" b="1">
                          <a:solidFill>
                            <a:srgbClr val="FFFFFF"/>
                          </a:solidFill>
                          <a:latin typeface="Aptos" panose="020B0004020202020204" pitchFamily="34" charset="0"/>
                        </a:rPr>
                        <a:t>Avg Precision</a:t>
                      </a:r>
                    </a:p>
                  </a:txBody>
                  <a:tcPr marL="63500" marR="63500" marT="38100" marB="38100">
                    <a:solidFill>
                      <a:srgbClr val="144063"/>
                    </a:solidFill>
                  </a:tcPr>
                </a:tc>
                <a:extLst>
                  <a:ext uri="{0D108BD9-81ED-4DB2-BD59-A6C34878D82A}">
                    <a16:rowId xmlns:a16="http://schemas.microsoft.com/office/drawing/2014/main" val="1240196641"/>
                  </a:ext>
                </a:extLst>
              </a:tr>
              <a:tr h="276606">
                <a:tc>
                  <a:txBody>
                    <a:bodyPr/>
                    <a:lstStyle/>
                    <a:p>
                      <a:r>
                        <a:rPr lang="en-ID" sz="1100">
                          <a:latin typeface="Aptos" panose="020B0004020202020204" pitchFamily="34" charset="0"/>
                        </a:rPr>
                        <a:t>Logistic Regression</a:t>
                      </a:r>
                    </a:p>
                  </a:txBody>
                  <a:tcPr marL="63500" marR="63500" marT="38100" marB="38100">
                    <a:solidFill>
                      <a:srgbClr val="EEF4F8"/>
                    </a:solidFill>
                  </a:tcPr>
                </a:tc>
                <a:tc>
                  <a:txBody>
                    <a:bodyPr/>
                    <a:lstStyle/>
                    <a:p>
                      <a:r>
                        <a:rPr lang="en-ID" sz="1100">
                          <a:latin typeface="Aptos" panose="020B0004020202020204" pitchFamily="34" charset="0"/>
                        </a:rPr>
                        <a:t>0,822</a:t>
                      </a:r>
                    </a:p>
                  </a:txBody>
                  <a:tcPr marL="63500" marR="63500" marT="38100" marB="38100">
                    <a:solidFill>
                      <a:srgbClr val="EEF4F8"/>
                    </a:solidFill>
                  </a:tcPr>
                </a:tc>
                <a:tc>
                  <a:txBody>
                    <a:bodyPr/>
                    <a:lstStyle/>
                    <a:p>
                      <a:r>
                        <a:rPr lang="en-ID" sz="1100">
                          <a:latin typeface="Aptos" panose="020B0004020202020204" pitchFamily="34" charset="0"/>
                        </a:rPr>
                        <a:t>0,453</a:t>
                      </a:r>
                    </a:p>
                  </a:txBody>
                  <a:tcPr marL="63500" marR="63500" marT="38100" marB="38100">
                    <a:solidFill>
                      <a:srgbClr val="EEF4F8"/>
                    </a:solidFill>
                  </a:tcPr>
                </a:tc>
                <a:extLst>
                  <a:ext uri="{0D108BD9-81ED-4DB2-BD59-A6C34878D82A}">
                    <a16:rowId xmlns:a16="http://schemas.microsoft.com/office/drawing/2014/main" val="3276929248"/>
                  </a:ext>
                </a:extLst>
              </a:tr>
              <a:tr h="276606">
                <a:tc>
                  <a:txBody>
                    <a:bodyPr/>
                    <a:lstStyle/>
                    <a:p>
                      <a:r>
                        <a:rPr lang="en-ID" sz="1100">
                          <a:latin typeface="Aptos" panose="020B0004020202020204" pitchFamily="34" charset="0"/>
                        </a:rPr>
                        <a:t>XGBoost</a:t>
                      </a:r>
                    </a:p>
                  </a:txBody>
                  <a:tcPr marL="63500" marR="63500" marT="38100" marB="38100">
                    <a:solidFill>
                      <a:srgbClr val="FFFFFF"/>
                    </a:solidFill>
                  </a:tcPr>
                </a:tc>
                <a:tc>
                  <a:txBody>
                    <a:bodyPr/>
                    <a:lstStyle/>
                    <a:p>
                      <a:r>
                        <a:rPr lang="en-ID" sz="1100">
                          <a:latin typeface="Aptos" panose="020B0004020202020204" pitchFamily="34" charset="0"/>
                        </a:rPr>
                        <a:t>0,803</a:t>
                      </a:r>
                    </a:p>
                  </a:txBody>
                  <a:tcPr marL="63500" marR="63500" marT="38100" marB="38100">
                    <a:solidFill>
                      <a:srgbClr val="FFFFFF"/>
                    </a:solidFill>
                  </a:tcPr>
                </a:tc>
                <a:tc>
                  <a:txBody>
                    <a:bodyPr/>
                    <a:lstStyle/>
                    <a:p>
                      <a:r>
                        <a:rPr lang="en-ID" sz="1100">
                          <a:latin typeface="Aptos" panose="020B0004020202020204" pitchFamily="34" charset="0"/>
                        </a:rPr>
                        <a:t>0,440</a:t>
                      </a:r>
                    </a:p>
                  </a:txBody>
                  <a:tcPr marL="63500" marR="63500" marT="38100" marB="38100">
                    <a:solidFill>
                      <a:srgbClr val="FFFFFF"/>
                    </a:solidFill>
                  </a:tcPr>
                </a:tc>
                <a:extLst>
                  <a:ext uri="{0D108BD9-81ED-4DB2-BD59-A6C34878D82A}">
                    <a16:rowId xmlns:a16="http://schemas.microsoft.com/office/drawing/2014/main" val="4174575321"/>
                  </a:ext>
                </a:extLst>
              </a:tr>
              <a:tr h="276606">
                <a:tc>
                  <a:txBody>
                    <a:bodyPr/>
                    <a:lstStyle/>
                    <a:p>
                      <a:r>
                        <a:rPr lang="en-ID" sz="1100">
                          <a:latin typeface="Aptos" panose="020B0004020202020204" pitchFamily="34" charset="0"/>
                        </a:rPr>
                        <a:t>Decision Tree</a:t>
                      </a:r>
                    </a:p>
                  </a:txBody>
                  <a:tcPr marL="63500" marR="63500" marT="38100" marB="38100">
                    <a:solidFill>
                      <a:srgbClr val="EEF4F8"/>
                    </a:solidFill>
                  </a:tcPr>
                </a:tc>
                <a:tc>
                  <a:txBody>
                    <a:bodyPr/>
                    <a:lstStyle/>
                    <a:p>
                      <a:r>
                        <a:rPr lang="en-ID" sz="1100">
                          <a:latin typeface="Aptos" panose="020B0004020202020204" pitchFamily="34" charset="0"/>
                        </a:rPr>
                        <a:t>0,726</a:t>
                      </a:r>
                    </a:p>
                  </a:txBody>
                  <a:tcPr marL="63500" marR="63500" marT="38100" marB="38100">
                    <a:solidFill>
                      <a:srgbClr val="EEF4F8"/>
                    </a:solidFill>
                  </a:tcPr>
                </a:tc>
                <a:tc>
                  <a:txBody>
                    <a:bodyPr/>
                    <a:lstStyle/>
                    <a:p>
                      <a:r>
                        <a:rPr lang="en-ID" sz="1100">
                          <a:latin typeface="Aptos" panose="020B0004020202020204" pitchFamily="34" charset="0"/>
                        </a:rPr>
                        <a:t>0,411</a:t>
                      </a:r>
                    </a:p>
                  </a:txBody>
                  <a:tcPr marL="63500" marR="63500" marT="38100" marB="38100">
                    <a:solidFill>
                      <a:srgbClr val="EEF4F8"/>
                    </a:solidFill>
                  </a:tcPr>
                </a:tc>
                <a:extLst>
                  <a:ext uri="{0D108BD9-81ED-4DB2-BD59-A6C34878D82A}">
                    <a16:rowId xmlns:a16="http://schemas.microsoft.com/office/drawing/2014/main" val="1045187867"/>
                  </a:ext>
                </a:extLst>
              </a:tr>
              <a:tr h="276606">
                <a:tc>
                  <a:txBody>
                    <a:bodyPr/>
                    <a:lstStyle/>
                    <a:p>
                      <a:r>
                        <a:rPr lang="en-ID" sz="1100">
                          <a:latin typeface="Aptos" panose="020B0004020202020204" pitchFamily="34" charset="0"/>
                        </a:rPr>
                        <a:t>Random Forest</a:t>
                      </a:r>
                    </a:p>
                  </a:txBody>
                  <a:tcPr marL="63500" marR="63500" marT="38100" marB="38100">
                    <a:solidFill>
                      <a:srgbClr val="FFFFFF"/>
                    </a:solidFill>
                  </a:tcPr>
                </a:tc>
                <a:tc>
                  <a:txBody>
                    <a:bodyPr/>
                    <a:lstStyle/>
                    <a:p>
                      <a:r>
                        <a:rPr lang="en-ID" sz="1100">
                          <a:latin typeface="Aptos" panose="020B0004020202020204" pitchFamily="34" charset="0"/>
                        </a:rPr>
                        <a:t>0,697</a:t>
                      </a:r>
                    </a:p>
                  </a:txBody>
                  <a:tcPr marL="63500" marR="63500" marT="38100" marB="38100">
                    <a:solidFill>
                      <a:srgbClr val="FFFFFF"/>
                    </a:solidFill>
                  </a:tcPr>
                </a:tc>
                <a:tc>
                  <a:txBody>
                    <a:bodyPr/>
                    <a:lstStyle/>
                    <a:p>
                      <a:r>
                        <a:rPr lang="en-ID" sz="1100">
                          <a:latin typeface="Aptos" panose="020B0004020202020204" pitchFamily="34" charset="0"/>
                        </a:rPr>
                        <a:t>0,428</a:t>
                      </a:r>
                    </a:p>
                  </a:txBody>
                  <a:tcPr marL="63500" marR="63500" marT="38100" marB="38100">
                    <a:solidFill>
                      <a:srgbClr val="FFFFFF"/>
                    </a:solidFill>
                  </a:tcPr>
                </a:tc>
                <a:extLst>
                  <a:ext uri="{0D108BD9-81ED-4DB2-BD59-A6C34878D82A}">
                    <a16:rowId xmlns:a16="http://schemas.microsoft.com/office/drawing/2014/main" val="739963600"/>
                  </a:ext>
                </a:extLst>
              </a:tr>
              <a:tr h="276606">
                <a:tc>
                  <a:txBody>
                    <a:bodyPr/>
                    <a:lstStyle/>
                    <a:p>
                      <a:r>
                        <a:rPr lang="en-ID" sz="1100">
                          <a:latin typeface="Aptos" panose="020B0004020202020204" pitchFamily="34" charset="0"/>
                        </a:rPr>
                        <a:t>Gaussian NB</a:t>
                      </a:r>
                    </a:p>
                  </a:txBody>
                  <a:tcPr marL="63500" marR="63500" marT="38100" marB="38100">
                    <a:solidFill>
                      <a:srgbClr val="EEF4F8"/>
                    </a:solidFill>
                  </a:tcPr>
                </a:tc>
                <a:tc>
                  <a:txBody>
                    <a:bodyPr/>
                    <a:lstStyle/>
                    <a:p>
                      <a:r>
                        <a:rPr lang="en-ID" sz="1100">
                          <a:latin typeface="Aptos" panose="020B0004020202020204" pitchFamily="34" charset="0"/>
                        </a:rPr>
                        <a:t>0,581</a:t>
                      </a:r>
                    </a:p>
                  </a:txBody>
                  <a:tcPr marL="63500" marR="63500" marT="38100" marB="38100">
                    <a:solidFill>
                      <a:srgbClr val="EEF4F8"/>
                    </a:solidFill>
                  </a:tcPr>
                </a:tc>
                <a:tc>
                  <a:txBody>
                    <a:bodyPr/>
                    <a:lstStyle/>
                    <a:p>
                      <a:r>
                        <a:rPr lang="en-ID" sz="1100">
                          <a:latin typeface="Aptos" panose="020B0004020202020204" pitchFamily="34" charset="0"/>
                        </a:rPr>
                        <a:t>0,479</a:t>
                      </a:r>
                    </a:p>
                  </a:txBody>
                  <a:tcPr marL="63500" marR="63500" marT="38100" marB="38100">
                    <a:solidFill>
                      <a:srgbClr val="EEF4F8"/>
                    </a:solidFill>
                  </a:tcPr>
                </a:tc>
                <a:extLst>
                  <a:ext uri="{0D108BD9-81ED-4DB2-BD59-A6C34878D82A}">
                    <a16:rowId xmlns:a16="http://schemas.microsoft.com/office/drawing/2014/main" val="4141104464"/>
                  </a:ext>
                </a:extLst>
              </a:tr>
              <a:tr h="276606">
                <a:tc>
                  <a:txBody>
                    <a:bodyPr/>
                    <a:lstStyle/>
                    <a:p>
                      <a:r>
                        <a:rPr lang="en-ID" sz="1100">
                          <a:latin typeface="Aptos" panose="020B0004020202020204" pitchFamily="34" charset="0"/>
                        </a:rPr>
                        <a:t>KNN</a:t>
                      </a:r>
                    </a:p>
                  </a:txBody>
                  <a:tcPr marL="63500" marR="63500" marT="38100" marB="38100">
                    <a:solidFill>
                      <a:srgbClr val="FFFFFF"/>
                    </a:solidFill>
                  </a:tcPr>
                </a:tc>
                <a:tc>
                  <a:txBody>
                    <a:bodyPr/>
                    <a:lstStyle/>
                    <a:p>
                      <a:r>
                        <a:rPr lang="en-ID" sz="1100">
                          <a:latin typeface="Aptos" panose="020B0004020202020204" pitchFamily="34" charset="0"/>
                        </a:rPr>
                        <a:t>0,475</a:t>
                      </a:r>
                    </a:p>
                  </a:txBody>
                  <a:tcPr marL="63500" marR="63500" marT="38100" marB="38100">
                    <a:solidFill>
                      <a:srgbClr val="FFFFFF"/>
                    </a:solidFill>
                  </a:tcPr>
                </a:tc>
                <a:tc>
                  <a:txBody>
                    <a:bodyPr/>
                    <a:lstStyle/>
                    <a:p>
                      <a:r>
                        <a:rPr lang="en-ID" sz="1100">
                          <a:latin typeface="Aptos" panose="020B0004020202020204" pitchFamily="34" charset="0"/>
                        </a:rPr>
                        <a:t>0,500</a:t>
                      </a:r>
                    </a:p>
                  </a:txBody>
                  <a:tcPr marL="63500" marR="63500" marT="38100" marB="38100">
                    <a:solidFill>
                      <a:srgbClr val="FFFFFF"/>
                    </a:solidFill>
                  </a:tcPr>
                </a:tc>
                <a:extLst>
                  <a:ext uri="{0D108BD9-81ED-4DB2-BD59-A6C34878D82A}">
                    <a16:rowId xmlns:a16="http://schemas.microsoft.com/office/drawing/2014/main" val="4212077212"/>
                  </a:ext>
                </a:extLst>
              </a:tr>
              <a:tr h="276606">
                <a:tc>
                  <a:txBody>
                    <a:bodyPr/>
                    <a:lstStyle/>
                    <a:p>
                      <a:r>
                        <a:rPr lang="en-ID" sz="1100">
                          <a:latin typeface="Aptos" panose="020B0004020202020204" pitchFamily="34" charset="0"/>
                        </a:rPr>
                        <a:t>Gradient Boosting</a:t>
                      </a:r>
                    </a:p>
                  </a:txBody>
                  <a:tcPr marL="63500" marR="63500" marT="38100" marB="38100">
                    <a:solidFill>
                      <a:srgbClr val="EEF4F8"/>
                    </a:solidFill>
                  </a:tcPr>
                </a:tc>
                <a:tc>
                  <a:txBody>
                    <a:bodyPr/>
                    <a:lstStyle/>
                    <a:p>
                      <a:r>
                        <a:rPr lang="en-ID" sz="1100">
                          <a:latin typeface="Aptos" panose="020B0004020202020204" pitchFamily="34" charset="0"/>
                        </a:rPr>
                        <a:t>0,308</a:t>
                      </a:r>
                    </a:p>
                  </a:txBody>
                  <a:tcPr marL="63500" marR="63500" marT="38100" marB="38100">
                    <a:solidFill>
                      <a:srgbClr val="EEF4F8"/>
                    </a:solidFill>
                  </a:tcPr>
                </a:tc>
                <a:tc>
                  <a:txBody>
                    <a:bodyPr/>
                    <a:lstStyle/>
                    <a:p>
                      <a:r>
                        <a:rPr lang="en-ID" sz="1100">
                          <a:latin typeface="Aptos" panose="020B0004020202020204" pitchFamily="34" charset="0"/>
                        </a:rPr>
                        <a:t>0,639</a:t>
                      </a:r>
                    </a:p>
                  </a:txBody>
                  <a:tcPr marL="63500" marR="63500" marT="38100" marB="38100">
                    <a:solidFill>
                      <a:srgbClr val="EEF4F8"/>
                    </a:solidFill>
                  </a:tcPr>
                </a:tc>
                <a:extLst>
                  <a:ext uri="{0D108BD9-81ED-4DB2-BD59-A6C34878D82A}">
                    <a16:rowId xmlns:a16="http://schemas.microsoft.com/office/drawing/2014/main" val="91217987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Rata-rata metrik lintas lima fold</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25</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Nilai rata-rata dari Stratified 5-Fold Cross-Validation pada data latih (8.077 baris). Diurutkan berdasarkan Avg Recall kelas positif.</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543200686"/>
              </p:ext>
            </p:extLst>
          </p:nvPr>
        </p:nvGraphicFramePr>
        <p:xfrm>
          <a:off x="502920" y="1261872"/>
          <a:ext cx="8138160" cy="2267712"/>
        </p:xfrm>
        <a:graphic>
          <a:graphicData uri="http://schemas.openxmlformats.org/drawingml/2006/table">
            <a:tbl>
              <a:tblPr/>
              <a:tblGrid>
                <a:gridCol w="1874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880360">
                  <a:extLst>
                    <a:ext uri="{9D8B030D-6E8A-4147-A177-3AD203B41FA5}">
                      <a16:colId xmlns:a16="http://schemas.microsoft.com/office/drawing/2014/main" val="20005"/>
                    </a:ext>
                  </a:extLst>
                </a:gridCol>
              </a:tblGrid>
              <a:tr h="283464">
                <a:tc>
                  <a:txBody>
                    <a:bodyPr/>
                    <a:lstStyle/>
                    <a:p>
                      <a:pPr marL="0" indent="0">
                        <a:buNone/>
                      </a:pPr>
                      <a:r>
                        <a:rPr lang="en-US" sz="930" b="1">
                          <a:solidFill>
                            <a:srgbClr val="FFFFFF"/>
                          </a:solidFill>
                          <a:latin typeface="Calibri" pitchFamily="34" charset="0"/>
                          <a:ea typeface="Calibri" pitchFamily="34" charset="-122"/>
                          <a:cs typeface="Calibri" pitchFamily="34" charset="-120"/>
                        </a:rPr>
                        <a:t>Algoritma</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a:solidFill>
                            <a:srgbClr val="FFFFFF"/>
                          </a:solidFill>
                          <a:latin typeface="Calibri" pitchFamily="34" charset="0"/>
                          <a:ea typeface="Calibri" pitchFamily="34" charset="-122"/>
                          <a:cs typeface="Calibri" pitchFamily="34" charset="-120"/>
                        </a:rPr>
                        <a:t>Avg Recall</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a:solidFill>
                            <a:srgbClr val="FFFFFF"/>
                          </a:solidFill>
                          <a:latin typeface="Calibri" pitchFamily="34" charset="0"/>
                          <a:ea typeface="Calibri" pitchFamily="34" charset="-122"/>
                          <a:cs typeface="Calibri" pitchFamily="34" charset="-120"/>
                        </a:rPr>
                        <a:t>Avg Precision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a:solidFill>
                            <a:srgbClr val="FFFFFF"/>
                          </a:solidFill>
                          <a:latin typeface="Calibri" pitchFamily="34" charset="0"/>
                          <a:ea typeface="Calibri" pitchFamily="34" charset="-122"/>
                          <a:cs typeface="Calibri" pitchFamily="34" charset="-120"/>
                        </a:rPr>
                        <a:t>Avg F1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a:solidFill>
                            <a:srgbClr val="FFFFFF"/>
                          </a:solidFill>
                          <a:latin typeface="Calibri" pitchFamily="34" charset="0"/>
                          <a:ea typeface="Calibri" pitchFamily="34" charset="-122"/>
                          <a:cs typeface="Calibri" pitchFamily="34" charset="-120"/>
                        </a:rPr>
                        <a:t>Avg AUC</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30" b="1">
                          <a:solidFill>
                            <a:srgbClr val="FFFFFF"/>
                          </a:solidFill>
                          <a:latin typeface="Calibri" pitchFamily="34" charset="0"/>
                          <a:ea typeface="Calibri" pitchFamily="34" charset="-122"/>
                          <a:cs typeface="Calibri" pitchFamily="34" charset="-120"/>
                        </a:rPr>
                        <a:t>Catatan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Logistic Regression</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0,822</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0,453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0,585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0,826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Terpilih: Recall tertinggi yang lolos syarat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XGBoost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0,803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0,440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0,568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0,817</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Peringkat kedua pada Recall</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Decision Tree</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0,726</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0,411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0,525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0,733</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Recall lebih 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Random Forest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0,697</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0,428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0,530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0,785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Precision moderat</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Gaussian Naive Bayes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0,581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0,479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0,471</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0,790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F1 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K-Nearest Neighbors</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0,475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0,500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0,487</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0,780</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Recall 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464">
                <a:tc>
                  <a:txBody>
                    <a:bodyPr/>
                    <a:lstStyle/>
                    <a:p>
                      <a:pPr marL="0" indent="0">
                        <a:buNone/>
                      </a:pPr>
                      <a:r>
                        <a:rPr lang="en-US" sz="930">
                          <a:solidFill>
                            <a:srgbClr val="16202B"/>
                          </a:solidFill>
                          <a:latin typeface="Calibri" pitchFamily="34" charset="0"/>
                          <a:ea typeface="Calibri" pitchFamily="34" charset="-122"/>
                          <a:cs typeface="Calibri" pitchFamily="34" charset="-120"/>
                        </a:rPr>
                        <a:t>Gradient Boosting</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0,308</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0,639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0,415</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0,839</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30">
                          <a:solidFill>
                            <a:srgbClr val="16202B"/>
                          </a:solidFill>
                          <a:latin typeface="Calibri" pitchFamily="34" charset="0"/>
                          <a:ea typeface="Calibri" pitchFamily="34" charset="-122"/>
                          <a:cs typeface="Calibri" pitchFamily="34" charset="-120"/>
                        </a:rPr>
                        <a:t>AUC tertinggi, Recall terendah</a:t>
                      </a:r>
                      <a:endParaRPr lang="en-US" sz="93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502920" y="3675888"/>
            <a:ext cx="8138160" cy="969264"/>
          </a:xfrm>
          <a:prstGeom prst="roundRect">
            <a:avLst>
              <a:gd name="adj" fmla="val 566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0" descr="/home/claude/assets/ic_warn_orange.png"/>
          <p:cNvPicPr>
            <a:picLocks noChangeAspect="1"/>
          </p:cNvPicPr>
          <p:nvPr/>
        </p:nvPicPr>
        <p:blipFill>
          <a:blip r:embed="rId3"/>
          <a:stretch>
            <a:fillRect/>
          </a:stretch>
        </p:blipFill>
        <p:spPr>
          <a:xfrm>
            <a:off x="713232" y="3858768"/>
            <a:ext cx="256032" cy="256032"/>
          </a:xfrm>
          <a:prstGeom prst="rect">
            <a:avLst/>
          </a:prstGeom>
        </p:spPr>
      </p:pic>
      <p:sp>
        <p:nvSpPr>
          <p:cNvPr id="9" name="Text 5"/>
          <p:cNvSpPr/>
          <p:nvPr/>
        </p:nvSpPr>
        <p:spPr>
          <a:xfrm>
            <a:off x="1097280" y="3840480"/>
            <a:ext cx="5029200" cy="219456"/>
          </a:xfrm>
          <a:prstGeom prst="rect">
            <a:avLst/>
          </a:prstGeom>
          <a:noFill/>
          <a:ln/>
        </p:spPr>
        <p:txBody>
          <a:bodyPr wrap="square" lIns="0" tIns="0" rIns="0" bIns="0" rtlCol="0" anchor="ctr"/>
          <a:lstStyle/>
          <a:p>
            <a:pPr marL="0" indent="0">
              <a:buNone/>
            </a:pPr>
            <a:r>
              <a:rPr lang="nn-NO" sz="1250" b="1">
                <a:solidFill>
                  <a:srgbClr val="B3392E"/>
                </a:solidFill>
                <a:latin typeface="Calibri" pitchFamily="34" charset="0"/>
                <a:ea typeface="Calibri" pitchFamily="34" charset="-122"/>
                <a:cs typeface="Calibri" pitchFamily="34" charset="-120"/>
              </a:rPr>
              <a:t>Hasil akhir setelah pipeline dijalankan ulang</a:t>
            </a:r>
            <a:endParaRPr lang="en-US" sz="1250" dirty="0"/>
          </a:p>
        </p:txBody>
      </p:sp>
      <p:sp>
        <p:nvSpPr>
          <p:cNvPr id="10" name="Text 6"/>
          <p:cNvSpPr/>
          <p:nvPr/>
        </p:nvSpPr>
        <p:spPr>
          <a:xfrm>
            <a:off x="1097280" y="4096512"/>
            <a:ext cx="7360920" cy="502920"/>
          </a:xfrm>
          <a:prstGeom prst="rect">
            <a:avLst/>
          </a:prstGeom>
          <a:noFill/>
          <a:ln/>
        </p:spPr>
        <p:txBody>
          <a:bodyPr wrap="square" lIns="0" tIns="0" rIns="0" bIns="0" rtlCol="0" anchor="t"/>
          <a:lstStyle/>
          <a:p>
            <a:pPr marL="0" indent="0">
              <a:lnSpc>
                <a:spcPts val="1303"/>
              </a:lnSpc>
              <a:buNone/>
            </a:pPr>
            <a:r>
              <a:rPr lang="en-US" sz="980">
                <a:solidFill>
                  <a:srgbClr val="16202B"/>
                </a:solidFill>
                <a:latin typeface="Calibri" pitchFamily="34" charset="0"/>
                <a:ea typeface="Calibri" pitchFamily="34" charset="-122"/>
                <a:cs typeface="Calibri" pitchFamily="34" charset="-120"/>
              </a:rPr>
              <a:t>Logistic Regression memimpin Avg Recall pada pipeline final: 0,822. XGBoost menyusul pada 0,803. Hasil notebook tidak mendukung klaim bahwa XGBoost menjadi model terbaik.</a:t>
            </a:r>
            <a:endParaRPr lang="en-US" sz="9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a:solidFill>
                  <a:srgbClr val="123A5E"/>
                </a:solidFill>
                <a:latin typeface="Calibri" pitchFamily="34" charset="0"/>
                <a:ea typeface="Calibri" pitchFamily="34" charset="-122"/>
                <a:cs typeface="Calibri" pitchFamily="34" charset="-120"/>
              </a:rPr>
              <a:t>Metrik train dan test Logistic Regression konsisten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26</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it-IT" sz="1050">
                <a:solidFill>
                  <a:srgbClr val="6B7885"/>
                </a:solidFill>
                <a:latin typeface="Calibri" pitchFamily="34" charset="0"/>
                <a:ea typeface="Calibri" pitchFamily="34" charset="-122"/>
                <a:cs typeface="Calibri" pitchFamily="34" charset="-120"/>
              </a:rPr>
              <a:t>Perbandingan metrik Logistic Regression pada data latih dan data uji.</a:t>
            </a:r>
            <a:endParaRPr lang="en-US" sz="1050" dirty="0"/>
          </a:p>
        </p:txBody>
      </p:sp>
      <p:sp>
        <p:nvSpPr>
          <p:cNvPr id="7" name="Shape 4"/>
          <p:cNvSpPr/>
          <p:nvPr/>
        </p:nvSpPr>
        <p:spPr>
          <a:xfrm>
            <a:off x="5806440" y="1243584"/>
            <a:ext cx="2834640" cy="2002536"/>
          </a:xfrm>
          <a:prstGeom prst="roundRect">
            <a:avLst>
              <a:gd name="adj" fmla="val 2740"/>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check_navy.png"/>
          <p:cNvPicPr>
            <a:picLocks noChangeAspect="1"/>
          </p:cNvPicPr>
          <p:nvPr/>
        </p:nvPicPr>
        <p:blipFill>
          <a:blip r:embed="rId3"/>
          <a:stretch>
            <a:fillRect/>
          </a:stretch>
        </p:blipFill>
        <p:spPr>
          <a:xfrm>
            <a:off x="5998464" y="1408176"/>
            <a:ext cx="256032" cy="256032"/>
          </a:xfrm>
          <a:prstGeom prst="rect">
            <a:avLst/>
          </a:prstGeom>
        </p:spPr>
      </p:pic>
      <p:sp>
        <p:nvSpPr>
          <p:cNvPr id="9" name="Text 5"/>
          <p:cNvSpPr/>
          <p:nvPr/>
        </p:nvSpPr>
        <p:spPr>
          <a:xfrm>
            <a:off x="5998464" y="1737360"/>
            <a:ext cx="256032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Pembacaan</a:t>
            </a:r>
            <a:endParaRPr lang="en-US" sz="1250" dirty="0"/>
          </a:p>
        </p:txBody>
      </p:sp>
      <p:sp>
        <p:nvSpPr>
          <p:cNvPr id="10" name="Text 6"/>
          <p:cNvSpPr/>
          <p:nvPr/>
        </p:nvSpPr>
        <p:spPr>
          <a:xfrm>
            <a:off x="5980176" y="2029968"/>
            <a:ext cx="251460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Recall: train 0,8217 dan test 0,8295</a:t>
            </a:r>
          </a:p>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Precision: train 0,4531 dan test 0,4586</a:t>
            </a:r>
          </a:p>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Selisih kedua metrik di bawah 0,01</a:t>
            </a:r>
          </a:p>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Avg Recall lima fold 0,8222 dekat dengan recall test 0,8295</a:t>
            </a:r>
            <a:endParaRPr lang="en-US" sz="860" dirty="0"/>
          </a:p>
        </p:txBody>
      </p:sp>
      <p:sp>
        <p:nvSpPr>
          <p:cNvPr id="11" name="Shape 7"/>
          <p:cNvSpPr/>
          <p:nvPr/>
        </p:nvSpPr>
        <p:spPr>
          <a:xfrm>
            <a:off x="502920" y="3383280"/>
            <a:ext cx="8138160" cy="1225296"/>
          </a:xfrm>
          <a:prstGeom prst="roundRect">
            <a:avLst>
              <a:gd name="adj" fmla="val 4478"/>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search_navy.png"/>
          <p:cNvPicPr>
            <a:picLocks noChangeAspect="1"/>
          </p:cNvPicPr>
          <p:nvPr/>
        </p:nvPicPr>
        <p:blipFill>
          <a:blip r:embed="rId4"/>
          <a:stretch>
            <a:fillRect/>
          </a:stretch>
        </p:blipFill>
        <p:spPr>
          <a:xfrm>
            <a:off x="713232" y="3566160"/>
            <a:ext cx="274320" cy="274320"/>
          </a:xfrm>
          <a:prstGeom prst="rect">
            <a:avLst/>
          </a:prstGeom>
        </p:spPr>
      </p:pic>
      <p:sp>
        <p:nvSpPr>
          <p:cNvPr id="13" name="Text 8"/>
          <p:cNvSpPr/>
          <p:nvPr/>
        </p:nvSpPr>
        <p:spPr>
          <a:xfrm>
            <a:off x="1115568" y="3547872"/>
            <a:ext cx="4572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Kenapa kesenjangannya masih wajar</a:t>
            </a:r>
            <a:endParaRPr lang="en-US" sz="1250" dirty="0"/>
          </a:p>
        </p:txBody>
      </p:sp>
      <p:sp>
        <p:nvSpPr>
          <p:cNvPr id="14" name="Text 9"/>
          <p:cNvSpPr/>
          <p:nvPr/>
        </p:nvSpPr>
        <p:spPr>
          <a:xfrm>
            <a:off x="1115568" y="3803904"/>
            <a:ext cx="7360920" cy="731520"/>
          </a:xfrm>
          <a:prstGeom prst="rect">
            <a:avLst/>
          </a:prstGeom>
          <a:noFill/>
          <a:ln/>
        </p:spPr>
        <p:txBody>
          <a:bodyPr wrap="square" lIns="0" tIns="0" rIns="0" bIns="0" rtlCol="0" anchor="t"/>
          <a:lstStyle/>
          <a:p>
            <a:pPr marL="0" indent="0">
              <a:lnSpc>
                <a:spcPts val="1277"/>
              </a:lnSpc>
              <a:buNone/>
            </a:pPr>
            <a:r>
              <a:rPr lang="en-US" sz="960">
                <a:solidFill>
                  <a:srgbClr val="16202B"/>
                </a:solidFill>
                <a:latin typeface="Calibri" pitchFamily="34" charset="0"/>
                <a:ea typeface="Calibri" pitchFamily="34" charset="-122"/>
                <a:cs typeface="Calibri" pitchFamily="34" charset="-120"/>
              </a:rPr>
              <a:t>Performa test sangat dekat dengan train dan rata-rata cross-validation. Pola ini tidak menunjukkan overfitting yang signifikan.</a:t>
            </a:r>
            <a:endParaRPr lang="en-US" sz="960" dirty="0"/>
          </a:p>
        </p:txBody>
      </p:sp>
      <p:graphicFrame>
        <p:nvGraphicFramePr>
          <p:cNvPr id="15" name="Table 14">
            <a:extLst>
              <a:ext uri="{FF2B5EF4-FFF2-40B4-BE49-F238E27FC236}">
                <a16:creationId xmlns:a16="http://schemas.microsoft.com/office/drawing/2014/main" id="{DA8F2B3C-13B5-155A-A7C3-DC3CB32B4CAB}"/>
              </a:ext>
            </a:extLst>
          </p:cNvPr>
          <p:cNvGraphicFramePr>
            <a:graphicFrameLocks noGrp="1"/>
          </p:cNvGraphicFramePr>
          <p:nvPr>
            <p:extLst>
              <p:ext uri="{D42A27DB-BD31-4B8C-83A1-F6EECF244321}">
                <p14:modId xmlns:p14="http://schemas.microsoft.com/office/powerpoint/2010/main" val="1545696250"/>
              </p:ext>
            </p:extLst>
          </p:nvPr>
        </p:nvGraphicFramePr>
        <p:xfrm>
          <a:off x="502920" y="1243584"/>
          <a:ext cx="5120641" cy="2002535"/>
        </p:xfrm>
        <a:graphic>
          <a:graphicData uri="http://schemas.openxmlformats.org/drawingml/2006/table">
            <a:tbl>
              <a:tblPr firstRow="1" bandRow="1">
                <a:tableStyleId>{5C22544A-7EE6-4342-B048-85BDC9FD1C3A}</a:tableStyleId>
              </a:tblPr>
              <a:tblGrid>
                <a:gridCol w="2355495">
                  <a:extLst>
                    <a:ext uri="{9D8B030D-6E8A-4147-A177-3AD203B41FA5}">
                      <a16:colId xmlns:a16="http://schemas.microsoft.com/office/drawing/2014/main" val="2872050844"/>
                    </a:ext>
                  </a:extLst>
                </a:gridCol>
                <a:gridCol w="1382573">
                  <a:extLst>
                    <a:ext uri="{9D8B030D-6E8A-4147-A177-3AD203B41FA5}">
                      <a16:colId xmlns:a16="http://schemas.microsoft.com/office/drawing/2014/main" val="3766238244"/>
                    </a:ext>
                  </a:extLst>
                </a:gridCol>
                <a:gridCol w="1382573">
                  <a:extLst>
                    <a:ext uri="{9D8B030D-6E8A-4147-A177-3AD203B41FA5}">
                      <a16:colId xmlns:a16="http://schemas.microsoft.com/office/drawing/2014/main" val="3960420588"/>
                    </a:ext>
                  </a:extLst>
                </a:gridCol>
              </a:tblGrid>
              <a:tr h="400507">
                <a:tc>
                  <a:txBody>
                    <a:bodyPr/>
                    <a:lstStyle/>
                    <a:p>
                      <a:r>
                        <a:rPr lang="en-ID" sz="1300" b="1">
                          <a:solidFill>
                            <a:srgbClr val="FFFFFF"/>
                          </a:solidFill>
                          <a:latin typeface="Aptos" panose="020B0004020202020204" pitchFamily="34" charset="0"/>
                        </a:rPr>
                        <a:t>Metric</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Train</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Test</a:t>
                      </a:r>
                    </a:p>
                  </a:txBody>
                  <a:tcPr marL="63500" marR="63500" marT="38100" marB="38100">
                    <a:solidFill>
                      <a:srgbClr val="144063"/>
                    </a:solidFill>
                  </a:tcPr>
                </a:tc>
                <a:extLst>
                  <a:ext uri="{0D108BD9-81ED-4DB2-BD59-A6C34878D82A}">
                    <a16:rowId xmlns:a16="http://schemas.microsoft.com/office/drawing/2014/main" val="621456292"/>
                  </a:ext>
                </a:extLst>
              </a:tr>
              <a:tr h="400507">
                <a:tc>
                  <a:txBody>
                    <a:bodyPr/>
                    <a:lstStyle/>
                    <a:p>
                      <a:r>
                        <a:rPr lang="en-ID" sz="1300">
                          <a:latin typeface="Aptos" panose="020B0004020202020204" pitchFamily="34" charset="0"/>
                        </a:rPr>
                        <a:t>Recall</a:t>
                      </a:r>
                    </a:p>
                  </a:txBody>
                  <a:tcPr marL="63500" marR="63500" marT="38100" marB="38100">
                    <a:solidFill>
                      <a:srgbClr val="EEF4F8"/>
                    </a:solidFill>
                  </a:tcPr>
                </a:tc>
                <a:tc>
                  <a:txBody>
                    <a:bodyPr/>
                    <a:lstStyle/>
                    <a:p>
                      <a:r>
                        <a:rPr lang="en-ID" sz="1300">
                          <a:latin typeface="Aptos" panose="020B0004020202020204" pitchFamily="34" charset="0"/>
                        </a:rPr>
                        <a:t>0,8217</a:t>
                      </a:r>
                    </a:p>
                  </a:txBody>
                  <a:tcPr marL="63500" marR="63500" marT="38100" marB="38100">
                    <a:solidFill>
                      <a:srgbClr val="EEF4F8"/>
                    </a:solidFill>
                  </a:tcPr>
                </a:tc>
                <a:tc>
                  <a:txBody>
                    <a:bodyPr/>
                    <a:lstStyle/>
                    <a:p>
                      <a:r>
                        <a:rPr lang="en-ID" sz="1300">
                          <a:latin typeface="Aptos" panose="020B0004020202020204" pitchFamily="34" charset="0"/>
                        </a:rPr>
                        <a:t>0,8295</a:t>
                      </a:r>
                    </a:p>
                  </a:txBody>
                  <a:tcPr marL="63500" marR="63500" marT="38100" marB="38100">
                    <a:solidFill>
                      <a:srgbClr val="EEF4F8"/>
                    </a:solidFill>
                  </a:tcPr>
                </a:tc>
                <a:extLst>
                  <a:ext uri="{0D108BD9-81ED-4DB2-BD59-A6C34878D82A}">
                    <a16:rowId xmlns:a16="http://schemas.microsoft.com/office/drawing/2014/main" val="3309159003"/>
                  </a:ext>
                </a:extLst>
              </a:tr>
              <a:tr h="400507">
                <a:tc>
                  <a:txBody>
                    <a:bodyPr/>
                    <a:lstStyle/>
                    <a:p>
                      <a:r>
                        <a:rPr lang="en-ID" sz="1300">
                          <a:latin typeface="Aptos" panose="020B0004020202020204" pitchFamily="34" charset="0"/>
                        </a:rPr>
                        <a:t>Precision</a:t>
                      </a:r>
                    </a:p>
                  </a:txBody>
                  <a:tcPr marL="63500" marR="63500" marT="38100" marB="38100">
                    <a:solidFill>
                      <a:srgbClr val="FFFFFF"/>
                    </a:solidFill>
                  </a:tcPr>
                </a:tc>
                <a:tc>
                  <a:txBody>
                    <a:bodyPr/>
                    <a:lstStyle/>
                    <a:p>
                      <a:r>
                        <a:rPr lang="en-ID" sz="1300">
                          <a:latin typeface="Aptos" panose="020B0004020202020204" pitchFamily="34" charset="0"/>
                        </a:rPr>
                        <a:t>0,4531</a:t>
                      </a:r>
                    </a:p>
                  </a:txBody>
                  <a:tcPr marL="63500" marR="63500" marT="38100" marB="38100">
                    <a:solidFill>
                      <a:srgbClr val="FFFFFF"/>
                    </a:solidFill>
                  </a:tcPr>
                </a:tc>
                <a:tc>
                  <a:txBody>
                    <a:bodyPr/>
                    <a:lstStyle/>
                    <a:p>
                      <a:r>
                        <a:rPr lang="en-ID" sz="1300">
                          <a:latin typeface="Aptos" panose="020B0004020202020204" pitchFamily="34" charset="0"/>
                        </a:rPr>
                        <a:t>0,4586</a:t>
                      </a:r>
                    </a:p>
                  </a:txBody>
                  <a:tcPr marL="63500" marR="63500" marT="38100" marB="38100">
                    <a:solidFill>
                      <a:srgbClr val="FFFFFF"/>
                    </a:solidFill>
                  </a:tcPr>
                </a:tc>
                <a:extLst>
                  <a:ext uri="{0D108BD9-81ED-4DB2-BD59-A6C34878D82A}">
                    <a16:rowId xmlns:a16="http://schemas.microsoft.com/office/drawing/2014/main" val="2050547573"/>
                  </a:ext>
                </a:extLst>
              </a:tr>
              <a:tr h="400507">
                <a:tc>
                  <a:txBody>
                    <a:bodyPr/>
                    <a:lstStyle/>
                    <a:p>
                      <a:r>
                        <a:rPr lang="en-ID" sz="1300">
                          <a:latin typeface="Aptos" panose="020B0004020202020204" pitchFamily="34" charset="0"/>
                        </a:rPr>
                        <a:t>Selisih Recall</a:t>
                      </a:r>
                    </a:p>
                  </a:txBody>
                  <a:tcPr marL="63500" marR="63500" marT="38100" marB="38100">
                    <a:solidFill>
                      <a:srgbClr val="EEF4F8"/>
                    </a:solidFill>
                  </a:tcPr>
                </a:tc>
                <a:tc>
                  <a:txBody>
                    <a:bodyPr/>
                    <a:lstStyle/>
                    <a:p>
                      <a:r>
                        <a:rPr lang="en-ID" sz="1300">
                          <a:latin typeface="Aptos" panose="020B0004020202020204" pitchFamily="34" charset="0"/>
                        </a:rPr>
                        <a:t>-</a:t>
                      </a:r>
                    </a:p>
                  </a:txBody>
                  <a:tcPr marL="63500" marR="63500" marT="38100" marB="38100">
                    <a:solidFill>
                      <a:srgbClr val="EEF4F8"/>
                    </a:solidFill>
                  </a:tcPr>
                </a:tc>
                <a:tc>
                  <a:txBody>
                    <a:bodyPr/>
                    <a:lstStyle/>
                    <a:p>
                      <a:r>
                        <a:rPr lang="en-ID" sz="1300">
                          <a:latin typeface="Aptos" panose="020B0004020202020204" pitchFamily="34" charset="0"/>
                        </a:rPr>
                        <a:t>0,0078</a:t>
                      </a:r>
                    </a:p>
                  </a:txBody>
                  <a:tcPr marL="63500" marR="63500" marT="38100" marB="38100">
                    <a:solidFill>
                      <a:srgbClr val="EEF4F8"/>
                    </a:solidFill>
                  </a:tcPr>
                </a:tc>
                <a:extLst>
                  <a:ext uri="{0D108BD9-81ED-4DB2-BD59-A6C34878D82A}">
                    <a16:rowId xmlns:a16="http://schemas.microsoft.com/office/drawing/2014/main" val="1819025923"/>
                  </a:ext>
                </a:extLst>
              </a:tr>
              <a:tr h="400507">
                <a:tc>
                  <a:txBody>
                    <a:bodyPr/>
                    <a:lstStyle/>
                    <a:p>
                      <a:r>
                        <a:rPr lang="en-ID" sz="1300">
                          <a:latin typeface="Aptos" panose="020B0004020202020204" pitchFamily="34" charset="0"/>
                        </a:rPr>
                        <a:t>Selisih Precision</a:t>
                      </a:r>
                    </a:p>
                  </a:txBody>
                  <a:tcPr marL="63500" marR="63500" marT="38100" marB="38100">
                    <a:solidFill>
                      <a:srgbClr val="FFFFFF"/>
                    </a:solidFill>
                  </a:tcPr>
                </a:tc>
                <a:tc>
                  <a:txBody>
                    <a:bodyPr/>
                    <a:lstStyle/>
                    <a:p>
                      <a:r>
                        <a:rPr lang="en-ID" sz="1300">
                          <a:latin typeface="Aptos" panose="020B0004020202020204" pitchFamily="34" charset="0"/>
                        </a:rPr>
                        <a:t>-</a:t>
                      </a:r>
                    </a:p>
                  </a:txBody>
                  <a:tcPr marL="63500" marR="63500" marT="38100" marB="38100">
                    <a:solidFill>
                      <a:srgbClr val="FFFFFF"/>
                    </a:solidFill>
                  </a:tcPr>
                </a:tc>
                <a:tc>
                  <a:txBody>
                    <a:bodyPr/>
                    <a:lstStyle/>
                    <a:p>
                      <a:r>
                        <a:rPr lang="en-ID" sz="1300">
                          <a:latin typeface="Aptos" panose="020B0004020202020204" pitchFamily="34" charset="0"/>
                        </a:rPr>
                        <a:t>0,0055</a:t>
                      </a:r>
                    </a:p>
                  </a:txBody>
                  <a:tcPr marL="63500" marR="63500" marT="38100" marB="38100">
                    <a:solidFill>
                      <a:srgbClr val="FFFFFF"/>
                    </a:solidFill>
                  </a:tcPr>
                </a:tc>
                <a:extLst>
                  <a:ext uri="{0D108BD9-81ED-4DB2-BD59-A6C34878D82A}">
                    <a16:rowId xmlns:a16="http://schemas.microsoft.com/office/drawing/2014/main" val="60089926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a:solidFill>
                  <a:srgbClr val="123A5E"/>
                </a:solidFill>
                <a:latin typeface="Calibri" pitchFamily="34" charset="0"/>
                <a:ea typeface="Calibri" pitchFamily="34" charset="-122"/>
                <a:cs typeface="Calibri" pitchFamily="34" charset="-120"/>
              </a:rPr>
              <a:t>Logistic Regression unggul pada Recall</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502920" y="1060704"/>
            <a:ext cx="3977640" cy="1920240"/>
          </a:xfrm>
          <a:prstGeom prst="roundRect">
            <a:avLst>
              <a:gd name="adj" fmla="val 2857"/>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Text 4"/>
          <p:cNvSpPr/>
          <p:nvPr/>
        </p:nvSpPr>
        <p:spPr>
          <a:xfrm>
            <a:off x="713232" y="1225296"/>
            <a:ext cx="3566160" cy="237744"/>
          </a:xfrm>
          <a:prstGeom prst="rect">
            <a:avLst/>
          </a:prstGeom>
          <a:noFill/>
          <a:ln/>
        </p:spPr>
        <p:txBody>
          <a:bodyPr wrap="square" lIns="0" tIns="0" rIns="0" bIns="0" rtlCol="0" anchor="ctr"/>
          <a:lstStyle/>
          <a:p>
            <a:pPr marL="0" indent="0">
              <a:buNone/>
            </a:pPr>
            <a:r>
              <a:rPr lang="en-US" sz="1250" b="1">
                <a:solidFill>
                  <a:srgbClr val="2F7D5E"/>
                </a:solidFill>
                <a:latin typeface="Calibri" pitchFamily="34" charset="0"/>
                <a:ea typeface="Calibri" pitchFamily="34" charset="-122"/>
                <a:cs typeface="Calibri" pitchFamily="34" charset="-120"/>
              </a:rPr>
              <a:t>Logistic Regression (terpilih)</a:t>
            </a:r>
            <a:endParaRPr lang="en-US" sz="1250" dirty="0"/>
          </a:p>
        </p:txBody>
      </p:sp>
      <p:sp>
        <p:nvSpPr>
          <p:cNvPr id="7" name="Text 5"/>
          <p:cNvSpPr/>
          <p:nvPr/>
        </p:nvSpPr>
        <p:spPr>
          <a:xfrm>
            <a:off x="713232" y="1517904"/>
            <a:ext cx="3566160" cy="786384"/>
          </a:xfrm>
          <a:prstGeom prst="rect">
            <a:avLst/>
          </a:prstGeom>
          <a:noFill/>
          <a:ln/>
        </p:spPr>
        <p:txBody>
          <a:bodyPr wrap="square" lIns="0" tIns="0" rIns="0" bIns="0" rtlCol="0" anchor="ctr"/>
          <a:lstStyle/>
          <a:p>
            <a:pPr marL="0" indent="0">
              <a:lnSpc>
                <a:spcPts val="2000"/>
              </a:lnSpc>
              <a:buNone/>
            </a:pPr>
            <a:r>
              <a:rPr lang="en-US" sz="1500" b="1">
                <a:solidFill>
                  <a:srgbClr val="2F7D5E"/>
                </a:solidFill>
                <a:latin typeface="Calibri" pitchFamily="34" charset="0"/>
                <a:ea typeface="Calibri" pitchFamily="34" charset="-122"/>
                <a:cs typeface="Calibri" pitchFamily="34" charset="-120"/>
              </a:rPr>
              <a:t>Avg Recall  0,822</a:t>
            </a:r>
          </a:p>
          <a:p>
            <a:pPr marL="0" indent="0">
              <a:lnSpc>
                <a:spcPts val="2000"/>
              </a:lnSpc>
              <a:buNone/>
            </a:pPr>
            <a:r>
              <a:rPr lang="en-US" sz="1500" b="1">
                <a:solidFill>
                  <a:srgbClr val="2F7D5E"/>
                </a:solidFill>
                <a:latin typeface="Calibri" pitchFamily="34" charset="0"/>
                <a:ea typeface="Calibri" pitchFamily="34" charset="-122"/>
                <a:cs typeface="Calibri" pitchFamily="34" charset="-120"/>
              </a:rPr>
              <a:t>Avg Precision  0,453</a:t>
            </a:r>
          </a:p>
          <a:p>
            <a:pPr marL="0" indent="0">
              <a:lnSpc>
                <a:spcPts val="2000"/>
              </a:lnSpc>
              <a:buNone/>
            </a:pPr>
            <a:r>
              <a:rPr lang="en-US" sz="1500" b="1">
                <a:solidFill>
                  <a:srgbClr val="2F7D5E"/>
                </a:solidFill>
                <a:latin typeface="Calibri" pitchFamily="34" charset="0"/>
                <a:ea typeface="Calibri" pitchFamily="34" charset="-122"/>
                <a:cs typeface="Calibri" pitchFamily="34" charset="-120"/>
              </a:rPr>
              <a:t>Avg AUC  0,826</a:t>
            </a:r>
            <a:endParaRPr lang="en-US" sz="1500" dirty="0"/>
          </a:p>
        </p:txBody>
      </p:sp>
      <p:sp>
        <p:nvSpPr>
          <p:cNvPr id="8" name="Text 6"/>
          <p:cNvSpPr/>
          <p:nvPr/>
        </p:nvSpPr>
        <p:spPr>
          <a:xfrm>
            <a:off x="713232" y="2359152"/>
            <a:ext cx="3566160" cy="548640"/>
          </a:xfrm>
          <a:prstGeom prst="rect">
            <a:avLst/>
          </a:prstGeom>
          <a:noFill/>
          <a:ln/>
        </p:spPr>
        <p:txBody>
          <a:bodyPr wrap="square" lIns="0" tIns="0" rIns="0" bIns="0" rtlCol="0" anchor="t"/>
          <a:lstStyle/>
          <a:p>
            <a:pPr marL="0" indent="0">
              <a:lnSpc>
                <a:spcPts val="1303"/>
              </a:lnSpc>
              <a:buNone/>
            </a:pPr>
            <a:r>
              <a:rPr lang="sv-SE" sz="980">
                <a:solidFill>
                  <a:srgbClr val="16202B"/>
                </a:solidFill>
                <a:latin typeface="Calibri" pitchFamily="34" charset="0"/>
                <a:ea typeface="Calibri" pitchFamily="34" charset="-122"/>
                <a:cs typeface="Calibri" pitchFamily="34" charset="-120"/>
              </a:rPr>
              <a:t>Recall tertinggi di antara model dengan Avg Precision minimal 0,40. Koefisiennya juga mudah dijelaskan.</a:t>
            </a:r>
            <a:endParaRPr lang="en-US" sz="980" dirty="0"/>
          </a:p>
        </p:txBody>
      </p:sp>
      <p:sp>
        <p:nvSpPr>
          <p:cNvPr id="9" name="Shape 7"/>
          <p:cNvSpPr/>
          <p:nvPr/>
        </p:nvSpPr>
        <p:spPr>
          <a:xfrm>
            <a:off x="4663440" y="1060704"/>
            <a:ext cx="3977640" cy="1920240"/>
          </a:xfrm>
          <a:prstGeom prst="roundRect">
            <a:avLst>
              <a:gd name="adj" fmla="val 285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8"/>
          <p:cNvSpPr/>
          <p:nvPr/>
        </p:nvSpPr>
        <p:spPr>
          <a:xfrm>
            <a:off x="4873752" y="1225296"/>
            <a:ext cx="3566160" cy="237744"/>
          </a:xfrm>
          <a:prstGeom prst="rect">
            <a:avLst/>
          </a:prstGeom>
          <a:noFill/>
          <a:ln/>
        </p:spPr>
        <p:txBody>
          <a:bodyPr wrap="square" lIns="0" tIns="0" rIns="0" bIns="0" rtlCol="0" anchor="ctr"/>
          <a:lstStyle/>
          <a:p>
            <a:pPr marL="0" indent="0">
              <a:buNone/>
            </a:pPr>
            <a:r>
              <a:rPr lang="en-US" sz="1250" b="1">
                <a:solidFill>
                  <a:srgbClr val="123A5E"/>
                </a:solidFill>
                <a:latin typeface="Calibri" pitchFamily="34" charset="0"/>
                <a:ea typeface="Calibri" pitchFamily="34" charset="-122"/>
                <a:cs typeface="Calibri" pitchFamily="34" charset="-120"/>
              </a:rPr>
              <a:t>XGBoost</a:t>
            </a:r>
            <a:endParaRPr lang="en-US" sz="1250" dirty="0"/>
          </a:p>
        </p:txBody>
      </p:sp>
      <p:sp>
        <p:nvSpPr>
          <p:cNvPr id="11" name="Text 9"/>
          <p:cNvSpPr/>
          <p:nvPr/>
        </p:nvSpPr>
        <p:spPr>
          <a:xfrm>
            <a:off x="4873752" y="1517904"/>
            <a:ext cx="3566160" cy="786384"/>
          </a:xfrm>
          <a:prstGeom prst="rect">
            <a:avLst/>
          </a:prstGeom>
          <a:noFill/>
          <a:ln/>
        </p:spPr>
        <p:txBody>
          <a:bodyPr wrap="square" lIns="0" tIns="0" rIns="0" bIns="0" rtlCol="0" anchor="ctr"/>
          <a:lstStyle/>
          <a:p>
            <a:pPr marL="0" indent="0">
              <a:lnSpc>
                <a:spcPts val="2000"/>
              </a:lnSpc>
              <a:buNone/>
            </a:pPr>
            <a:r>
              <a:rPr lang="en-US" sz="1500" b="1">
                <a:solidFill>
                  <a:srgbClr val="E2703A"/>
                </a:solidFill>
                <a:latin typeface="Calibri" pitchFamily="34" charset="0"/>
                <a:ea typeface="Calibri" pitchFamily="34" charset="-122"/>
                <a:cs typeface="Calibri" pitchFamily="34" charset="-120"/>
              </a:rPr>
              <a:t>Avg Recall  0,803</a:t>
            </a:r>
          </a:p>
          <a:p>
            <a:pPr marL="0" indent="0">
              <a:lnSpc>
                <a:spcPts val="2000"/>
              </a:lnSpc>
              <a:buNone/>
            </a:pPr>
            <a:r>
              <a:rPr lang="en-US" sz="1500" b="1">
                <a:solidFill>
                  <a:srgbClr val="E2703A"/>
                </a:solidFill>
                <a:latin typeface="Calibri" pitchFamily="34" charset="0"/>
                <a:ea typeface="Calibri" pitchFamily="34" charset="-122"/>
                <a:cs typeface="Calibri" pitchFamily="34" charset="-120"/>
              </a:rPr>
              <a:t>Avg Precision  0,440</a:t>
            </a:r>
          </a:p>
          <a:p>
            <a:pPr marL="0" indent="0">
              <a:lnSpc>
                <a:spcPts val="2000"/>
              </a:lnSpc>
              <a:buNone/>
            </a:pPr>
            <a:r>
              <a:rPr lang="en-US" sz="1500" b="1">
                <a:solidFill>
                  <a:srgbClr val="E2703A"/>
                </a:solidFill>
                <a:latin typeface="Calibri" pitchFamily="34" charset="0"/>
                <a:ea typeface="Calibri" pitchFamily="34" charset="-122"/>
                <a:cs typeface="Calibri" pitchFamily="34" charset="-120"/>
              </a:rPr>
              <a:t>Avg AUC  0,817</a:t>
            </a:r>
            <a:endParaRPr lang="en-US" sz="1500" dirty="0"/>
          </a:p>
        </p:txBody>
      </p:sp>
      <p:sp>
        <p:nvSpPr>
          <p:cNvPr id="12" name="Text 10"/>
          <p:cNvSpPr/>
          <p:nvPr/>
        </p:nvSpPr>
        <p:spPr>
          <a:xfrm>
            <a:off x="4873752" y="2359152"/>
            <a:ext cx="3566160" cy="548640"/>
          </a:xfrm>
          <a:prstGeom prst="rect">
            <a:avLst/>
          </a:prstGeom>
          <a:noFill/>
          <a:ln/>
        </p:spPr>
        <p:txBody>
          <a:bodyPr wrap="square" lIns="0" tIns="0" rIns="0" bIns="0" rtlCol="0" anchor="t"/>
          <a:lstStyle/>
          <a:p>
            <a:pPr marL="0" indent="0">
              <a:lnSpc>
                <a:spcPts val="1303"/>
              </a:lnSpc>
              <a:buNone/>
            </a:pPr>
            <a:r>
              <a:rPr lang="en-US" sz="980">
                <a:solidFill>
                  <a:srgbClr val="16202B"/>
                </a:solidFill>
                <a:latin typeface="Calibri" pitchFamily="34" charset="0"/>
                <a:ea typeface="Calibri" pitchFamily="34" charset="-122"/>
                <a:cs typeface="Calibri" pitchFamily="34" charset="-120"/>
              </a:rPr>
              <a:t>Menangkap pola non-linear, tetapi Recall, Precision, dan AUC lebih rendah pada cross-validation final.</a:t>
            </a:r>
            <a:endParaRPr lang="en-US" sz="980" dirty="0"/>
          </a:p>
        </p:txBody>
      </p:sp>
      <p:sp>
        <p:nvSpPr>
          <p:cNvPr id="13" name="Shape 11"/>
          <p:cNvSpPr/>
          <p:nvPr/>
        </p:nvSpPr>
        <p:spPr>
          <a:xfrm>
            <a:off x="502920" y="3127248"/>
            <a:ext cx="8138160" cy="1463040"/>
          </a:xfrm>
          <a:prstGeom prst="roundRect">
            <a:avLst>
              <a:gd name="adj" fmla="val 3750"/>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0" descr="/home/claude/assets/ic_scale_navy.png"/>
          <p:cNvPicPr>
            <a:picLocks noChangeAspect="1"/>
          </p:cNvPicPr>
          <p:nvPr/>
        </p:nvPicPr>
        <p:blipFill>
          <a:blip r:embed="rId3"/>
          <a:stretch>
            <a:fillRect/>
          </a:stretch>
        </p:blipFill>
        <p:spPr>
          <a:xfrm>
            <a:off x="713232" y="3310128"/>
            <a:ext cx="274320" cy="274320"/>
          </a:xfrm>
          <a:prstGeom prst="rect">
            <a:avLst/>
          </a:prstGeom>
        </p:spPr>
      </p:pic>
      <p:sp>
        <p:nvSpPr>
          <p:cNvPr id="15" name="Text 12"/>
          <p:cNvSpPr/>
          <p:nvPr/>
        </p:nvSpPr>
        <p:spPr>
          <a:xfrm>
            <a:off x="1115568" y="3291840"/>
            <a:ext cx="3657600" cy="219456"/>
          </a:xfrm>
          <a:prstGeom prst="rect">
            <a:avLst/>
          </a:prstGeom>
          <a:noFill/>
          <a:ln/>
        </p:spPr>
        <p:txBody>
          <a:bodyPr wrap="square" lIns="0" tIns="0" rIns="0" bIns="0" rtlCol="0" anchor="ctr"/>
          <a:lstStyle/>
          <a:p>
            <a:pPr marL="0" indent="0">
              <a:buNone/>
            </a:pPr>
            <a:r>
              <a:rPr lang="en-US" sz="1250" b="1">
                <a:solidFill>
                  <a:srgbClr val="123A5E"/>
                </a:solidFill>
                <a:latin typeface="Calibri" pitchFamily="34" charset="0"/>
                <a:ea typeface="Calibri" pitchFamily="34" charset="-122"/>
                <a:cs typeface="Calibri" pitchFamily="34" charset="-120"/>
              </a:rPr>
              <a:t>Dasar keputusan akhir</a:t>
            </a:r>
            <a:endParaRPr lang="en-US" sz="1250" dirty="0"/>
          </a:p>
        </p:txBody>
      </p:sp>
      <p:sp>
        <p:nvSpPr>
          <p:cNvPr id="16" name="Text 13"/>
          <p:cNvSpPr/>
          <p:nvPr/>
        </p:nvSpPr>
        <p:spPr>
          <a:xfrm>
            <a:off x="1115568" y="3547872"/>
            <a:ext cx="7360920" cy="1099475"/>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Model dipilih otomatis dari tabel cross-validation</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Syarat: Avg Precision minimal 0,40</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Logistic Regression memiliki Avg Recall tertinggi</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Test: Recall 0,8295 dan Precision 0,4586</a:t>
            </a:r>
            <a:endParaRPr lang="en-US" sz="9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a:solidFill>
                  <a:srgbClr val="123A5E"/>
                </a:solidFill>
                <a:latin typeface="Calibri" pitchFamily="34" charset="0"/>
                <a:ea typeface="Calibri" pitchFamily="34" charset="-122"/>
                <a:cs typeface="Calibri" pitchFamily="34" charset="-120"/>
              </a:rPr>
              <a:t>Cara kerja Logistic Regression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28</a:t>
            </a:r>
            <a:endParaRPr lang="en-US" sz="900" dirty="0"/>
          </a:p>
        </p:txBody>
      </p:sp>
      <p:sp>
        <p:nvSpPr>
          <p:cNvPr id="5" name="Shape 3"/>
          <p:cNvSpPr/>
          <p:nvPr/>
        </p:nvSpPr>
        <p:spPr>
          <a:xfrm>
            <a:off x="502920" y="1097280"/>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71016"/>
            <a:ext cx="347472" cy="347472"/>
          </a:xfrm>
          <a:prstGeom prst="ellipse">
            <a:avLst/>
          </a:prstGeom>
          <a:solidFill>
            <a:srgbClr val="E2703A"/>
          </a:solidFill>
          <a:ln/>
        </p:spPr>
        <p:txBody>
          <a:bodyPr/>
          <a:lstStyle/>
          <a:p>
            <a:endParaRPr lang="en-ID"/>
          </a:p>
        </p:txBody>
      </p:sp>
      <p:sp>
        <p:nvSpPr>
          <p:cNvPr id="7" name="Text 5"/>
          <p:cNvSpPr/>
          <p:nvPr/>
        </p:nvSpPr>
        <p:spPr>
          <a:xfrm>
            <a:off x="658368" y="1316736"/>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15568" y="1197864"/>
            <a:ext cx="4663440" cy="219456"/>
          </a:xfrm>
          <a:prstGeom prst="rect">
            <a:avLst/>
          </a:prstGeom>
          <a:noFill/>
          <a:ln/>
        </p:spPr>
        <p:txBody>
          <a:bodyPr wrap="square" lIns="0" tIns="0" rIns="0" bIns="0" rtlCol="0" anchor="ctr"/>
          <a:lstStyle/>
          <a:p>
            <a:pPr marL="0" indent="0">
              <a:buNone/>
            </a:pPr>
            <a:r>
              <a:rPr lang="en-US" sz="1150" b="1">
                <a:solidFill>
                  <a:srgbClr val="123A5E"/>
                </a:solidFill>
                <a:latin typeface="Calibri" pitchFamily="34" charset="0"/>
                <a:ea typeface="Calibri" pitchFamily="34" charset="-122"/>
                <a:cs typeface="Calibri" pitchFamily="34" charset="-120"/>
              </a:rPr>
              <a:t>Mulai dari fitur hasil preprocessing</a:t>
            </a:r>
            <a:endParaRPr lang="en-US" sz="1150" dirty="0"/>
          </a:p>
        </p:txBody>
      </p:sp>
      <p:sp>
        <p:nvSpPr>
          <p:cNvPr id="9" name="Text 7"/>
          <p:cNvSpPr/>
          <p:nvPr/>
        </p:nvSpPr>
        <p:spPr>
          <a:xfrm>
            <a:off x="1115568" y="1435608"/>
            <a:ext cx="4663440" cy="329184"/>
          </a:xfrm>
          <a:prstGeom prst="rect">
            <a:avLst/>
          </a:prstGeom>
          <a:noFill/>
          <a:ln/>
        </p:spPr>
        <p:txBody>
          <a:bodyPr wrap="square" lIns="0" tIns="0" rIns="0" bIns="0" rtlCol="0" anchor="t"/>
          <a:lstStyle/>
          <a:p>
            <a:pPr marL="0" indent="0">
              <a:lnSpc>
                <a:spcPts val="1197"/>
              </a:lnSpc>
              <a:buNone/>
            </a:pPr>
            <a:r>
              <a:rPr lang="en-US" sz="900">
                <a:solidFill>
                  <a:srgbClr val="6B7885"/>
                </a:solidFill>
                <a:latin typeface="Calibri" pitchFamily="34" charset="0"/>
                <a:ea typeface="Calibri" pitchFamily="34" charset="-122"/>
                <a:cs typeface="Calibri" pitchFamily="34" charset="-120"/>
              </a:rPr>
              <a:t>Fitur numerik distandardisasi dan fitur kategorikal diubah menjadi kolom one-hot.</a:t>
            </a:r>
            <a:endParaRPr lang="en-US" sz="900" dirty="0"/>
          </a:p>
        </p:txBody>
      </p:sp>
      <p:sp>
        <p:nvSpPr>
          <p:cNvPr id="10" name="Shape 8"/>
          <p:cNvSpPr/>
          <p:nvPr/>
        </p:nvSpPr>
        <p:spPr>
          <a:xfrm>
            <a:off x="502920" y="1892808"/>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Shape 9"/>
          <p:cNvSpPr/>
          <p:nvPr/>
        </p:nvSpPr>
        <p:spPr>
          <a:xfrm>
            <a:off x="658368" y="2066544"/>
            <a:ext cx="347472" cy="347472"/>
          </a:xfrm>
          <a:prstGeom prst="ellipse">
            <a:avLst/>
          </a:prstGeom>
          <a:solidFill>
            <a:srgbClr val="E2703A"/>
          </a:solidFill>
          <a:ln/>
        </p:spPr>
        <p:txBody>
          <a:bodyPr/>
          <a:lstStyle/>
          <a:p>
            <a:endParaRPr lang="en-ID"/>
          </a:p>
        </p:txBody>
      </p:sp>
      <p:sp>
        <p:nvSpPr>
          <p:cNvPr id="12" name="Text 10"/>
          <p:cNvSpPr/>
          <p:nvPr/>
        </p:nvSpPr>
        <p:spPr>
          <a:xfrm>
            <a:off x="658368" y="2112264"/>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115568" y="1993392"/>
            <a:ext cx="4663440" cy="219456"/>
          </a:xfrm>
          <a:prstGeom prst="rect">
            <a:avLst/>
          </a:prstGeom>
          <a:noFill/>
          <a:ln/>
        </p:spPr>
        <p:txBody>
          <a:bodyPr wrap="square" lIns="0" tIns="0" rIns="0" bIns="0" rtlCol="0" anchor="ctr"/>
          <a:lstStyle/>
          <a:p>
            <a:pPr marL="0" indent="0">
              <a:buNone/>
            </a:pPr>
            <a:r>
              <a:rPr lang="en-US" sz="1150" b="1">
                <a:solidFill>
                  <a:srgbClr val="123A5E"/>
                </a:solidFill>
                <a:latin typeface="Calibri" pitchFamily="34" charset="0"/>
                <a:ea typeface="Calibri" pitchFamily="34" charset="-122"/>
                <a:cs typeface="Calibri" pitchFamily="34" charset="-120"/>
              </a:rPr>
              <a:t>Hitung skor linear</a:t>
            </a:r>
            <a:endParaRPr lang="en-US" sz="1150" dirty="0"/>
          </a:p>
        </p:txBody>
      </p:sp>
      <p:sp>
        <p:nvSpPr>
          <p:cNvPr id="14" name="Text 12"/>
          <p:cNvSpPr/>
          <p:nvPr/>
        </p:nvSpPr>
        <p:spPr>
          <a:xfrm>
            <a:off x="1115568" y="2231136"/>
            <a:ext cx="4663440" cy="329184"/>
          </a:xfrm>
          <a:prstGeom prst="rect">
            <a:avLst/>
          </a:prstGeom>
          <a:noFill/>
          <a:ln/>
        </p:spPr>
        <p:txBody>
          <a:bodyPr wrap="square" lIns="0" tIns="0" rIns="0" bIns="0" rtlCol="0" anchor="t"/>
          <a:lstStyle/>
          <a:p>
            <a:pPr marL="0" indent="0">
              <a:lnSpc>
                <a:spcPts val="1197"/>
              </a:lnSpc>
              <a:buNone/>
            </a:pPr>
            <a:r>
              <a:rPr lang="en-US" sz="900">
                <a:solidFill>
                  <a:srgbClr val="6B7885"/>
                </a:solidFill>
                <a:latin typeface="Calibri" pitchFamily="34" charset="0"/>
                <a:ea typeface="Calibri" pitchFamily="34" charset="-122"/>
                <a:cs typeface="Calibri" pitchFamily="34" charset="-120"/>
              </a:rPr>
              <a:t>Setiap fitur dikalikan koefisiennya, lalu seluruh kontribusi dijumlahkan bersama intercept.</a:t>
            </a:r>
            <a:endParaRPr lang="en-US" sz="900" dirty="0"/>
          </a:p>
        </p:txBody>
      </p:sp>
      <p:sp>
        <p:nvSpPr>
          <p:cNvPr id="15" name="Shape 13"/>
          <p:cNvSpPr/>
          <p:nvPr/>
        </p:nvSpPr>
        <p:spPr>
          <a:xfrm>
            <a:off x="502920" y="2688336"/>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6" name="Shape 14"/>
          <p:cNvSpPr/>
          <p:nvPr/>
        </p:nvSpPr>
        <p:spPr>
          <a:xfrm>
            <a:off x="658368" y="2862072"/>
            <a:ext cx="347472" cy="347472"/>
          </a:xfrm>
          <a:prstGeom prst="ellipse">
            <a:avLst/>
          </a:prstGeom>
          <a:solidFill>
            <a:srgbClr val="E2703A"/>
          </a:solidFill>
          <a:ln/>
        </p:spPr>
        <p:txBody>
          <a:bodyPr/>
          <a:lstStyle/>
          <a:p>
            <a:endParaRPr lang="en-ID"/>
          </a:p>
        </p:txBody>
      </p:sp>
      <p:sp>
        <p:nvSpPr>
          <p:cNvPr id="17" name="Text 15"/>
          <p:cNvSpPr/>
          <p:nvPr/>
        </p:nvSpPr>
        <p:spPr>
          <a:xfrm>
            <a:off x="658368" y="2907792"/>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115568" y="2788920"/>
            <a:ext cx="4663440" cy="219456"/>
          </a:xfrm>
          <a:prstGeom prst="rect">
            <a:avLst/>
          </a:prstGeom>
          <a:noFill/>
          <a:ln/>
        </p:spPr>
        <p:txBody>
          <a:bodyPr wrap="square" lIns="0" tIns="0" rIns="0" bIns="0" rtlCol="0" anchor="ctr"/>
          <a:lstStyle/>
          <a:p>
            <a:pPr marL="0" indent="0">
              <a:buNone/>
            </a:pPr>
            <a:r>
              <a:rPr lang="en-US" sz="1150" b="1">
                <a:solidFill>
                  <a:srgbClr val="123A5E"/>
                </a:solidFill>
                <a:latin typeface="Calibri" pitchFamily="34" charset="0"/>
                <a:ea typeface="Calibri" pitchFamily="34" charset="-122"/>
                <a:cs typeface="Calibri" pitchFamily="34" charset="-120"/>
              </a:rPr>
              <a:t>Ubah skor menjadi probabilitas</a:t>
            </a:r>
            <a:endParaRPr lang="en-US" sz="1150" dirty="0"/>
          </a:p>
        </p:txBody>
      </p:sp>
      <p:sp>
        <p:nvSpPr>
          <p:cNvPr id="19" name="Text 17"/>
          <p:cNvSpPr/>
          <p:nvPr/>
        </p:nvSpPr>
        <p:spPr>
          <a:xfrm>
            <a:off x="1115568" y="3026664"/>
            <a:ext cx="4663440" cy="329184"/>
          </a:xfrm>
          <a:prstGeom prst="rect">
            <a:avLst/>
          </a:prstGeom>
          <a:noFill/>
          <a:ln/>
        </p:spPr>
        <p:txBody>
          <a:bodyPr wrap="square" lIns="0" tIns="0" rIns="0" bIns="0" rtlCol="0" anchor="t"/>
          <a:lstStyle/>
          <a:p>
            <a:pPr marL="0" indent="0">
              <a:lnSpc>
                <a:spcPts val="1197"/>
              </a:lnSpc>
              <a:buNone/>
            </a:pPr>
            <a:r>
              <a:rPr lang="en-US" sz="900">
                <a:solidFill>
                  <a:srgbClr val="6B7885"/>
                </a:solidFill>
                <a:latin typeface="Calibri" pitchFamily="34" charset="0"/>
                <a:ea typeface="Calibri" pitchFamily="34" charset="-122"/>
                <a:cs typeface="Calibri" pitchFamily="34" charset="-120"/>
              </a:rPr>
              <a:t>Fungsi sigmoid mengubah skor linear menjadi probabilitas pembatalan antara 0 dan 1.</a:t>
            </a:r>
            <a:endParaRPr lang="en-US" sz="900" dirty="0"/>
          </a:p>
        </p:txBody>
      </p:sp>
      <p:sp>
        <p:nvSpPr>
          <p:cNvPr id="20" name="Shape 18"/>
          <p:cNvSpPr/>
          <p:nvPr/>
        </p:nvSpPr>
        <p:spPr>
          <a:xfrm>
            <a:off x="502920" y="3483864"/>
            <a:ext cx="5440680" cy="704088"/>
          </a:xfrm>
          <a:prstGeom prst="roundRect">
            <a:avLst>
              <a:gd name="adj" fmla="val 77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1" name="Shape 19"/>
          <p:cNvSpPr/>
          <p:nvPr/>
        </p:nvSpPr>
        <p:spPr>
          <a:xfrm>
            <a:off x="658368" y="3657600"/>
            <a:ext cx="347472" cy="347472"/>
          </a:xfrm>
          <a:prstGeom prst="ellipse">
            <a:avLst/>
          </a:prstGeom>
          <a:solidFill>
            <a:srgbClr val="E2703A"/>
          </a:solidFill>
          <a:ln/>
        </p:spPr>
        <p:txBody>
          <a:bodyPr/>
          <a:lstStyle/>
          <a:p>
            <a:endParaRPr lang="en-ID"/>
          </a:p>
        </p:txBody>
      </p:sp>
      <p:sp>
        <p:nvSpPr>
          <p:cNvPr id="22" name="Text 20"/>
          <p:cNvSpPr/>
          <p:nvPr/>
        </p:nvSpPr>
        <p:spPr>
          <a:xfrm>
            <a:off x="658368" y="3703320"/>
            <a:ext cx="34747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115568" y="3584448"/>
            <a:ext cx="4663440" cy="219456"/>
          </a:xfrm>
          <a:prstGeom prst="rect">
            <a:avLst/>
          </a:prstGeom>
          <a:noFill/>
          <a:ln/>
        </p:spPr>
        <p:txBody>
          <a:bodyPr wrap="square" lIns="0" tIns="0" rIns="0" bIns="0" rtlCol="0" anchor="ctr"/>
          <a:lstStyle/>
          <a:p>
            <a:pPr marL="0" indent="0">
              <a:buNone/>
            </a:pPr>
            <a:r>
              <a:rPr lang="en-US" sz="1150" b="1">
                <a:solidFill>
                  <a:srgbClr val="123A5E"/>
                </a:solidFill>
                <a:latin typeface="Calibri" pitchFamily="34" charset="0"/>
                <a:ea typeface="Calibri" pitchFamily="34" charset="-122"/>
                <a:cs typeface="Calibri" pitchFamily="34" charset="-120"/>
              </a:rPr>
              <a:t>Bandingkan dengan threshold</a:t>
            </a:r>
            <a:endParaRPr lang="en-US" sz="1150" dirty="0"/>
          </a:p>
        </p:txBody>
      </p:sp>
      <p:sp>
        <p:nvSpPr>
          <p:cNvPr id="24" name="Text 22"/>
          <p:cNvSpPr/>
          <p:nvPr/>
        </p:nvSpPr>
        <p:spPr>
          <a:xfrm>
            <a:off x="1115568" y="3822192"/>
            <a:ext cx="4663440" cy="329184"/>
          </a:xfrm>
          <a:prstGeom prst="rect">
            <a:avLst/>
          </a:prstGeom>
          <a:noFill/>
          <a:ln/>
        </p:spPr>
        <p:txBody>
          <a:bodyPr wrap="square" lIns="0" tIns="0" rIns="0" bIns="0" rtlCol="0" anchor="t"/>
          <a:lstStyle/>
          <a:p>
            <a:pPr marL="0" indent="0">
              <a:lnSpc>
                <a:spcPts val="1197"/>
              </a:lnSpc>
              <a:buNone/>
            </a:pPr>
            <a:r>
              <a:rPr lang="en-US" sz="900">
                <a:solidFill>
                  <a:srgbClr val="6B7885"/>
                </a:solidFill>
                <a:latin typeface="Calibri" pitchFamily="34" charset="0"/>
                <a:ea typeface="Calibri" pitchFamily="34" charset="-122"/>
                <a:cs typeface="Calibri" pitchFamily="34" charset="-120"/>
              </a:rPr>
              <a:t>Pada threshold 0,5, probabilitas minimal 0,5 ditandai sebagai booking berisiko batal.</a:t>
            </a:r>
            <a:endParaRPr lang="en-US" sz="900" dirty="0"/>
          </a:p>
        </p:txBody>
      </p:sp>
      <p:sp>
        <p:nvSpPr>
          <p:cNvPr id="25" name="Shape 23"/>
          <p:cNvSpPr/>
          <p:nvPr/>
        </p:nvSpPr>
        <p:spPr>
          <a:xfrm>
            <a:off x="6126480" y="1097280"/>
            <a:ext cx="2514600" cy="3145536"/>
          </a:xfrm>
          <a:prstGeom prst="roundRect">
            <a:avLst>
              <a:gd name="adj" fmla="val 2182"/>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6" name="Image 0" descr="/home/claude/assets/ic_brain_navy.png"/>
          <p:cNvPicPr>
            <a:picLocks noChangeAspect="1"/>
          </p:cNvPicPr>
          <p:nvPr/>
        </p:nvPicPr>
        <p:blipFill>
          <a:blip r:embed="rId3"/>
          <a:stretch>
            <a:fillRect/>
          </a:stretch>
        </p:blipFill>
        <p:spPr>
          <a:xfrm>
            <a:off x="6327648" y="1280160"/>
            <a:ext cx="274320" cy="274320"/>
          </a:xfrm>
          <a:prstGeom prst="rect">
            <a:avLst/>
          </a:prstGeom>
        </p:spPr>
      </p:pic>
      <p:sp>
        <p:nvSpPr>
          <p:cNvPr id="27" name="Text 24"/>
          <p:cNvSpPr/>
          <p:nvPr/>
        </p:nvSpPr>
        <p:spPr>
          <a:xfrm>
            <a:off x="6327648" y="1627632"/>
            <a:ext cx="21945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Kenapa cocok di sini</a:t>
            </a:r>
            <a:endParaRPr lang="en-US" sz="1250" dirty="0"/>
          </a:p>
        </p:txBody>
      </p:sp>
      <p:sp>
        <p:nvSpPr>
          <p:cNvPr id="28" name="Text 25"/>
          <p:cNvSpPr/>
          <p:nvPr/>
        </p:nvSpPr>
        <p:spPr>
          <a:xfrm>
            <a:off x="6309360" y="1920240"/>
            <a:ext cx="2157984" cy="1384036"/>
          </a:xfrm>
          <a:prstGeom prst="rect">
            <a:avLst/>
          </a:prstGeom>
          <a:noFill/>
          <a:ln/>
        </p:spPr>
        <p:txBody>
          <a:bodyPr wrap="square" lIns="0" tIns="0" rIns="0" bIns="0" rtlCol="0" anchor="t"/>
          <a:lstStyle/>
          <a:p>
            <a:pPr marL="342900" indent="-342900">
              <a:lnSpc>
                <a:spcPts val="1131"/>
              </a:lnSpc>
              <a:spcAft>
                <a:spcPts val="500"/>
              </a:spcAft>
              <a:buSzPct val="100000"/>
              <a:buChar char="•"/>
            </a:pPr>
            <a:r>
              <a:rPr lang="en-US" sz="870">
                <a:solidFill>
                  <a:srgbClr val="16202B"/>
                </a:solidFill>
                <a:latin typeface="Calibri" pitchFamily="34" charset="0"/>
                <a:ea typeface="Calibri" pitchFamily="34" charset="-122"/>
                <a:cs typeface="Calibri" pitchFamily="34" charset="-120"/>
              </a:rPr>
              <a:t>Koefisien memberi arah asosiasi tiap fitur</a:t>
            </a:r>
          </a:p>
          <a:p>
            <a:pPr marL="342900" indent="-342900">
              <a:lnSpc>
                <a:spcPts val="1131"/>
              </a:lnSpc>
              <a:spcAft>
                <a:spcPts val="500"/>
              </a:spcAft>
              <a:buSzPct val="100000"/>
              <a:buChar char="•"/>
            </a:pPr>
            <a:r>
              <a:rPr lang="en-US" sz="870">
                <a:solidFill>
                  <a:srgbClr val="16202B"/>
                </a:solidFill>
                <a:latin typeface="Calibri" pitchFamily="34" charset="0"/>
                <a:ea typeface="Calibri" pitchFamily="34" charset="-122"/>
                <a:cs typeface="Calibri" pitchFamily="34" charset="-120"/>
              </a:rPr>
              <a:t>class_weight='balanced' menangani kelas tidak seimbang</a:t>
            </a:r>
          </a:p>
          <a:p>
            <a:pPr marL="342900" indent="-342900">
              <a:lnSpc>
                <a:spcPts val="1131"/>
              </a:lnSpc>
              <a:spcAft>
                <a:spcPts val="500"/>
              </a:spcAft>
              <a:buSzPct val="100000"/>
              <a:buChar char="•"/>
            </a:pPr>
            <a:r>
              <a:rPr lang="en-US" sz="870">
                <a:solidFill>
                  <a:srgbClr val="16202B"/>
                </a:solidFill>
                <a:latin typeface="Calibri" pitchFamily="34" charset="0"/>
                <a:ea typeface="Calibri" pitchFamily="34" charset="-122"/>
                <a:cs typeface="Calibri" pitchFamily="34" charset="-120"/>
              </a:rPr>
              <a:t>Prediksi cepat dan mudah diterapkan</a:t>
            </a:r>
          </a:p>
          <a:p>
            <a:pPr marL="342900" indent="-342900">
              <a:lnSpc>
                <a:spcPts val="1131"/>
              </a:lnSpc>
              <a:spcAft>
                <a:spcPts val="500"/>
              </a:spcAft>
              <a:buSzPct val="100000"/>
              <a:buChar char="•"/>
            </a:pPr>
            <a:r>
              <a:rPr lang="en-US" sz="870">
                <a:solidFill>
                  <a:srgbClr val="16202B"/>
                </a:solidFill>
                <a:latin typeface="Calibri" pitchFamily="34" charset="0"/>
                <a:ea typeface="Calibri" pitchFamily="34" charset="-122"/>
                <a:cs typeface="Calibri" pitchFamily="34" charset="-120"/>
              </a:rPr>
              <a:t>Threshold dapat disesuaikan dengan kapasitas tim</a:t>
            </a:r>
            <a:endParaRPr lang="en-US" sz="8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MODELING</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Konfigurasi model dan catatan proses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29</a:t>
            </a:r>
            <a:endParaRPr lang="en-US" sz="900" dirty="0"/>
          </a:p>
        </p:txBody>
      </p:sp>
      <p:sp>
        <p:nvSpPr>
          <p:cNvPr id="5" name="Shape 3"/>
          <p:cNvSpPr/>
          <p:nvPr/>
        </p:nvSpPr>
        <p:spPr>
          <a:xfrm>
            <a:off x="502920" y="1097280"/>
            <a:ext cx="3977640" cy="1938528"/>
          </a:xfrm>
          <a:prstGeom prst="roundRect">
            <a:avLst>
              <a:gd name="adj" fmla="val 3158"/>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gear_navy.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27432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Hyperparameter final model</a:t>
            </a:r>
            <a:endParaRPr lang="en-US" sz="1250" dirty="0"/>
          </a:p>
        </p:txBody>
      </p:sp>
      <p:sp>
        <p:nvSpPr>
          <p:cNvPr id="8" name="Text 5"/>
          <p:cNvSpPr/>
          <p:nvPr/>
        </p:nvSpPr>
        <p:spPr>
          <a:xfrm>
            <a:off x="713232" y="1572768"/>
            <a:ext cx="3566160" cy="1481328"/>
          </a:xfrm>
          <a:prstGeom prst="rect">
            <a:avLst/>
          </a:prstGeom>
          <a:noFill/>
          <a:ln/>
        </p:spPr>
        <p:txBody>
          <a:bodyPr wrap="square" lIns="0" tIns="0" rIns="0" bIns="0" rtlCol="0" anchor="t"/>
          <a:lstStyle/>
          <a:p>
            <a:pPr marL="0" indent="0">
              <a:lnSpc>
                <a:spcPts val="1170"/>
              </a:lnSpc>
              <a:buNone/>
            </a:pPr>
            <a:r>
              <a:rPr lang="en-US" sz="880">
                <a:solidFill>
                  <a:srgbClr val="16202B"/>
                </a:solidFill>
                <a:latin typeface="Calibri" pitchFamily="34" charset="0"/>
                <a:ea typeface="Calibri" pitchFamily="34" charset="-122"/>
                <a:cs typeface="Calibri" pitchFamily="34" charset="-120"/>
              </a:rPr>
              <a:t>LogisticRegression</a:t>
            </a:r>
          </a:p>
          <a:p>
            <a:pPr marL="0" indent="0">
              <a:lnSpc>
                <a:spcPts val="1170"/>
              </a:lnSpc>
              <a:buNone/>
            </a:pPr>
            <a:r>
              <a:rPr lang="en-US" sz="880">
                <a:solidFill>
                  <a:srgbClr val="16202B"/>
                </a:solidFill>
                <a:latin typeface="Calibri" pitchFamily="34" charset="0"/>
                <a:ea typeface="Calibri" pitchFamily="34" charset="-122"/>
                <a:cs typeface="Calibri" pitchFamily="34" charset="-120"/>
              </a:rPr>
              <a:t>solver = liblinear</a:t>
            </a:r>
          </a:p>
          <a:p>
            <a:pPr marL="0" indent="0">
              <a:lnSpc>
                <a:spcPts val="1170"/>
              </a:lnSpc>
              <a:buNone/>
            </a:pPr>
            <a:r>
              <a:rPr lang="en-US" sz="880">
                <a:solidFill>
                  <a:srgbClr val="16202B"/>
                </a:solidFill>
                <a:latin typeface="Calibri" pitchFamily="34" charset="0"/>
                <a:ea typeface="Calibri" pitchFamily="34" charset="-122"/>
                <a:cs typeface="Calibri" pitchFamily="34" charset="-120"/>
              </a:rPr>
              <a:t>class_weight = balanced</a:t>
            </a:r>
          </a:p>
          <a:p>
            <a:pPr marL="0" indent="0">
              <a:lnSpc>
                <a:spcPts val="1170"/>
              </a:lnSpc>
              <a:buNone/>
            </a:pPr>
            <a:r>
              <a:rPr lang="en-US" sz="880">
                <a:solidFill>
                  <a:srgbClr val="16202B"/>
                </a:solidFill>
                <a:latin typeface="Calibri" pitchFamily="34" charset="0"/>
                <a:ea typeface="Calibri" pitchFamily="34" charset="-122"/>
                <a:cs typeface="Calibri" pitchFamily="34" charset="-120"/>
              </a:rPr>
              <a:t>random_state = 42</a:t>
            </a:r>
          </a:p>
          <a:p>
            <a:pPr marL="0" indent="0">
              <a:lnSpc>
                <a:spcPts val="1170"/>
              </a:lnSpc>
              <a:buNone/>
            </a:pPr>
            <a:r>
              <a:rPr lang="en-US" sz="880">
                <a:solidFill>
                  <a:srgbClr val="16202B"/>
                </a:solidFill>
                <a:latin typeface="Calibri" pitchFamily="34" charset="0"/>
                <a:ea typeface="Calibri" pitchFamily="34" charset="-122"/>
                <a:cs typeface="Calibri" pitchFamily="34" charset="-120"/>
              </a:rPr>
              <a:t>Parameter lain memakai nilai default.</a:t>
            </a:r>
            <a:endParaRPr lang="en-US" sz="880" dirty="0"/>
          </a:p>
        </p:txBody>
      </p:sp>
      <p:sp>
        <p:nvSpPr>
          <p:cNvPr id="9" name="Shape 6"/>
          <p:cNvSpPr/>
          <p:nvPr/>
        </p:nvSpPr>
        <p:spPr>
          <a:xfrm>
            <a:off x="4663440" y="1097280"/>
            <a:ext cx="3977640" cy="1865376"/>
          </a:xfrm>
          <a:prstGeom prst="roundRect">
            <a:avLst>
              <a:gd name="adj" fmla="val 315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warn_orange.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Belum dilakukan</a:t>
            </a:r>
            <a:endParaRPr lang="en-US" sz="1250" dirty="0"/>
          </a:p>
        </p:txBody>
      </p:sp>
      <p:sp>
        <p:nvSpPr>
          <p:cNvPr id="12" name="Text 8"/>
          <p:cNvSpPr/>
          <p:nvPr/>
        </p:nvSpPr>
        <p:spPr>
          <a:xfrm>
            <a:off x="4873752" y="1627632"/>
            <a:ext cx="3566160" cy="1442557"/>
          </a:xfrm>
          <a:prstGeom prst="rect">
            <a:avLst/>
          </a:prstGeom>
          <a:noFill/>
          <a:ln/>
        </p:spPr>
        <p:txBody>
          <a:bodyPr wrap="square" lIns="0" tIns="0" rIns="0" bIns="0" rtlCol="0" anchor="t"/>
          <a:lstStyle/>
          <a:p>
            <a:pPr marL="342900" indent="-342900">
              <a:lnSpc>
                <a:spcPts val="1196"/>
              </a:lnSpc>
              <a:spcAft>
                <a:spcPts val="500"/>
              </a:spcAft>
              <a:buSzPct val="100000"/>
              <a:buChar char="•"/>
            </a:pPr>
            <a:r>
              <a:rPr lang="en-US" sz="920">
                <a:solidFill>
                  <a:srgbClr val="16202B"/>
                </a:solidFill>
                <a:latin typeface="Calibri" pitchFamily="34" charset="0"/>
                <a:ea typeface="Calibri" pitchFamily="34" charset="-122"/>
                <a:cs typeface="Calibri" pitchFamily="34" charset="-120"/>
              </a:rPr>
              <a:t>Tuning C dan penalty L1/L2</a:t>
            </a:r>
          </a:p>
          <a:p>
            <a:pPr marL="342900" indent="-342900">
              <a:lnSpc>
                <a:spcPts val="1196"/>
              </a:lnSpc>
              <a:spcAft>
                <a:spcPts val="500"/>
              </a:spcAft>
              <a:buSzPct val="100000"/>
              <a:buChar char="•"/>
            </a:pPr>
            <a:r>
              <a:rPr lang="en-US" sz="920">
                <a:solidFill>
                  <a:srgbClr val="16202B"/>
                </a:solidFill>
                <a:latin typeface="Calibri" pitchFamily="34" charset="0"/>
                <a:ea typeface="Calibri" pitchFamily="34" charset="-122"/>
                <a:cs typeface="Calibri" pitchFamily="34" charset="-120"/>
              </a:rPr>
              <a:t>Kalibrasi probabilitas</a:t>
            </a:r>
          </a:p>
          <a:p>
            <a:pPr marL="342900" indent="-342900">
              <a:lnSpc>
                <a:spcPts val="1196"/>
              </a:lnSpc>
              <a:spcAft>
                <a:spcPts val="500"/>
              </a:spcAft>
              <a:buSzPct val="100000"/>
              <a:buChar char="•"/>
            </a:pPr>
            <a:r>
              <a:rPr lang="en-US" sz="920">
                <a:solidFill>
                  <a:srgbClr val="16202B"/>
                </a:solidFill>
                <a:latin typeface="Calibri" pitchFamily="34" charset="0"/>
                <a:ea typeface="Calibri" pitchFamily="34" charset="-122"/>
                <a:cs typeface="Calibri" pitchFamily="34" charset="-120"/>
              </a:rPr>
              <a:t>Bandingkan SMOTE atau undersampling</a:t>
            </a:r>
          </a:p>
          <a:p>
            <a:pPr marL="342900" indent="-342900">
              <a:lnSpc>
                <a:spcPts val="1196"/>
              </a:lnSpc>
              <a:spcAft>
                <a:spcPts val="500"/>
              </a:spcAft>
              <a:buSzPct val="100000"/>
              <a:buChar char="•"/>
            </a:pPr>
            <a:r>
              <a:rPr lang="en-US" sz="920">
                <a:solidFill>
                  <a:srgbClr val="16202B"/>
                </a:solidFill>
                <a:latin typeface="Calibri" pitchFamily="34" charset="0"/>
                <a:ea typeface="Calibri" pitchFamily="34" charset="-122"/>
                <a:cs typeface="Calibri" pitchFamily="34" charset="-120"/>
              </a:rPr>
              <a:t>Uji ulang penghapusan 73.476 baris identik</a:t>
            </a:r>
            <a:endParaRPr lang="en-US" sz="920" dirty="0"/>
          </a:p>
        </p:txBody>
      </p:sp>
      <p:sp>
        <p:nvSpPr>
          <p:cNvPr id="13" name="Shape 9"/>
          <p:cNvSpPr/>
          <p:nvPr/>
        </p:nvSpPr>
        <p:spPr>
          <a:xfrm>
            <a:off x="502920" y="2999232"/>
            <a:ext cx="8138160" cy="1005840"/>
          </a:xfrm>
          <a:prstGeom prst="roundRect">
            <a:avLst>
              <a:gd name="adj" fmla="val 5455"/>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search_navy.png"/>
          <p:cNvPicPr>
            <a:picLocks noChangeAspect="1"/>
          </p:cNvPicPr>
          <p:nvPr/>
        </p:nvPicPr>
        <p:blipFill>
          <a:blip r:embed="rId5"/>
          <a:stretch>
            <a:fillRect/>
          </a:stretch>
        </p:blipFill>
        <p:spPr>
          <a:xfrm>
            <a:off x="713232" y="3182112"/>
            <a:ext cx="256032" cy="256032"/>
          </a:xfrm>
          <a:prstGeom prst="rect">
            <a:avLst/>
          </a:prstGeom>
        </p:spPr>
      </p:pic>
      <p:sp>
        <p:nvSpPr>
          <p:cNvPr id="15" name="Text 10"/>
          <p:cNvSpPr/>
          <p:nvPr/>
        </p:nvSpPr>
        <p:spPr>
          <a:xfrm>
            <a:off x="1097280" y="3163824"/>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Indikasi overfitting / underfitting</a:t>
            </a:r>
            <a:endParaRPr lang="en-US" sz="1250" dirty="0"/>
          </a:p>
        </p:txBody>
      </p:sp>
      <p:sp>
        <p:nvSpPr>
          <p:cNvPr id="16" name="Text 11"/>
          <p:cNvSpPr/>
          <p:nvPr/>
        </p:nvSpPr>
        <p:spPr>
          <a:xfrm>
            <a:off x="1097280" y="3419856"/>
            <a:ext cx="7360920" cy="530352"/>
          </a:xfrm>
          <a:prstGeom prst="rect">
            <a:avLst/>
          </a:prstGeom>
          <a:noFill/>
          <a:ln/>
        </p:spPr>
        <p:txBody>
          <a:bodyPr wrap="square" lIns="0" tIns="0" rIns="0" bIns="0" rtlCol="0" anchor="t"/>
          <a:lstStyle/>
          <a:p>
            <a:pPr marL="0" indent="0">
              <a:lnSpc>
                <a:spcPts val="1277"/>
              </a:lnSpc>
              <a:buNone/>
            </a:pPr>
            <a:r>
              <a:rPr lang="en-US" sz="960">
                <a:solidFill>
                  <a:srgbClr val="16202B"/>
                </a:solidFill>
                <a:latin typeface="Calibri" pitchFamily="34" charset="0"/>
                <a:ea typeface="Calibri" pitchFamily="34" charset="-122"/>
                <a:cs typeface="Calibri" pitchFamily="34" charset="-120"/>
              </a:rPr>
              <a:t>Recall train 0,8217 dan test 0,8295; Precision train 0,4531 dan test 0,4586. Selisih di bawah 0,01 tidak menunjukkan overfitting yang signifikan.</a:t>
            </a:r>
            <a:endParaRPr lang="en-US" sz="960" dirty="0"/>
          </a:p>
        </p:txBody>
      </p:sp>
      <p:sp>
        <p:nvSpPr>
          <p:cNvPr id="17" name="Shape 12"/>
          <p:cNvSpPr/>
          <p:nvPr/>
        </p:nvSpPr>
        <p:spPr>
          <a:xfrm>
            <a:off x="502920" y="4133088"/>
            <a:ext cx="8138160" cy="493776"/>
          </a:xfrm>
          <a:prstGeom prst="roundRect">
            <a:avLst>
              <a:gd name="adj" fmla="val 11111"/>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Text 13"/>
          <p:cNvSpPr/>
          <p:nvPr/>
        </p:nvSpPr>
        <p:spPr>
          <a:xfrm>
            <a:off x="713232" y="4242816"/>
            <a:ext cx="7680960" cy="310896"/>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Model final disimpan sebagai satu file pickle berisi seluruh pipeline (preprocessor + classifier), sehingga preprocessing ikut terbawa saat model dipakai ulang.</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it-IT" sz="2400" b="1">
                <a:solidFill>
                  <a:srgbClr val="123A5E"/>
                </a:solidFill>
                <a:latin typeface="Calibri" pitchFamily="34" charset="0"/>
                <a:ea typeface="Calibri" pitchFamily="34" charset="-122"/>
                <a:cs typeface="Calibri" pitchFamily="34" charset="-120"/>
              </a:rPr>
              <a:t>Model menangkap 399 dari 481 pembatalan pada data uji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30</a:t>
            </a:r>
            <a:endParaRPr lang="en-US" sz="900" dirty="0"/>
          </a:p>
        </p:txBody>
      </p:sp>
      <p:sp>
        <p:nvSpPr>
          <p:cNvPr id="6" name="Shape 3"/>
          <p:cNvSpPr/>
          <p:nvPr/>
        </p:nvSpPr>
        <p:spPr>
          <a:xfrm>
            <a:off x="4754880" y="1078992"/>
            <a:ext cx="3886200" cy="1389888"/>
          </a:xfrm>
          <a:prstGeom prst="roundRect">
            <a:avLst>
              <a:gd name="adj" fmla="val 394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7" name="Text 4"/>
          <p:cNvSpPr/>
          <p:nvPr/>
        </p:nvSpPr>
        <p:spPr>
          <a:xfrm>
            <a:off x="4956048" y="1243584"/>
            <a:ext cx="3474720" cy="237744"/>
          </a:xfrm>
          <a:prstGeom prst="rect">
            <a:avLst/>
          </a:prstGeom>
          <a:noFill/>
          <a:ln/>
        </p:spPr>
        <p:txBody>
          <a:bodyPr wrap="square" lIns="0" tIns="0" rIns="0" bIns="0" rtlCol="0" anchor="ctr"/>
          <a:lstStyle/>
          <a:p>
            <a:pPr marL="0" indent="0">
              <a:buNone/>
            </a:pPr>
            <a:r>
              <a:rPr lang="en-US" sz="1300" b="1">
                <a:solidFill>
                  <a:srgbClr val="B3392E"/>
                </a:solidFill>
                <a:latin typeface="Calibri" pitchFamily="34" charset="0"/>
                <a:ea typeface="Calibri" pitchFamily="34" charset="-122"/>
                <a:cs typeface="Calibri" pitchFamily="34" charset="-120"/>
              </a:rPr>
              <a:t>82 False Negative</a:t>
            </a:r>
            <a:endParaRPr lang="en-US" sz="1300" dirty="0"/>
          </a:p>
        </p:txBody>
      </p:sp>
      <p:sp>
        <p:nvSpPr>
          <p:cNvPr id="8" name="Text 5"/>
          <p:cNvSpPr/>
          <p:nvPr/>
        </p:nvSpPr>
        <p:spPr>
          <a:xfrm>
            <a:off x="4956048" y="1536192"/>
            <a:ext cx="3474720" cy="822960"/>
          </a:xfrm>
          <a:prstGeom prst="rect">
            <a:avLst/>
          </a:prstGeom>
          <a:noFill/>
          <a:ln/>
        </p:spPr>
        <p:txBody>
          <a:bodyPr wrap="square" lIns="0" tIns="0" rIns="0" bIns="0" rtlCol="0" anchor="t"/>
          <a:lstStyle/>
          <a:p>
            <a:pPr marL="0" indent="0">
              <a:lnSpc>
                <a:spcPts val="1330"/>
              </a:lnSpc>
              <a:buNone/>
            </a:pPr>
            <a:r>
              <a:rPr lang="en-US" sz="1000">
                <a:solidFill>
                  <a:srgbClr val="16202B"/>
                </a:solidFill>
                <a:latin typeface="Calibri" pitchFamily="34" charset="0"/>
                <a:ea typeface="Calibri" pitchFamily="34" charset="-122"/>
                <a:cs typeface="Calibri" pitchFamily="34" charset="-120"/>
              </a:rPr>
              <a:t>Booking yang batal namun lolos deteksi, setara 17,0% dari pembatalan pada data uji.</a:t>
            </a:r>
            <a:endParaRPr lang="en-US" sz="1000" dirty="0"/>
          </a:p>
        </p:txBody>
      </p:sp>
      <p:sp>
        <p:nvSpPr>
          <p:cNvPr id="9" name="Shape 6"/>
          <p:cNvSpPr/>
          <p:nvPr/>
        </p:nvSpPr>
        <p:spPr>
          <a:xfrm>
            <a:off x="4754880" y="2615184"/>
            <a:ext cx="3886200" cy="1389888"/>
          </a:xfrm>
          <a:prstGeom prst="roundRect">
            <a:avLst>
              <a:gd name="adj" fmla="val 3947"/>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0" name="Text 7"/>
          <p:cNvSpPr/>
          <p:nvPr/>
        </p:nvSpPr>
        <p:spPr>
          <a:xfrm>
            <a:off x="4956048" y="2779776"/>
            <a:ext cx="3474720" cy="237744"/>
          </a:xfrm>
          <a:prstGeom prst="rect">
            <a:avLst/>
          </a:prstGeom>
          <a:noFill/>
          <a:ln/>
        </p:spPr>
        <p:txBody>
          <a:bodyPr wrap="square" lIns="0" tIns="0" rIns="0" bIns="0" rtlCol="0" anchor="ctr"/>
          <a:lstStyle/>
          <a:p>
            <a:pPr marL="0" indent="0">
              <a:buNone/>
            </a:pPr>
            <a:r>
              <a:rPr lang="en-US" sz="1300" b="1">
                <a:solidFill>
                  <a:srgbClr val="123A5E"/>
                </a:solidFill>
                <a:latin typeface="Calibri" pitchFamily="34" charset="0"/>
                <a:ea typeface="Calibri" pitchFamily="34" charset="-122"/>
                <a:cs typeface="Calibri" pitchFamily="34" charset="-120"/>
              </a:rPr>
              <a:t>471 False Positive</a:t>
            </a:r>
            <a:endParaRPr lang="en-US" sz="1300" dirty="0"/>
          </a:p>
        </p:txBody>
      </p:sp>
      <p:sp>
        <p:nvSpPr>
          <p:cNvPr id="11" name="Text 8"/>
          <p:cNvSpPr/>
          <p:nvPr/>
        </p:nvSpPr>
        <p:spPr>
          <a:xfrm>
            <a:off x="4956048" y="3072384"/>
            <a:ext cx="3474720" cy="822960"/>
          </a:xfrm>
          <a:prstGeom prst="rect">
            <a:avLst/>
          </a:prstGeom>
          <a:noFill/>
          <a:ln/>
        </p:spPr>
        <p:txBody>
          <a:bodyPr wrap="square" lIns="0" tIns="0" rIns="0" bIns="0" rtlCol="0" anchor="t"/>
          <a:lstStyle/>
          <a:p>
            <a:pPr marL="0" indent="0">
              <a:lnSpc>
                <a:spcPts val="1330"/>
              </a:lnSpc>
              <a:buNone/>
            </a:pPr>
            <a:r>
              <a:rPr lang="en-US" sz="1000">
                <a:solidFill>
                  <a:srgbClr val="16202B"/>
                </a:solidFill>
                <a:latin typeface="Calibri" pitchFamily="34" charset="0"/>
                <a:ea typeface="Calibri" pitchFamily="34" charset="-122"/>
                <a:cs typeface="Calibri" pitchFamily="34" charset="-120"/>
              </a:rPr>
              <a:t>Booking aman yang ikut ditandai. Dari 870 booking berisiko, 471 ternyata tetap menginap.</a:t>
            </a:r>
            <a:endParaRPr lang="en-US" sz="1000" dirty="0"/>
          </a:p>
        </p:txBody>
      </p:sp>
      <p:sp>
        <p:nvSpPr>
          <p:cNvPr id="12" name="Text 9"/>
          <p:cNvSpPr/>
          <p:nvPr/>
        </p:nvSpPr>
        <p:spPr>
          <a:xfrm>
            <a:off x="566928" y="4187952"/>
            <a:ext cx="8074152" cy="219456"/>
          </a:xfrm>
          <a:prstGeom prst="rect">
            <a:avLst/>
          </a:prstGeom>
          <a:noFill/>
          <a:ln/>
        </p:spPr>
        <p:txBody>
          <a:bodyPr wrap="square" lIns="0" tIns="0" rIns="0" bIns="0" rtlCol="0" anchor="t"/>
          <a:lstStyle/>
          <a:p>
            <a:pPr marL="0" indent="0">
              <a:lnSpc>
                <a:spcPts val="1264"/>
              </a:lnSpc>
              <a:buNone/>
            </a:pPr>
            <a:r>
              <a:rPr lang="en-US" sz="950">
                <a:solidFill>
                  <a:srgbClr val="6B7885"/>
                </a:solidFill>
                <a:latin typeface="Calibri" pitchFamily="34" charset="0"/>
                <a:ea typeface="Calibri" pitchFamily="34" charset="-122"/>
                <a:cs typeface="Calibri" pitchFamily="34" charset="-120"/>
              </a:rPr>
              <a:t>Test set: 2.020 booking | Recall 0,830 | Precision 0,459 | F1 0,591 | Accuracy 0,726</a:t>
            </a:r>
            <a:endParaRPr lang="en-US" sz="950" dirty="0"/>
          </a:p>
        </p:txBody>
      </p:sp>
      <p:graphicFrame>
        <p:nvGraphicFramePr>
          <p:cNvPr id="13" name="Table 12">
            <a:extLst>
              <a:ext uri="{FF2B5EF4-FFF2-40B4-BE49-F238E27FC236}">
                <a16:creationId xmlns:a16="http://schemas.microsoft.com/office/drawing/2014/main" id="{E2611C43-9C12-CF5E-57A2-DD405444630F}"/>
              </a:ext>
            </a:extLst>
          </p:cNvPr>
          <p:cNvGraphicFramePr>
            <a:graphicFrameLocks noGrp="1"/>
          </p:cNvGraphicFramePr>
          <p:nvPr>
            <p:extLst>
              <p:ext uri="{D42A27DB-BD31-4B8C-83A1-F6EECF244321}">
                <p14:modId xmlns:p14="http://schemas.microsoft.com/office/powerpoint/2010/main" val="1516171740"/>
              </p:ext>
            </p:extLst>
          </p:nvPr>
        </p:nvGraphicFramePr>
        <p:xfrm>
          <a:off x="566928" y="1078992"/>
          <a:ext cx="3886200" cy="2971800"/>
        </p:xfrm>
        <a:graphic>
          <a:graphicData uri="http://schemas.openxmlformats.org/drawingml/2006/table">
            <a:tbl>
              <a:tblPr firstRow="1" bandRow="1">
                <a:tableStyleId>{5C22544A-7EE6-4342-B048-85BDC9FD1C3A}</a:tableStyleId>
              </a:tblPr>
              <a:tblGrid>
                <a:gridCol w="1709928">
                  <a:extLst>
                    <a:ext uri="{9D8B030D-6E8A-4147-A177-3AD203B41FA5}">
                      <a16:colId xmlns:a16="http://schemas.microsoft.com/office/drawing/2014/main" val="2995493876"/>
                    </a:ext>
                  </a:extLst>
                </a:gridCol>
                <a:gridCol w="1088136">
                  <a:extLst>
                    <a:ext uri="{9D8B030D-6E8A-4147-A177-3AD203B41FA5}">
                      <a16:colId xmlns:a16="http://schemas.microsoft.com/office/drawing/2014/main" val="3582738968"/>
                    </a:ext>
                  </a:extLst>
                </a:gridCol>
                <a:gridCol w="1088136">
                  <a:extLst>
                    <a:ext uri="{9D8B030D-6E8A-4147-A177-3AD203B41FA5}">
                      <a16:colId xmlns:a16="http://schemas.microsoft.com/office/drawing/2014/main" val="1132456960"/>
                    </a:ext>
                  </a:extLst>
                </a:gridCol>
              </a:tblGrid>
              <a:tr h="990600">
                <a:tc>
                  <a:txBody>
                    <a:bodyPr/>
                    <a:lstStyle/>
                    <a:p>
                      <a:r>
                        <a:rPr lang="en-ID" sz="1300" b="1">
                          <a:solidFill>
                            <a:srgbClr val="FFFFFF"/>
                          </a:solidFill>
                          <a:latin typeface="Aptos" panose="020B0004020202020204" pitchFamily="34" charset="0"/>
                        </a:rPr>
                        <a:t>Aktual / Prediksi</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Tidak batal</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Batal</a:t>
                      </a:r>
                    </a:p>
                  </a:txBody>
                  <a:tcPr marL="63500" marR="63500" marT="38100" marB="38100">
                    <a:solidFill>
                      <a:srgbClr val="144063"/>
                    </a:solidFill>
                  </a:tcPr>
                </a:tc>
                <a:extLst>
                  <a:ext uri="{0D108BD9-81ED-4DB2-BD59-A6C34878D82A}">
                    <a16:rowId xmlns:a16="http://schemas.microsoft.com/office/drawing/2014/main" val="2541166038"/>
                  </a:ext>
                </a:extLst>
              </a:tr>
              <a:tr h="990600">
                <a:tc>
                  <a:txBody>
                    <a:bodyPr/>
                    <a:lstStyle/>
                    <a:p>
                      <a:r>
                        <a:rPr lang="en-ID" sz="1300">
                          <a:latin typeface="Aptos" panose="020B0004020202020204" pitchFamily="34" charset="0"/>
                        </a:rPr>
                        <a:t>Tidak batal</a:t>
                      </a:r>
                    </a:p>
                  </a:txBody>
                  <a:tcPr marL="63500" marR="63500" marT="38100" marB="38100">
                    <a:solidFill>
                      <a:srgbClr val="EEF4F8"/>
                    </a:solidFill>
                  </a:tcPr>
                </a:tc>
                <a:tc>
                  <a:txBody>
                    <a:bodyPr/>
                    <a:lstStyle/>
                    <a:p>
                      <a:r>
                        <a:rPr lang="en-ID" sz="1300">
                          <a:latin typeface="Aptos" panose="020B0004020202020204" pitchFamily="34" charset="0"/>
                        </a:rPr>
                        <a:t>1.068 TN</a:t>
                      </a:r>
                    </a:p>
                  </a:txBody>
                  <a:tcPr marL="63500" marR="63500" marT="38100" marB="38100">
                    <a:solidFill>
                      <a:srgbClr val="EEF4F8"/>
                    </a:solidFill>
                  </a:tcPr>
                </a:tc>
                <a:tc>
                  <a:txBody>
                    <a:bodyPr/>
                    <a:lstStyle/>
                    <a:p>
                      <a:r>
                        <a:rPr lang="en-ID" sz="1300">
                          <a:latin typeface="Aptos" panose="020B0004020202020204" pitchFamily="34" charset="0"/>
                        </a:rPr>
                        <a:t>471 FP</a:t>
                      </a:r>
                    </a:p>
                  </a:txBody>
                  <a:tcPr marL="63500" marR="63500" marT="38100" marB="38100">
                    <a:solidFill>
                      <a:srgbClr val="EEF4F8"/>
                    </a:solidFill>
                  </a:tcPr>
                </a:tc>
                <a:extLst>
                  <a:ext uri="{0D108BD9-81ED-4DB2-BD59-A6C34878D82A}">
                    <a16:rowId xmlns:a16="http://schemas.microsoft.com/office/drawing/2014/main" val="3152224006"/>
                  </a:ext>
                </a:extLst>
              </a:tr>
              <a:tr h="990600">
                <a:tc>
                  <a:txBody>
                    <a:bodyPr/>
                    <a:lstStyle/>
                    <a:p>
                      <a:r>
                        <a:rPr lang="en-ID" sz="1300">
                          <a:latin typeface="Aptos" panose="020B0004020202020204" pitchFamily="34" charset="0"/>
                        </a:rPr>
                        <a:t>Batal</a:t>
                      </a:r>
                    </a:p>
                  </a:txBody>
                  <a:tcPr marL="63500" marR="63500" marT="38100" marB="38100">
                    <a:solidFill>
                      <a:srgbClr val="FFFFFF"/>
                    </a:solidFill>
                  </a:tcPr>
                </a:tc>
                <a:tc>
                  <a:txBody>
                    <a:bodyPr/>
                    <a:lstStyle/>
                    <a:p>
                      <a:r>
                        <a:rPr lang="en-ID" sz="1300">
                          <a:latin typeface="Aptos" panose="020B0004020202020204" pitchFamily="34" charset="0"/>
                        </a:rPr>
                        <a:t>82 FN</a:t>
                      </a:r>
                    </a:p>
                  </a:txBody>
                  <a:tcPr marL="63500" marR="63500" marT="38100" marB="38100">
                    <a:solidFill>
                      <a:srgbClr val="FFFFFF"/>
                    </a:solidFill>
                  </a:tcPr>
                </a:tc>
                <a:tc>
                  <a:txBody>
                    <a:bodyPr/>
                    <a:lstStyle/>
                    <a:p>
                      <a:r>
                        <a:rPr lang="en-ID" sz="1300">
                          <a:latin typeface="Aptos" panose="020B0004020202020204" pitchFamily="34" charset="0"/>
                        </a:rPr>
                        <a:t>399 TP</a:t>
                      </a:r>
                    </a:p>
                  </a:txBody>
                  <a:tcPr marL="63500" marR="63500" marT="38100" marB="38100">
                    <a:solidFill>
                      <a:srgbClr val="FFFFFF"/>
                    </a:solidFill>
                  </a:tcPr>
                </a:tc>
                <a:extLst>
                  <a:ext uri="{0D108BD9-81ED-4DB2-BD59-A6C34878D82A}">
                    <a16:rowId xmlns:a16="http://schemas.microsoft.com/office/drawing/2014/main" val="91399185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EVALUASI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Recall kedua kelas kini jauh lebih seimbang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31</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Classification report Logistic Regression pada test set (2.020 baris).</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138160" cy="1865376"/>
        </p:xfrm>
        <a:graphic>
          <a:graphicData uri="http://schemas.openxmlformats.org/drawingml/2006/table">
            <a:tbl>
              <a:tblPr/>
              <a:tblGrid>
                <a:gridCol w="28346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310896">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Precision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Recall</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F1-Score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tc>
                  <a:txBody>
                    <a:bodyPr/>
                    <a:lstStyle/>
                    <a:p>
                      <a:pPr marL="0" indent="0">
                        <a:buNone/>
                      </a:pPr>
                      <a:r>
                        <a:rPr lang="en-US" sz="980" b="1" dirty="0">
                          <a:solidFill>
                            <a:srgbClr val="FFFFFF"/>
                          </a:solidFill>
                          <a:latin typeface="Calibri" pitchFamily="34" charset="0"/>
                          <a:ea typeface="Calibri" pitchFamily="34" charset="-122"/>
                          <a:cs typeface="Calibri" pitchFamily="34" charset="-120"/>
                        </a:rPr>
                        <a:t>Support</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123A5E"/>
                    </a:solidFill>
                  </a:tcPr>
                </a:tc>
                <a:extLst>
                  <a:ext uri="{0D108BD9-81ED-4DB2-BD59-A6C34878D82A}">
                    <a16:rowId xmlns:a16="http://schemas.microsoft.com/office/drawing/2014/main" val="10000"/>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Kelas 0 — tidak dibatalkan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0,92</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1.539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Kelas 1 — dibatalkan</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0,47</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0,59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481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Accuracy</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0,73</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Macro average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0,69</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0,76</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Weighted average</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0,81</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0,73</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0,75</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16202B"/>
                          </a:solidFill>
                          <a:latin typeface="Calibri" pitchFamily="34" charset="0"/>
                          <a:ea typeface="Calibri" pitchFamily="34" charset="-122"/>
                          <a:cs typeface="Calibri" pitchFamily="34" charset="-120"/>
                        </a:rPr>
                        <a:t>2.020</a:t>
                      </a:r>
                      <a:endParaRPr lang="en-US" sz="980" dirty="0">
                        <a:latin typeface="Calibri" charset="0"/>
                        <a:ea typeface="Calibri" charset="0"/>
                        <a:cs typeface="Calibri" charset="0"/>
                      </a:endParaRPr>
                    </a:p>
                  </a:txBody>
                  <a:tcPr marL="76200" marR="76200" marT="25400" marB="25400" anchor="ctr">
                    <a:lnL w="6350" cap="flat" cmpd="sng" algn="ctr">
                      <a:solidFill>
                        <a:srgbClr val="D8E0E8"/>
                      </a:solidFill>
                      <a:prstDash val="solid"/>
                      <a:round/>
                      <a:headEnd type="none" w="med" len="med"/>
                      <a:tailEnd type="none" w="med" len="med"/>
                    </a:lnL>
                    <a:lnR w="6350" cap="flat" cmpd="sng" algn="ctr">
                      <a:solidFill>
                        <a:srgbClr val="D8E0E8"/>
                      </a:solidFill>
                      <a:prstDash val="solid"/>
                      <a:round/>
                      <a:headEnd type="none" w="med" len="med"/>
                      <a:tailEnd type="none" w="med" len="med"/>
                    </a:lnR>
                    <a:lnT w="6350" cap="flat" cmpd="sng" algn="ctr">
                      <a:solidFill>
                        <a:srgbClr val="D8E0E8"/>
                      </a:solidFill>
                      <a:prstDash val="solid"/>
                      <a:round/>
                      <a:headEnd type="none" w="med" len="med"/>
                      <a:tailEnd type="none" w="med" len="med"/>
                    </a:lnT>
                    <a:lnB w="635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3310128"/>
            <a:ext cx="3977640" cy="1005840"/>
          </a:xfrm>
          <a:prstGeom prst="roundRect">
            <a:avLst>
              <a:gd name="adj" fmla="val 5455"/>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8" name="Text 5"/>
          <p:cNvSpPr/>
          <p:nvPr/>
        </p:nvSpPr>
        <p:spPr>
          <a:xfrm>
            <a:off x="713232" y="3474720"/>
            <a:ext cx="3566160" cy="237744"/>
          </a:xfrm>
          <a:prstGeom prst="rect">
            <a:avLst/>
          </a:prstGeom>
          <a:noFill/>
          <a:ln/>
        </p:spPr>
        <p:txBody>
          <a:bodyPr wrap="square" lIns="0" tIns="0" rIns="0" bIns="0" rtlCol="0" anchor="ctr"/>
          <a:lstStyle/>
          <a:p>
            <a:pPr marL="0" indent="0">
              <a:buNone/>
            </a:pPr>
            <a:r>
              <a:rPr lang="en-US" sz="1200" b="1" dirty="0">
                <a:solidFill>
                  <a:srgbClr val="2F7D5E"/>
                </a:solidFill>
                <a:latin typeface="Calibri" pitchFamily="34" charset="0"/>
                <a:ea typeface="Calibri" pitchFamily="34" charset="-122"/>
                <a:cs typeface="Calibri" pitchFamily="34" charset="-120"/>
              </a:rPr>
              <a:t>Kesenjangan menyempit</a:t>
            </a:r>
            <a:endParaRPr lang="en-US" sz="1200" dirty="0"/>
          </a:p>
        </p:txBody>
      </p:sp>
      <p:sp>
        <p:nvSpPr>
          <p:cNvPr id="9" name="Text 6"/>
          <p:cNvSpPr/>
          <p:nvPr/>
        </p:nvSpPr>
        <p:spPr>
          <a:xfrm>
            <a:off x="713232" y="3749040"/>
            <a:ext cx="3566160" cy="512064"/>
          </a:xfrm>
          <a:prstGeom prst="rect">
            <a:avLst/>
          </a:prstGeom>
          <a:noFill/>
          <a:ln/>
        </p:spPr>
        <p:txBody>
          <a:bodyPr wrap="square" lIns="0" tIns="0" rIns="0" bIns="0" rtlCol="0" anchor="t"/>
          <a:lstStyle/>
          <a:p>
            <a:pPr marL="0" indent="0">
              <a:lnSpc>
                <a:spcPts val="1264"/>
              </a:lnSpc>
              <a:buNone/>
            </a:pPr>
            <a:r>
              <a:rPr lang="en-US" sz="950">
                <a:solidFill>
                  <a:srgbClr val="16202B"/>
                </a:solidFill>
                <a:latin typeface="Calibri" pitchFamily="34" charset="0"/>
                <a:ea typeface="Calibri" pitchFamily="34" charset="-122"/>
                <a:cs typeface="Calibri" pitchFamily="34" charset="-120"/>
              </a:rPr>
              <a:t>Recall kelas 0 dan kelas 1 adalah 0,69 dan 0,83. Macro average Recall mencapai 0,76.</a:t>
            </a:r>
            <a:endParaRPr lang="en-US" sz="950" dirty="0"/>
          </a:p>
        </p:txBody>
      </p:sp>
      <p:sp>
        <p:nvSpPr>
          <p:cNvPr id="10" name="Shape 7"/>
          <p:cNvSpPr/>
          <p:nvPr/>
        </p:nvSpPr>
        <p:spPr>
          <a:xfrm>
            <a:off x="4663440" y="3310128"/>
            <a:ext cx="3977640" cy="1005840"/>
          </a:xfrm>
          <a:prstGeom prst="roundRect">
            <a:avLst>
              <a:gd name="adj" fmla="val 5455"/>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Text 8"/>
          <p:cNvSpPr/>
          <p:nvPr/>
        </p:nvSpPr>
        <p:spPr>
          <a:xfrm>
            <a:off x="4873752" y="3474720"/>
            <a:ext cx="3566160" cy="237744"/>
          </a:xfrm>
          <a:prstGeom prst="rect">
            <a:avLst/>
          </a:prstGeom>
          <a:noFill/>
          <a:ln/>
        </p:spPr>
        <p:txBody>
          <a:bodyPr wrap="square" lIns="0" tIns="0" rIns="0" bIns="0" rtlCol="0" anchor="ctr"/>
          <a:lstStyle/>
          <a:p>
            <a:pPr marL="0" indent="0">
              <a:buNone/>
            </a:pPr>
            <a:r>
              <a:rPr lang="en-US" sz="1200" b="1" dirty="0">
                <a:solidFill>
                  <a:srgbClr val="123A5E"/>
                </a:solidFill>
                <a:latin typeface="Calibri" pitchFamily="34" charset="0"/>
                <a:ea typeface="Calibri" pitchFamily="34" charset="-122"/>
                <a:cs typeface="Calibri" pitchFamily="34" charset="-120"/>
              </a:rPr>
              <a:t>Accuracy justru turun</a:t>
            </a:r>
            <a:endParaRPr lang="en-US" sz="1200" dirty="0"/>
          </a:p>
        </p:txBody>
      </p:sp>
      <p:sp>
        <p:nvSpPr>
          <p:cNvPr id="12" name="Text 9"/>
          <p:cNvSpPr/>
          <p:nvPr/>
        </p:nvSpPr>
        <p:spPr>
          <a:xfrm>
            <a:off x="4873752" y="3749040"/>
            <a:ext cx="3566160" cy="512064"/>
          </a:xfrm>
          <a:prstGeom prst="rect">
            <a:avLst/>
          </a:prstGeom>
          <a:noFill/>
          <a:ln/>
        </p:spPr>
        <p:txBody>
          <a:bodyPr wrap="square" lIns="0" tIns="0" rIns="0" bIns="0" rtlCol="0" anchor="t"/>
          <a:lstStyle/>
          <a:p>
            <a:pPr marL="0" indent="0">
              <a:lnSpc>
                <a:spcPts val="1264"/>
              </a:lnSpc>
              <a:buNone/>
            </a:pPr>
            <a:r>
              <a:rPr lang="en-US" sz="950">
                <a:solidFill>
                  <a:srgbClr val="16202B"/>
                </a:solidFill>
                <a:latin typeface="Calibri" pitchFamily="34" charset="0"/>
                <a:ea typeface="Calibri" pitchFamily="34" charset="-122"/>
                <a:cs typeface="Calibri" pitchFamily="34" charset="-120"/>
              </a:rPr>
              <a:t>Accuracy model sekitar 0,73. Angka ini bukan metrik utama karena kelas tidak batal mendominasi 76,2% data.</a:t>
            </a:r>
            <a:endParaRPr lang="en-US" sz="950" dirty="0"/>
          </a:p>
        </p:txBody>
      </p:sp>
      <p:sp>
        <p:nvSpPr>
          <p:cNvPr id="13" name="Text 10"/>
          <p:cNvSpPr/>
          <p:nvPr/>
        </p:nvSpPr>
        <p:spPr>
          <a:xfrm>
            <a:off x="502920" y="4407408"/>
            <a:ext cx="7635240" cy="292608"/>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Macro average: Precision 0,69, Recall 0,76, dan F1 0,69. Weighted F1 sebesar 0,75 masih dipengaruhi kelas mayoritas.</a:t>
            </a:r>
            <a:endParaRPr lang="en-US" sz="9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PELUANG PERBAIKAN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Threshold menentukan beban kerja tim intervensi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32</a:t>
            </a:r>
            <a:endParaRPr lang="en-US" sz="900" dirty="0"/>
          </a:p>
        </p:txBody>
      </p:sp>
      <p:sp>
        <p:nvSpPr>
          <p:cNvPr id="5" name="Text 3"/>
          <p:cNvSpPr/>
          <p:nvPr/>
        </p:nvSpPr>
        <p:spPr>
          <a:xfrm>
            <a:off x="502920" y="950976"/>
            <a:ext cx="8138160" cy="256032"/>
          </a:xfrm>
          <a:prstGeom prst="rect">
            <a:avLst/>
          </a:prstGeom>
          <a:noFill/>
          <a:ln/>
        </p:spPr>
        <p:txBody>
          <a:bodyPr wrap="square" lIns="0" tIns="0" rIns="0" bIns="0" rtlCol="0" anchor="t"/>
          <a:lstStyle/>
          <a:p>
            <a:pPr marL="0" indent="0">
              <a:lnSpc>
                <a:spcPts val="1397"/>
              </a:lnSpc>
              <a:buNone/>
            </a:pPr>
            <a:r>
              <a:rPr lang="en-US" sz="1050" dirty="0">
                <a:solidFill>
                  <a:srgbClr val="6B7885"/>
                </a:solidFill>
                <a:latin typeface="Calibri" pitchFamily="34" charset="0"/>
                <a:ea typeface="Calibri" pitchFamily="34" charset="-122"/>
                <a:cs typeface="Calibri" pitchFamily="34" charset="-120"/>
              </a:rPr>
              <a:t>Hasil threshold tuning aktual pada data uji. Angka abu-abu adalah jumlah booking yang harus dihubungi tim.</a:t>
            </a:r>
            <a:endParaRPr lang="en-US" sz="1050" dirty="0"/>
          </a:p>
        </p:txBody>
      </p:sp>
      <p:sp>
        <p:nvSpPr>
          <p:cNvPr id="7" name="Shape 4"/>
          <p:cNvSpPr/>
          <p:nvPr/>
        </p:nvSpPr>
        <p:spPr>
          <a:xfrm>
            <a:off x="6080760" y="1225296"/>
            <a:ext cx="2560320" cy="2148840"/>
          </a:xfrm>
          <a:prstGeom prst="roundRect">
            <a:avLst>
              <a:gd name="adj" fmla="val 255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cale_navy.png"/>
          <p:cNvPicPr>
            <a:picLocks noChangeAspect="1"/>
          </p:cNvPicPr>
          <p:nvPr/>
        </p:nvPicPr>
        <p:blipFill>
          <a:blip r:embed="rId3"/>
          <a:stretch>
            <a:fillRect/>
          </a:stretch>
        </p:blipFill>
        <p:spPr>
          <a:xfrm>
            <a:off x="6263640" y="1389888"/>
            <a:ext cx="256032" cy="256032"/>
          </a:xfrm>
          <a:prstGeom prst="rect">
            <a:avLst/>
          </a:prstGeom>
        </p:spPr>
      </p:pic>
      <p:sp>
        <p:nvSpPr>
          <p:cNvPr id="9" name="Text 5"/>
          <p:cNvSpPr/>
          <p:nvPr/>
        </p:nvSpPr>
        <p:spPr>
          <a:xfrm>
            <a:off x="6263640" y="1719072"/>
            <a:ext cx="22860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Cara memilih ambang</a:t>
            </a:r>
            <a:endParaRPr lang="en-US" sz="1250" dirty="0"/>
          </a:p>
        </p:txBody>
      </p:sp>
      <p:sp>
        <p:nvSpPr>
          <p:cNvPr id="10" name="Text 6"/>
          <p:cNvSpPr/>
          <p:nvPr/>
        </p:nvSpPr>
        <p:spPr>
          <a:xfrm>
            <a:off x="6245352" y="2011680"/>
            <a:ext cx="2240280" cy="1029249"/>
          </a:xfrm>
          <a:prstGeom prst="rect">
            <a:avLst/>
          </a:prstGeom>
          <a:noFill/>
          <a:ln/>
        </p:spPr>
        <p:txBody>
          <a:bodyPr wrap="square" lIns="0" tIns="0" rIns="0" bIns="0" rtlCol="0" anchor="t"/>
          <a:lstStyle/>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Threshold 0,3: Recall 0,967; 1.210 booking</a:t>
            </a:r>
          </a:p>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Threshold 0,5: Recall 0,830; 870 booking</a:t>
            </a:r>
          </a:p>
          <a:p>
            <a:pPr marL="342900" indent="-342900">
              <a:lnSpc>
                <a:spcPts val="1118"/>
              </a:lnSpc>
              <a:spcAft>
                <a:spcPts val="500"/>
              </a:spcAft>
              <a:buSzPct val="100000"/>
              <a:buChar char="•"/>
            </a:pPr>
            <a:r>
              <a:rPr lang="en-US" sz="860">
                <a:solidFill>
                  <a:srgbClr val="16202B"/>
                </a:solidFill>
                <a:latin typeface="Calibri" pitchFamily="34" charset="0"/>
                <a:ea typeface="Calibri" pitchFamily="34" charset="-122"/>
                <a:cs typeface="Calibri" pitchFamily="34" charset="-120"/>
              </a:rPr>
              <a:t>Threshold 0,7: Recall 0,501; 435 booking</a:t>
            </a:r>
            <a:endParaRPr lang="en-US" sz="860" dirty="0"/>
          </a:p>
        </p:txBody>
      </p:sp>
      <p:sp>
        <p:nvSpPr>
          <p:cNvPr id="11" name="Shape 7"/>
          <p:cNvSpPr/>
          <p:nvPr/>
        </p:nvSpPr>
        <p:spPr>
          <a:xfrm>
            <a:off x="502920" y="3493008"/>
            <a:ext cx="8138160" cy="1133856"/>
          </a:xfrm>
          <a:prstGeom prst="roundRect">
            <a:avLst>
              <a:gd name="adj" fmla="val 4839"/>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4"/>
          <a:stretch>
            <a:fillRect/>
          </a:stretch>
        </p:blipFill>
        <p:spPr>
          <a:xfrm>
            <a:off x="713232" y="3675888"/>
            <a:ext cx="274320" cy="274320"/>
          </a:xfrm>
          <a:prstGeom prst="rect">
            <a:avLst/>
          </a:prstGeom>
        </p:spPr>
      </p:pic>
      <p:sp>
        <p:nvSpPr>
          <p:cNvPr id="13" name="Text 8"/>
          <p:cNvSpPr/>
          <p:nvPr/>
        </p:nvSpPr>
        <p:spPr>
          <a:xfrm>
            <a:off x="1115568" y="3657600"/>
            <a:ext cx="45720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Keputusan ini milik bisnis, bukan model</a:t>
            </a:r>
            <a:endParaRPr lang="en-US" sz="1250" dirty="0"/>
          </a:p>
        </p:txBody>
      </p:sp>
      <p:sp>
        <p:nvSpPr>
          <p:cNvPr id="14" name="Text 9"/>
          <p:cNvSpPr/>
          <p:nvPr/>
        </p:nvSpPr>
        <p:spPr>
          <a:xfrm>
            <a:off x="1115568" y="3913632"/>
            <a:ext cx="7360920" cy="658368"/>
          </a:xfrm>
          <a:prstGeom prst="rect">
            <a:avLst/>
          </a:prstGeom>
          <a:noFill/>
          <a:ln/>
        </p:spPr>
        <p:txBody>
          <a:bodyPr wrap="square" lIns="0" tIns="0" rIns="0" bIns="0" rtlCol="0" anchor="t"/>
          <a:lstStyle/>
          <a:p>
            <a:pPr marL="0" indent="0">
              <a:lnSpc>
                <a:spcPts val="1277"/>
              </a:lnSpc>
              <a:buNone/>
            </a:pPr>
            <a:r>
              <a:rPr lang="en-US" sz="960">
                <a:solidFill>
                  <a:srgbClr val="16202B"/>
                </a:solidFill>
                <a:latin typeface="Calibri" pitchFamily="34" charset="0"/>
                <a:ea typeface="Calibri" pitchFamily="34" charset="-122"/>
                <a:cs typeface="Calibri" pitchFamily="34" charset="-120"/>
              </a:rPr>
              <a:t>Pada threshold 0,5, 43,1% test set ditandai. Threshold 0,6 mengurangi beban menjadi 662 booking dengan Recall 0,678. Threshold 0,3 menangkap 96,7% pembatalan dengan 1.210 booking ditandai.</a:t>
            </a:r>
            <a:endParaRPr lang="en-US" sz="960" dirty="0"/>
          </a:p>
        </p:txBody>
      </p:sp>
      <p:graphicFrame>
        <p:nvGraphicFramePr>
          <p:cNvPr id="15" name="Table 14">
            <a:extLst>
              <a:ext uri="{FF2B5EF4-FFF2-40B4-BE49-F238E27FC236}">
                <a16:creationId xmlns:a16="http://schemas.microsoft.com/office/drawing/2014/main" id="{A6AA1555-03C6-45FB-DF34-8B1F2E77954A}"/>
              </a:ext>
            </a:extLst>
          </p:cNvPr>
          <p:cNvGraphicFramePr>
            <a:graphicFrameLocks noGrp="1"/>
          </p:cNvGraphicFramePr>
          <p:nvPr>
            <p:extLst>
              <p:ext uri="{D42A27DB-BD31-4B8C-83A1-F6EECF244321}">
                <p14:modId xmlns:p14="http://schemas.microsoft.com/office/powerpoint/2010/main" val="462249666"/>
              </p:ext>
            </p:extLst>
          </p:nvPr>
        </p:nvGraphicFramePr>
        <p:xfrm>
          <a:off x="502920" y="1225296"/>
          <a:ext cx="5440680" cy="2148840"/>
        </p:xfrm>
        <a:graphic>
          <a:graphicData uri="http://schemas.openxmlformats.org/drawingml/2006/table">
            <a:tbl>
              <a:tblPr firstRow="1" bandRow="1">
                <a:tableStyleId>{5C22544A-7EE6-4342-B048-85BDC9FD1C3A}</a:tableStyleId>
              </a:tblPr>
              <a:tblGrid>
                <a:gridCol w="1360170">
                  <a:extLst>
                    <a:ext uri="{9D8B030D-6E8A-4147-A177-3AD203B41FA5}">
                      <a16:colId xmlns:a16="http://schemas.microsoft.com/office/drawing/2014/main" val="2964418171"/>
                    </a:ext>
                  </a:extLst>
                </a:gridCol>
                <a:gridCol w="1360170">
                  <a:extLst>
                    <a:ext uri="{9D8B030D-6E8A-4147-A177-3AD203B41FA5}">
                      <a16:colId xmlns:a16="http://schemas.microsoft.com/office/drawing/2014/main" val="3148003402"/>
                    </a:ext>
                  </a:extLst>
                </a:gridCol>
                <a:gridCol w="1360170">
                  <a:extLst>
                    <a:ext uri="{9D8B030D-6E8A-4147-A177-3AD203B41FA5}">
                      <a16:colId xmlns:a16="http://schemas.microsoft.com/office/drawing/2014/main" val="575762179"/>
                    </a:ext>
                  </a:extLst>
                </a:gridCol>
                <a:gridCol w="1360170">
                  <a:extLst>
                    <a:ext uri="{9D8B030D-6E8A-4147-A177-3AD203B41FA5}">
                      <a16:colId xmlns:a16="http://schemas.microsoft.com/office/drawing/2014/main" val="3031614396"/>
                    </a:ext>
                  </a:extLst>
                </a:gridCol>
              </a:tblGrid>
              <a:tr h="358140">
                <a:tc>
                  <a:txBody>
                    <a:bodyPr/>
                    <a:lstStyle/>
                    <a:p>
                      <a:r>
                        <a:rPr lang="en-ID" sz="1300" b="1">
                          <a:solidFill>
                            <a:srgbClr val="FFFFFF"/>
                          </a:solidFill>
                          <a:latin typeface="Aptos" panose="020B0004020202020204" pitchFamily="34" charset="0"/>
                        </a:rPr>
                        <a:t>Threshold</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Recall</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Precision</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Ditandai</a:t>
                      </a:r>
                    </a:p>
                  </a:txBody>
                  <a:tcPr marL="63500" marR="63500" marT="38100" marB="38100">
                    <a:solidFill>
                      <a:srgbClr val="144063"/>
                    </a:solidFill>
                  </a:tcPr>
                </a:tc>
                <a:extLst>
                  <a:ext uri="{0D108BD9-81ED-4DB2-BD59-A6C34878D82A}">
                    <a16:rowId xmlns:a16="http://schemas.microsoft.com/office/drawing/2014/main" val="260357834"/>
                  </a:ext>
                </a:extLst>
              </a:tr>
              <a:tr h="358140">
                <a:tc>
                  <a:txBody>
                    <a:bodyPr/>
                    <a:lstStyle/>
                    <a:p>
                      <a:r>
                        <a:rPr lang="en-ID" sz="1300">
                          <a:latin typeface="Aptos" panose="020B0004020202020204" pitchFamily="34" charset="0"/>
                        </a:rPr>
                        <a:t>0,3</a:t>
                      </a:r>
                    </a:p>
                  </a:txBody>
                  <a:tcPr marL="63500" marR="63500" marT="38100" marB="38100">
                    <a:solidFill>
                      <a:srgbClr val="EEF4F8"/>
                    </a:solidFill>
                  </a:tcPr>
                </a:tc>
                <a:tc>
                  <a:txBody>
                    <a:bodyPr/>
                    <a:lstStyle/>
                    <a:p>
                      <a:r>
                        <a:rPr lang="en-ID" sz="1300">
                          <a:latin typeface="Aptos" panose="020B0004020202020204" pitchFamily="34" charset="0"/>
                        </a:rPr>
                        <a:t>0,967</a:t>
                      </a:r>
                    </a:p>
                  </a:txBody>
                  <a:tcPr marL="63500" marR="63500" marT="38100" marB="38100">
                    <a:solidFill>
                      <a:srgbClr val="EEF4F8"/>
                    </a:solidFill>
                  </a:tcPr>
                </a:tc>
                <a:tc>
                  <a:txBody>
                    <a:bodyPr/>
                    <a:lstStyle/>
                    <a:p>
                      <a:r>
                        <a:rPr lang="en-ID" sz="1300">
                          <a:latin typeface="Aptos" panose="020B0004020202020204" pitchFamily="34" charset="0"/>
                        </a:rPr>
                        <a:t>0,384</a:t>
                      </a:r>
                    </a:p>
                  </a:txBody>
                  <a:tcPr marL="63500" marR="63500" marT="38100" marB="38100">
                    <a:solidFill>
                      <a:srgbClr val="EEF4F8"/>
                    </a:solidFill>
                  </a:tcPr>
                </a:tc>
                <a:tc>
                  <a:txBody>
                    <a:bodyPr/>
                    <a:lstStyle/>
                    <a:p>
                      <a:r>
                        <a:rPr lang="en-ID" sz="1300">
                          <a:latin typeface="Aptos" panose="020B0004020202020204" pitchFamily="34" charset="0"/>
                        </a:rPr>
                        <a:t>1.210</a:t>
                      </a:r>
                    </a:p>
                  </a:txBody>
                  <a:tcPr marL="63500" marR="63500" marT="38100" marB="38100">
                    <a:solidFill>
                      <a:srgbClr val="EEF4F8"/>
                    </a:solidFill>
                  </a:tcPr>
                </a:tc>
                <a:extLst>
                  <a:ext uri="{0D108BD9-81ED-4DB2-BD59-A6C34878D82A}">
                    <a16:rowId xmlns:a16="http://schemas.microsoft.com/office/drawing/2014/main" val="3145464241"/>
                  </a:ext>
                </a:extLst>
              </a:tr>
              <a:tr h="358140">
                <a:tc>
                  <a:txBody>
                    <a:bodyPr/>
                    <a:lstStyle/>
                    <a:p>
                      <a:r>
                        <a:rPr lang="en-ID" sz="1300">
                          <a:latin typeface="Aptos" panose="020B0004020202020204" pitchFamily="34" charset="0"/>
                        </a:rPr>
                        <a:t>0,4</a:t>
                      </a:r>
                    </a:p>
                  </a:txBody>
                  <a:tcPr marL="63500" marR="63500" marT="38100" marB="38100">
                    <a:solidFill>
                      <a:srgbClr val="FFFFFF"/>
                    </a:solidFill>
                  </a:tcPr>
                </a:tc>
                <a:tc>
                  <a:txBody>
                    <a:bodyPr/>
                    <a:lstStyle/>
                    <a:p>
                      <a:r>
                        <a:rPr lang="en-ID" sz="1300">
                          <a:latin typeface="Aptos" panose="020B0004020202020204" pitchFamily="34" charset="0"/>
                        </a:rPr>
                        <a:t>0,913</a:t>
                      </a:r>
                    </a:p>
                  </a:txBody>
                  <a:tcPr marL="63500" marR="63500" marT="38100" marB="38100">
                    <a:solidFill>
                      <a:srgbClr val="FFFFFF"/>
                    </a:solidFill>
                  </a:tcPr>
                </a:tc>
                <a:tc>
                  <a:txBody>
                    <a:bodyPr/>
                    <a:lstStyle/>
                    <a:p>
                      <a:r>
                        <a:rPr lang="en-ID" sz="1300">
                          <a:latin typeface="Aptos" panose="020B0004020202020204" pitchFamily="34" charset="0"/>
                        </a:rPr>
                        <a:t>0,419</a:t>
                      </a:r>
                    </a:p>
                  </a:txBody>
                  <a:tcPr marL="63500" marR="63500" marT="38100" marB="38100">
                    <a:solidFill>
                      <a:srgbClr val="FFFFFF"/>
                    </a:solidFill>
                  </a:tcPr>
                </a:tc>
                <a:tc>
                  <a:txBody>
                    <a:bodyPr/>
                    <a:lstStyle/>
                    <a:p>
                      <a:r>
                        <a:rPr lang="en-ID" sz="1300">
                          <a:latin typeface="Aptos" panose="020B0004020202020204" pitchFamily="34" charset="0"/>
                        </a:rPr>
                        <a:t>1.048</a:t>
                      </a:r>
                    </a:p>
                  </a:txBody>
                  <a:tcPr marL="63500" marR="63500" marT="38100" marB="38100">
                    <a:solidFill>
                      <a:srgbClr val="FFFFFF"/>
                    </a:solidFill>
                  </a:tcPr>
                </a:tc>
                <a:extLst>
                  <a:ext uri="{0D108BD9-81ED-4DB2-BD59-A6C34878D82A}">
                    <a16:rowId xmlns:a16="http://schemas.microsoft.com/office/drawing/2014/main" val="1788821469"/>
                  </a:ext>
                </a:extLst>
              </a:tr>
              <a:tr h="358140">
                <a:tc>
                  <a:txBody>
                    <a:bodyPr/>
                    <a:lstStyle/>
                    <a:p>
                      <a:r>
                        <a:rPr lang="en-ID" sz="1300">
                          <a:latin typeface="Aptos" panose="020B0004020202020204" pitchFamily="34" charset="0"/>
                        </a:rPr>
                        <a:t>0,5</a:t>
                      </a:r>
                    </a:p>
                  </a:txBody>
                  <a:tcPr marL="63500" marR="63500" marT="38100" marB="38100">
                    <a:solidFill>
                      <a:srgbClr val="EEF4F8"/>
                    </a:solidFill>
                  </a:tcPr>
                </a:tc>
                <a:tc>
                  <a:txBody>
                    <a:bodyPr/>
                    <a:lstStyle/>
                    <a:p>
                      <a:r>
                        <a:rPr lang="en-ID" sz="1300">
                          <a:latin typeface="Aptos" panose="020B0004020202020204" pitchFamily="34" charset="0"/>
                        </a:rPr>
                        <a:t>0,830</a:t>
                      </a:r>
                    </a:p>
                  </a:txBody>
                  <a:tcPr marL="63500" marR="63500" marT="38100" marB="38100">
                    <a:solidFill>
                      <a:srgbClr val="EEF4F8"/>
                    </a:solidFill>
                  </a:tcPr>
                </a:tc>
                <a:tc>
                  <a:txBody>
                    <a:bodyPr/>
                    <a:lstStyle/>
                    <a:p>
                      <a:r>
                        <a:rPr lang="en-ID" sz="1300">
                          <a:latin typeface="Aptos" panose="020B0004020202020204" pitchFamily="34" charset="0"/>
                        </a:rPr>
                        <a:t>0,459</a:t>
                      </a:r>
                    </a:p>
                  </a:txBody>
                  <a:tcPr marL="63500" marR="63500" marT="38100" marB="38100">
                    <a:solidFill>
                      <a:srgbClr val="EEF4F8"/>
                    </a:solidFill>
                  </a:tcPr>
                </a:tc>
                <a:tc>
                  <a:txBody>
                    <a:bodyPr/>
                    <a:lstStyle/>
                    <a:p>
                      <a:r>
                        <a:rPr lang="en-ID" sz="1300">
                          <a:latin typeface="Aptos" panose="020B0004020202020204" pitchFamily="34" charset="0"/>
                        </a:rPr>
                        <a:t>870</a:t>
                      </a:r>
                    </a:p>
                  </a:txBody>
                  <a:tcPr marL="63500" marR="63500" marT="38100" marB="38100">
                    <a:solidFill>
                      <a:srgbClr val="EEF4F8"/>
                    </a:solidFill>
                  </a:tcPr>
                </a:tc>
                <a:extLst>
                  <a:ext uri="{0D108BD9-81ED-4DB2-BD59-A6C34878D82A}">
                    <a16:rowId xmlns:a16="http://schemas.microsoft.com/office/drawing/2014/main" val="3419117797"/>
                  </a:ext>
                </a:extLst>
              </a:tr>
              <a:tr h="358140">
                <a:tc>
                  <a:txBody>
                    <a:bodyPr/>
                    <a:lstStyle/>
                    <a:p>
                      <a:r>
                        <a:rPr lang="en-ID" sz="1300">
                          <a:latin typeface="Aptos" panose="020B0004020202020204" pitchFamily="34" charset="0"/>
                        </a:rPr>
                        <a:t>0,6</a:t>
                      </a:r>
                    </a:p>
                  </a:txBody>
                  <a:tcPr marL="63500" marR="63500" marT="38100" marB="38100">
                    <a:solidFill>
                      <a:srgbClr val="FFFFFF"/>
                    </a:solidFill>
                  </a:tcPr>
                </a:tc>
                <a:tc>
                  <a:txBody>
                    <a:bodyPr/>
                    <a:lstStyle/>
                    <a:p>
                      <a:r>
                        <a:rPr lang="en-ID" sz="1300">
                          <a:latin typeface="Aptos" panose="020B0004020202020204" pitchFamily="34" charset="0"/>
                        </a:rPr>
                        <a:t>0,678</a:t>
                      </a:r>
                    </a:p>
                  </a:txBody>
                  <a:tcPr marL="63500" marR="63500" marT="38100" marB="38100">
                    <a:solidFill>
                      <a:srgbClr val="FFFFFF"/>
                    </a:solidFill>
                  </a:tcPr>
                </a:tc>
                <a:tc>
                  <a:txBody>
                    <a:bodyPr/>
                    <a:lstStyle/>
                    <a:p>
                      <a:r>
                        <a:rPr lang="en-ID" sz="1300">
                          <a:latin typeface="Aptos" panose="020B0004020202020204" pitchFamily="34" charset="0"/>
                        </a:rPr>
                        <a:t>0,492</a:t>
                      </a:r>
                    </a:p>
                  </a:txBody>
                  <a:tcPr marL="63500" marR="63500" marT="38100" marB="38100">
                    <a:solidFill>
                      <a:srgbClr val="FFFFFF"/>
                    </a:solidFill>
                  </a:tcPr>
                </a:tc>
                <a:tc>
                  <a:txBody>
                    <a:bodyPr/>
                    <a:lstStyle/>
                    <a:p>
                      <a:r>
                        <a:rPr lang="en-ID" sz="1300">
                          <a:latin typeface="Aptos" panose="020B0004020202020204" pitchFamily="34" charset="0"/>
                        </a:rPr>
                        <a:t>662</a:t>
                      </a:r>
                    </a:p>
                  </a:txBody>
                  <a:tcPr marL="63500" marR="63500" marT="38100" marB="38100">
                    <a:solidFill>
                      <a:srgbClr val="FFFFFF"/>
                    </a:solidFill>
                  </a:tcPr>
                </a:tc>
                <a:extLst>
                  <a:ext uri="{0D108BD9-81ED-4DB2-BD59-A6C34878D82A}">
                    <a16:rowId xmlns:a16="http://schemas.microsoft.com/office/drawing/2014/main" val="730944840"/>
                  </a:ext>
                </a:extLst>
              </a:tr>
              <a:tr h="358140">
                <a:tc>
                  <a:txBody>
                    <a:bodyPr/>
                    <a:lstStyle/>
                    <a:p>
                      <a:r>
                        <a:rPr lang="en-ID" sz="1300">
                          <a:latin typeface="Aptos" panose="020B0004020202020204" pitchFamily="34" charset="0"/>
                        </a:rPr>
                        <a:t>0,7</a:t>
                      </a:r>
                    </a:p>
                  </a:txBody>
                  <a:tcPr marL="63500" marR="63500" marT="38100" marB="38100">
                    <a:solidFill>
                      <a:srgbClr val="EEF4F8"/>
                    </a:solidFill>
                  </a:tcPr>
                </a:tc>
                <a:tc>
                  <a:txBody>
                    <a:bodyPr/>
                    <a:lstStyle/>
                    <a:p>
                      <a:r>
                        <a:rPr lang="en-ID" sz="1300">
                          <a:latin typeface="Aptos" panose="020B0004020202020204" pitchFamily="34" charset="0"/>
                        </a:rPr>
                        <a:t>0,501</a:t>
                      </a:r>
                    </a:p>
                  </a:txBody>
                  <a:tcPr marL="63500" marR="63500" marT="38100" marB="38100">
                    <a:solidFill>
                      <a:srgbClr val="EEF4F8"/>
                    </a:solidFill>
                  </a:tcPr>
                </a:tc>
                <a:tc>
                  <a:txBody>
                    <a:bodyPr/>
                    <a:lstStyle/>
                    <a:p>
                      <a:r>
                        <a:rPr lang="en-ID" sz="1300">
                          <a:latin typeface="Aptos" panose="020B0004020202020204" pitchFamily="34" charset="0"/>
                        </a:rPr>
                        <a:t>0,554</a:t>
                      </a:r>
                    </a:p>
                  </a:txBody>
                  <a:tcPr marL="63500" marR="63500" marT="38100" marB="38100">
                    <a:solidFill>
                      <a:srgbClr val="EEF4F8"/>
                    </a:solidFill>
                  </a:tcPr>
                </a:tc>
                <a:tc>
                  <a:txBody>
                    <a:bodyPr/>
                    <a:lstStyle/>
                    <a:p>
                      <a:r>
                        <a:rPr lang="en-ID" sz="1300">
                          <a:latin typeface="Aptos" panose="020B0004020202020204" pitchFamily="34" charset="0"/>
                        </a:rPr>
                        <a:t>435</a:t>
                      </a:r>
                    </a:p>
                  </a:txBody>
                  <a:tcPr marL="63500" marR="63500" marT="38100" marB="38100">
                    <a:solidFill>
                      <a:srgbClr val="EEF4F8"/>
                    </a:solidFill>
                  </a:tcPr>
                </a:tc>
                <a:extLst>
                  <a:ext uri="{0D108BD9-81ED-4DB2-BD59-A6C34878D82A}">
                    <a16:rowId xmlns:a16="http://schemas.microsoft.com/office/drawing/2014/main" val="498642847"/>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FEATURE IMPORTANCE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a:solidFill>
                  <a:srgbClr val="123A5E"/>
                </a:solidFill>
                <a:latin typeface="Calibri" pitchFamily="34" charset="0"/>
                <a:ea typeface="Calibri" pitchFamily="34" charset="-122"/>
                <a:cs typeface="Calibri" pitchFamily="34" charset="-120"/>
              </a:rPr>
              <a:t>Koefisien Logistic Regression menunjukkan arah asosiasi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33</a:t>
            </a:r>
            <a:endParaRPr lang="en-US" sz="900" dirty="0"/>
          </a:p>
        </p:txBody>
      </p:sp>
      <p:sp>
        <p:nvSpPr>
          <p:cNvPr id="5" name="Text 3"/>
          <p:cNvSpPr/>
          <p:nvPr/>
        </p:nvSpPr>
        <p:spPr>
          <a:xfrm>
            <a:off x="502920" y="914400"/>
            <a:ext cx="8138160" cy="310896"/>
          </a:xfrm>
          <a:prstGeom prst="rect">
            <a:avLst/>
          </a:prstGeom>
          <a:noFill/>
          <a:ln/>
        </p:spPr>
        <p:txBody>
          <a:bodyPr wrap="square" lIns="0" tIns="0" rIns="0" bIns="0" rtlCol="0" anchor="t"/>
          <a:lstStyle/>
          <a:p>
            <a:pPr marL="0" indent="0">
              <a:lnSpc>
                <a:spcPts val="1330"/>
              </a:lnSpc>
              <a:buNone/>
            </a:pPr>
            <a:r>
              <a:rPr lang="en-US" sz="1000">
                <a:solidFill>
                  <a:srgbClr val="6B7885"/>
                </a:solidFill>
                <a:latin typeface="Calibri" pitchFamily="34" charset="0"/>
                <a:ea typeface="Calibri" pitchFamily="34" charset="-122"/>
                <a:cs typeface="Calibri" pitchFamily="34" charset="-120"/>
              </a:rPr>
              <a:t>Koefisien positif menaikkan log-odds pembatalan dan koefisien negatif menurunkannya. Magnitudo absolut menunjukkan kekuatan asosiasi relatif.</a:t>
            </a:r>
            <a:endParaRPr lang="en-US" sz="1000" dirty="0"/>
          </a:p>
        </p:txBody>
      </p:sp>
      <p:sp>
        <p:nvSpPr>
          <p:cNvPr id="7" name="Shape 4"/>
          <p:cNvSpPr/>
          <p:nvPr/>
        </p:nvSpPr>
        <p:spPr>
          <a:xfrm>
            <a:off x="5989320" y="1243584"/>
            <a:ext cx="2651760" cy="2615184"/>
          </a:xfrm>
          <a:prstGeom prst="roundRect">
            <a:avLst>
              <a:gd name="adj" fmla="val 2098"/>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8" name="Image 1" descr="/home/claude/assets/ic_search_navy.png"/>
          <p:cNvPicPr>
            <a:picLocks noChangeAspect="1"/>
          </p:cNvPicPr>
          <p:nvPr/>
        </p:nvPicPr>
        <p:blipFill>
          <a:blip r:embed="rId3"/>
          <a:stretch>
            <a:fillRect/>
          </a:stretch>
        </p:blipFill>
        <p:spPr>
          <a:xfrm>
            <a:off x="6181344" y="1408176"/>
            <a:ext cx="256032" cy="256032"/>
          </a:xfrm>
          <a:prstGeom prst="rect">
            <a:avLst/>
          </a:prstGeom>
        </p:spPr>
      </p:pic>
      <p:sp>
        <p:nvSpPr>
          <p:cNvPr id="9" name="Text 5"/>
          <p:cNvSpPr/>
          <p:nvPr/>
        </p:nvSpPr>
        <p:spPr>
          <a:xfrm>
            <a:off x="6181344" y="1737360"/>
            <a:ext cx="237744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Bacaan cepat</a:t>
            </a:r>
            <a:endParaRPr lang="en-US" sz="1250" dirty="0"/>
          </a:p>
        </p:txBody>
      </p:sp>
      <p:sp>
        <p:nvSpPr>
          <p:cNvPr id="10" name="Text 6"/>
          <p:cNvSpPr/>
          <p:nvPr/>
        </p:nvSpPr>
        <p:spPr>
          <a:xfrm>
            <a:off x="6163056" y="2029968"/>
            <a:ext cx="2331720" cy="1325514"/>
          </a:xfrm>
          <a:prstGeom prst="rect">
            <a:avLst/>
          </a:prstGeom>
          <a:noFill/>
          <a:ln/>
        </p:spPr>
        <p:txBody>
          <a:bodyPr wrap="square" lIns="0" tIns="0" rIns="0" bIns="0" rtlCol="0" anchor="t"/>
          <a:lstStyle/>
          <a:p>
            <a:pPr marL="342900" indent="-342900">
              <a:lnSpc>
                <a:spcPts val="1066"/>
              </a:lnSpc>
              <a:spcAft>
                <a:spcPts val="500"/>
              </a:spcAft>
              <a:buSzPct val="100000"/>
              <a:buChar char="•"/>
            </a:pPr>
            <a:r>
              <a:rPr lang="en-US" sz="820">
                <a:solidFill>
                  <a:srgbClr val="16202B"/>
                </a:solidFill>
                <a:latin typeface="Calibri" pitchFamily="34" charset="0"/>
                <a:ea typeface="Calibri" pitchFamily="34" charset="-122"/>
                <a:cs typeface="Calibri" pitchFamily="34" charset="-120"/>
              </a:rPr>
              <a:t>required_car_parking_spaces: -2,848</a:t>
            </a:r>
          </a:p>
          <a:p>
            <a:pPr marL="342900" indent="-342900">
              <a:lnSpc>
                <a:spcPts val="1066"/>
              </a:lnSpc>
              <a:spcAft>
                <a:spcPts val="500"/>
              </a:spcAft>
              <a:buSzPct val="100000"/>
              <a:buChar char="•"/>
            </a:pPr>
            <a:r>
              <a:rPr lang="en-US" sz="820">
                <a:solidFill>
                  <a:srgbClr val="16202B"/>
                </a:solidFill>
                <a:latin typeface="Calibri" pitchFamily="34" charset="0"/>
                <a:ea typeface="Calibri" pitchFamily="34" charset="-122"/>
                <a:cs typeface="Calibri" pitchFamily="34" charset="-120"/>
              </a:rPr>
              <a:t>market_segment_Online TA: +1,568</a:t>
            </a:r>
          </a:p>
          <a:p>
            <a:pPr marL="342900" indent="-342900">
              <a:lnSpc>
                <a:spcPts val="1066"/>
              </a:lnSpc>
              <a:spcAft>
                <a:spcPts val="500"/>
              </a:spcAft>
              <a:buSzPct val="100000"/>
              <a:buChar char="•"/>
            </a:pPr>
            <a:r>
              <a:rPr lang="en-US" sz="820">
                <a:solidFill>
                  <a:srgbClr val="16202B"/>
                </a:solidFill>
                <a:latin typeface="Calibri" pitchFamily="34" charset="0"/>
                <a:ea typeface="Calibri" pitchFamily="34" charset="-122"/>
                <a:cs typeface="Calibri" pitchFamily="34" charset="-120"/>
              </a:rPr>
              <a:t>deposit_type_No Deposit: -1,471</a:t>
            </a:r>
          </a:p>
          <a:p>
            <a:pPr marL="342900" indent="-342900">
              <a:lnSpc>
                <a:spcPts val="1066"/>
              </a:lnSpc>
              <a:spcAft>
                <a:spcPts val="500"/>
              </a:spcAft>
              <a:buSzPct val="100000"/>
              <a:buChar char="•"/>
            </a:pPr>
            <a:r>
              <a:rPr lang="en-US" sz="820">
                <a:solidFill>
                  <a:srgbClr val="16202B"/>
                </a:solidFill>
                <a:latin typeface="Calibri" pitchFamily="34" charset="0"/>
                <a:ea typeface="Calibri" pitchFamily="34" charset="-122"/>
                <a:cs typeface="Calibri" pitchFamily="34" charset="-120"/>
              </a:rPr>
              <a:t>market_segment_Complementary: -1,196</a:t>
            </a:r>
          </a:p>
          <a:p>
            <a:pPr marL="342900" indent="-342900">
              <a:lnSpc>
                <a:spcPts val="1066"/>
              </a:lnSpc>
              <a:spcAft>
                <a:spcPts val="500"/>
              </a:spcAft>
              <a:buSzPct val="100000"/>
              <a:buChar char="•"/>
            </a:pPr>
            <a:r>
              <a:rPr lang="en-US" sz="820">
                <a:solidFill>
                  <a:srgbClr val="16202B"/>
                </a:solidFill>
                <a:latin typeface="Calibri" pitchFamily="34" charset="0"/>
                <a:ea typeface="Calibri" pitchFamily="34" charset="-122"/>
                <a:cs typeface="Calibri" pitchFamily="34" charset="-120"/>
              </a:rPr>
              <a:t>deposit_type_Non Refund: +1,120</a:t>
            </a:r>
            <a:endParaRPr lang="en-US" sz="820" dirty="0"/>
          </a:p>
        </p:txBody>
      </p:sp>
      <p:sp>
        <p:nvSpPr>
          <p:cNvPr id="11" name="Shape 7"/>
          <p:cNvSpPr/>
          <p:nvPr/>
        </p:nvSpPr>
        <p:spPr>
          <a:xfrm>
            <a:off x="502920" y="3968496"/>
            <a:ext cx="8138160" cy="658368"/>
          </a:xfrm>
          <a:prstGeom prst="roundRect">
            <a:avLst>
              <a:gd name="adj" fmla="val 8333"/>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2" name="Image 2" descr="/home/claude/assets/ic_check_navy.png"/>
          <p:cNvPicPr>
            <a:picLocks noChangeAspect="1"/>
          </p:cNvPicPr>
          <p:nvPr/>
        </p:nvPicPr>
        <p:blipFill>
          <a:blip r:embed="rId4"/>
          <a:stretch>
            <a:fillRect/>
          </a:stretch>
        </p:blipFill>
        <p:spPr>
          <a:xfrm>
            <a:off x="694944" y="4096512"/>
            <a:ext cx="219456" cy="219456"/>
          </a:xfrm>
          <a:prstGeom prst="rect">
            <a:avLst/>
          </a:prstGeom>
        </p:spPr>
      </p:pic>
      <p:sp>
        <p:nvSpPr>
          <p:cNvPr id="13" name="Text 8"/>
          <p:cNvSpPr/>
          <p:nvPr/>
        </p:nvSpPr>
        <p:spPr>
          <a:xfrm>
            <a:off x="1005840" y="4078224"/>
            <a:ext cx="7452360" cy="512064"/>
          </a:xfrm>
          <a:prstGeom prst="rect">
            <a:avLst/>
          </a:prstGeom>
          <a:noFill/>
          <a:ln/>
        </p:spPr>
        <p:txBody>
          <a:bodyPr wrap="square" lIns="0" tIns="0" rIns="0" bIns="0" rtlCol="0" anchor="t"/>
          <a:lstStyle/>
          <a:p>
            <a:pPr marL="0" indent="0">
              <a:lnSpc>
                <a:spcPts val="1237"/>
              </a:lnSpc>
              <a:buNone/>
            </a:pPr>
            <a:r>
              <a:rPr lang="en-US" sz="930">
                <a:solidFill>
                  <a:srgbClr val="2F7D5E"/>
                </a:solidFill>
                <a:latin typeface="Calibri" pitchFamily="34" charset="0"/>
                <a:ea typeface="Calibri" pitchFamily="34" charset="-122"/>
                <a:cs typeface="Calibri" pitchFamily="34" charset="-120"/>
              </a:rPr>
              <a:t>Koefisien harus dibaca bersama konteks data. Tanda positif Non Refund sejalan dengan cancellation rate 89,2%, tetapi tidak membuktikan sebab-akibat.</a:t>
            </a:r>
            <a:endParaRPr lang="en-US" sz="930" dirty="0"/>
          </a:p>
        </p:txBody>
      </p:sp>
      <p:graphicFrame>
        <p:nvGraphicFramePr>
          <p:cNvPr id="14" name="Table 13">
            <a:extLst>
              <a:ext uri="{FF2B5EF4-FFF2-40B4-BE49-F238E27FC236}">
                <a16:creationId xmlns:a16="http://schemas.microsoft.com/office/drawing/2014/main" id="{622C53E5-462A-DFAD-C460-8713FC9E29A1}"/>
              </a:ext>
            </a:extLst>
          </p:cNvPr>
          <p:cNvGraphicFramePr>
            <a:graphicFrameLocks noGrp="1"/>
          </p:cNvGraphicFramePr>
          <p:nvPr>
            <p:extLst>
              <p:ext uri="{D42A27DB-BD31-4B8C-83A1-F6EECF244321}">
                <p14:modId xmlns:p14="http://schemas.microsoft.com/office/powerpoint/2010/main" val="1820825566"/>
              </p:ext>
            </p:extLst>
          </p:nvPr>
        </p:nvGraphicFramePr>
        <p:xfrm>
          <a:off x="502920" y="1243584"/>
          <a:ext cx="5349240" cy="2615184"/>
        </p:xfrm>
        <a:graphic>
          <a:graphicData uri="http://schemas.openxmlformats.org/drawingml/2006/table">
            <a:tbl>
              <a:tblPr firstRow="1" bandRow="1">
                <a:tableStyleId>{5C22544A-7EE6-4342-B048-85BDC9FD1C3A}</a:tableStyleId>
              </a:tblPr>
              <a:tblGrid>
                <a:gridCol w="3851453">
                  <a:extLst>
                    <a:ext uri="{9D8B030D-6E8A-4147-A177-3AD203B41FA5}">
                      <a16:colId xmlns:a16="http://schemas.microsoft.com/office/drawing/2014/main" val="3317969707"/>
                    </a:ext>
                  </a:extLst>
                </a:gridCol>
                <a:gridCol w="1497787">
                  <a:extLst>
                    <a:ext uri="{9D8B030D-6E8A-4147-A177-3AD203B41FA5}">
                      <a16:colId xmlns:a16="http://schemas.microsoft.com/office/drawing/2014/main" val="4196836389"/>
                    </a:ext>
                  </a:extLst>
                </a:gridCol>
              </a:tblGrid>
              <a:tr h="435864">
                <a:tc>
                  <a:txBody>
                    <a:bodyPr/>
                    <a:lstStyle/>
                    <a:p>
                      <a:r>
                        <a:rPr lang="en-ID" sz="1300" b="1">
                          <a:solidFill>
                            <a:srgbClr val="FFFFFF"/>
                          </a:solidFill>
                          <a:latin typeface="Aptos" panose="020B0004020202020204" pitchFamily="34" charset="0"/>
                        </a:rPr>
                        <a:t>Fitur</a:t>
                      </a:r>
                    </a:p>
                  </a:txBody>
                  <a:tcPr marL="63500" marR="63500" marT="38100" marB="38100">
                    <a:solidFill>
                      <a:srgbClr val="144063"/>
                    </a:solidFill>
                  </a:tcPr>
                </a:tc>
                <a:tc>
                  <a:txBody>
                    <a:bodyPr/>
                    <a:lstStyle/>
                    <a:p>
                      <a:r>
                        <a:rPr lang="en-ID" sz="1300" b="1">
                          <a:solidFill>
                            <a:srgbClr val="FFFFFF"/>
                          </a:solidFill>
                          <a:latin typeface="Aptos" panose="020B0004020202020204" pitchFamily="34" charset="0"/>
                        </a:rPr>
                        <a:t>Koefisien</a:t>
                      </a:r>
                    </a:p>
                  </a:txBody>
                  <a:tcPr marL="63500" marR="63500" marT="38100" marB="38100">
                    <a:solidFill>
                      <a:srgbClr val="144063"/>
                    </a:solidFill>
                  </a:tcPr>
                </a:tc>
                <a:extLst>
                  <a:ext uri="{0D108BD9-81ED-4DB2-BD59-A6C34878D82A}">
                    <a16:rowId xmlns:a16="http://schemas.microsoft.com/office/drawing/2014/main" val="1164638030"/>
                  </a:ext>
                </a:extLst>
              </a:tr>
              <a:tr h="435864">
                <a:tc>
                  <a:txBody>
                    <a:bodyPr/>
                    <a:lstStyle/>
                    <a:p>
                      <a:r>
                        <a:rPr lang="en-ID" sz="1300">
                          <a:latin typeface="Aptos" panose="020B0004020202020204" pitchFamily="34" charset="0"/>
                        </a:rPr>
                        <a:t>required_car_parking_spaces</a:t>
                      </a:r>
                    </a:p>
                  </a:txBody>
                  <a:tcPr marL="63500" marR="63500" marT="38100" marB="38100">
                    <a:solidFill>
                      <a:srgbClr val="EEF4F8"/>
                    </a:solidFill>
                  </a:tcPr>
                </a:tc>
                <a:tc>
                  <a:txBody>
                    <a:bodyPr/>
                    <a:lstStyle/>
                    <a:p>
                      <a:r>
                        <a:rPr lang="en-ID" sz="1300">
                          <a:latin typeface="Aptos" panose="020B0004020202020204" pitchFamily="34" charset="0"/>
                        </a:rPr>
                        <a:t>-2,848</a:t>
                      </a:r>
                    </a:p>
                  </a:txBody>
                  <a:tcPr marL="63500" marR="63500" marT="38100" marB="38100">
                    <a:solidFill>
                      <a:srgbClr val="EEF4F8"/>
                    </a:solidFill>
                  </a:tcPr>
                </a:tc>
                <a:extLst>
                  <a:ext uri="{0D108BD9-81ED-4DB2-BD59-A6C34878D82A}">
                    <a16:rowId xmlns:a16="http://schemas.microsoft.com/office/drawing/2014/main" val="3152767171"/>
                  </a:ext>
                </a:extLst>
              </a:tr>
              <a:tr h="435864">
                <a:tc>
                  <a:txBody>
                    <a:bodyPr/>
                    <a:lstStyle/>
                    <a:p>
                      <a:r>
                        <a:rPr lang="en-ID" sz="1300">
                          <a:latin typeface="Aptos" panose="020B0004020202020204" pitchFamily="34" charset="0"/>
                        </a:rPr>
                        <a:t>market_segment_Online TA</a:t>
                      </a:r>
                    </a:p>
                  </a:txBody>
                  <a:tcPr marL="63500" marR="63500" marT="38100" marB="38100">
                    <a:solidFill>
                      <a:srgbClr val="FFFFFF"/>
                    </a:solidFill>
                  </a:tcPr>
                </a:tc>
                <a:tc>
                  <a:txBody>
                    <a:bodyPr/>
                    <a:lstStyle/>
                    <a:p>
                      <a:r>
                        <a:rPr lang="en-ID" sz="1300">
                          <a:latin typeface="Aptos" panose="020B0004020202020204" pitchFamily="34" charset="0"/>
                        </a:rPr>
                        <a:t>+1,568</a:t>
                      </a:r>
                    </a:p>
                  </a:txBody>
                  <a:tcPr marL="63500" marR="63500" marT="38100" marB="38100">
                    <a:solidFill>
                      <a:srgbClr val="FFFFFF"/>
                    </a:solidFill>
                  </a:tcPr>
                </a:tc>
                <a:extLst>
                  <a:ext uri="{0D108BD9-81ED-4DB2-BD59-A6C34878D82A}">
                    <a16:rowId xmlns:a16="http://schemas.microsoft.com/office/drawing/2014/main" val="2913125108"/>
                  </a:ext>
                </a:extLst>
              </a:tr>
              <a:tr h="435864">
                <a:tc>
                  <a:txBody>
                    <a:bodyPr/>
                    <a:lstStyle/>
                    <a:p>
                      <a:r>
                        <a:rPr lang="en-ID" sz="1300">
                          <a:latin typeface="Aptos" panose="020B0004020202020204" pitchFamily="34" charset="0"/>
                        </a:rPr>
                        <a:t>deposit_type_No Deposit</a:t>
                      </a:r>
                    </a:p>
                  </a:txBody>
                  <a:tcPr marL="63500" marR="63500" marT="38100" marB="38100">
                    <a:solidFill>
                      <a:srgbClr val="EEF4F8"/>
                    </a:solidFill>
                  </a:tcPr>
                </a:tc>
                <a:tc>
                  <a:txBody>
                    <a:bodyPr/>
                    <a:lstStyle/>
                    <a:p>
                      <a:r>
                        <a:rPr lang="en-ID" sz="1300">
                          <a:latin typeface="Aptos" panose="020B0004020202020204" pitchFamily="34" charset="0"/>
                        </a:rPr>
                        <a:t>-1,471</a:t>
                      </a:r>
                    </a:p>
                  </a:txBody>
                  <a:tcPr marL="63500" marR="63500" marT="38100" marB="38100">
                    <a:solidFill>
                      <a:srgbClr val="EEF4F8"/>
                    </a:solidFill>
                  </a:tcPr>
                </a:tc>
                <a:extLst>
                  <a:ext uri="{0D108BD9-81ED-4DB2-BD59-A6C34878D82A}">
                    <a16:rowId xmlns:a16="http://schemas.microsoft.com/office/drawing/2014/main" val="1132749566"/>
                  </a:ext>
                </a:extLst>
              </a:tr>
              <a:tr h="435864">
                <a:tc>
                  <a:txBody>
                    <a:bodyPr/>
                    <a:lstStyle/>
                    <a:p>
                      <a:r>
                        <a:rPr lang="en-ID" sz="1300">
                          <a:latin typeface="Aptos" panose="020B0004020202020204" pitchFamily="34" charset="0"/>
                        </a:rPr>
                        <a:t>market_segment_Complementary</a:t>
                      </a:r>
                    </a:p>
                  </a:txBody>
                  <a:tcPr marL="63500" marR="63500" marT="38100" marB="38100">
                    <a:solidFill>
                      <a:srgbClr val="FFFFFF"/>
                    </a:solidFill>
                  </a:tcPr>
                </a:tc>
                <a:tc>
                  <a:txBody>
                    <a:bodyPr/>
                    <a:lstStyle/>
                    <a:p>
                      <a:r>
                        <a:rPr lang="en-ID" sz="1300">
                          <a:latin typeface="Aptos" panose="020B0004020202020204" pitchFamily="34" charset="0"/>
                        </a:rPr>
                        <a:t>-1,196</a:t>
                      </a:r>
                    </a:p>
                  </a:txBody>
                  <a:tcPr marL="63500" marR="63500" marT="38100" marB="38100">
                    <a:solidFill>
                      <a:srgbClr val="FFFFFF"/>
                    </a:solidFill>
                  </a:tcPr>
                </a:tc>
                <a:extLst>
                  <a:ext uri="{0D108BD9-81ED-4DB2-BD59-A6C34878D82A}">
                    <a16:rowId xmlns:a16="http://schemas.microsoft.com/office/drawing/2014/main" val="1010121585"/>
                  </a:ext>
                </a:extLst>
              </a:tr>
              <a:tr h="435864">
                <a:tc>
                  <a:txBody>
                    <a:bodyPr/>
                    <a:lstStyle/>
                    <a:p>
                      <a:r>
                        <a:rPr lang="en-ID" sz="1300">
                          <a:latin typeface="Aptos" panose="020B0004020202020204" pitchFamily="34" charset="0"/>
                        </a:rPr>
                        <a:t>deposit_type_Non Refund</a:t>
                      </a:r>
                    </a:p>
                  </a:txBody>
                  <a:tcPr marL="63500" marR="63500" marT="38100" marB="38100">
                    <a:solidFill>
                      <a:srgbClr val="EEF4F8"/>
                    </a:solidFill>
                  </a:tcPr>
                </a:tc>
                <a:tc>
                  <a:txBody>
                    <a:bodyPr/>
                    <a:lstStyle/>
                    <a:p>
                      <a:r>
                        <a:rPr lang="en-ID" sz="1300">
                          <a:latin typeface="Aptos" panose="020B0004020202020204" pitchFamily="34" charset="0"/>
                        </a:rPr>
                        <a:t>+1,120</a:t>
                      </a:r>
                    </a:p>
                  </a:txBody>
                  <a:tcPr marL="63500" marR="63500" marT="38100" marB="38100">
                    <a:solidFill>
                      <a:srgbClr val="EEF4F8"/>
                    </a:solidFill>
                  </a:tcPr>
                </a:tc>
                <a:extLst>
                  <a:ext uri="{0D108BD9-81ED-4DB2-BD59-A6C34878D82A}">
                    <a16:rowId xmlns:a16="http://schemas.microsoft.com/office/drawing/2014/main" val="39737221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FEATURE IMPORTANCE</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Membaca feature importance dalam bahasa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502920" y="1060704"/>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07008"/>
            <a:ext cx="420624" cy="420624"/>
          </a:xfrm>
          <a:prstGeom prst="roundRect">
            <a:avLst>
              <a:gd name="adj" fmla="val 17391"/>
            </a:avLst>
          </a:prstGeom>
          <a:solidFill>
            <a:srgbClr val="123A5E"/>
          </a:solidFill>
          <a:ln/>
        </p:spPr>
        <p:txBody>
          <a:bodyPr/>
          <a:lstStyle/>
          <a:p>
            <a:endParaRPr lang="en-ID"/>
          </a:p>
        </p:txBody>
      </p:sp>
      <p:pic>
        <p:nvPicPr>
          <p:cNvPr id="7" name="Image 0" descr="/home/claude/assets/ic_money_white.png"/>
          <p:cNvPicPr>
            <a:picLocks noChangeAspect="1"/>
          </p:cNvPicPr>
          <p:nvPr/>
        </p:nvPicPr>
        <p:blipFill>
          <a:blip r:embed="rId3"/>
          <a:stretch>
            <a:fillRect/>
          </a:stretch>
        </p:blipFill>
        <p:spPr>
          <a:xfrm>
            <a:off x="758952" y="1307592"/>
            <a:ext cx="219456" cy="219456"/>
          </a:xfrm>
          <a:prstGeom prst="rect">
            <a:avLst/>
          </a:prstGeom>
        </p:spPr>
      </p:pic>
      <p:sp>
        <p:nvSpPr>
          <p:cNvPr id="8" name="Text 5"/>
          <p:cNvSpPr/>
          <p:nvPr/>
        </p:nvSpPr>
        <p:spPr>
          <a:xfrm>
            <a:off x="1207008" y="1170432"/>
            <a:ext cx="265176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required_car_parking_spaces</a:t>
            </a:r>
            <a:endParaRPr lang="en-US" sz="1050" dirty="0"/>
          </a:p>
        </p:txBody>
      </p:sp>
      <p:sp>
        <p:nvSpPr>
          <p:cNvPr id="9" name="Text 6"/>
          <p:cNvSpPr/>
          <p:nvPr/>
        </p:nvSpPr>
        <p:spPr>
          <a:xfrm>
            <a:off x="1207008" y="1417320"/>
            <a:ext cx="2651760" cy="219456"/>
          </a:xfrm>
          <a:prstGeom prst="rect">
            <a:avLst/>
          </a:prstGeom>
          <a:noFill/>
          <a:ln/>
        </p:spPr>
        <p:txBody>
          <a:bodyPr wrap="square" lIns="0" tIns="0" rIns="0" bIns="0" rtlCol="0" anchor="ctr"/>
          <a:lstStyle/>
          <a:p>
            <a:pPr marL="0" indent="0">
              <a:buNone/>
            </a:pPr>
            <a:r>
              <a:rPr lang="en-US" sz="1100" b="1">
                <a:solidFill>
                  <a:srgbClr val="E2703A"/>
                </a:solidFill>
                <a:latin typeface="Consolas" pitchFamily="34" charset="0"/>
                <a:ea typeface="Consolas" pitchFamily="34" charset="-122"/>
                <a:cs typeface="Consolas" pitchFamily="34" charset="-120"/>
              </a:rPr>
              <a:t>-2,848</a:t>
            </a:r>
            <a:endParaRPr lang="en-US" sz="1100" dirty="0"/>
          </a:p>
        </p:txBody>
      </p:sp>
      <p:sp>
        <p:nvSpPr>
          <p:cNvPr id="10" name="Text 7"/>
          <p:cNvSpPr/>
          <p:nvPr/>
        </p:nvSpPr>
        <p:spPr>
          <a:xfrm>
            <a:off x="3977640" y="1188720"/>
            <a:ext cx="4498848" cy="548640"/>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Permintaan parkir berasosiasi kuat dengan peluang pembatalan yang lebih rendah.</a:t>
            </a:r>
            <a:endParaRPr lang="en-US" sz="930" dirty="0"/>
          </a:p>
        </p:txBody>
      </p:sp>
      <p:sp>
        <p:nvSpPr>
          <p:cNvPr id="11" name="Shape 8"/>
          <p:cNvSpPr/>
          <p:nvPr/>
        </p:nvSpPr>
        <p:spPr>
          <a:xfrm>
            <a:off x="502920" y="1865376"/>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9"/>
          <p:cNvSpPr/>
          <p:nvPr/>
        </p:nvSpPr>
        <p:spPr>
          <a:xfrm>
            <a:off x="658368" y="2011680"/>
            <a:ext cx="420624" cy="420624"/>
          </a:xfrm>
          <a:prstGeom prst="roundRect">
            <a:avLst>
              <a:gd name="adj" fmla="val 17391"/>
            </a:avLst>
          </a:prstGeom>
          <a:solidFill>
            <a:srgbClr val="123A5E"/>
          </a:solidFill>
          <a:ln/>
        </p:spPr>
        <p:txBody>
          <a:bodyPr/>
          <a:lstStyle/>
          <a:p>
            <a:endParaRPr lang="en-ID"/>
          </a:p>
        </p:txBody>
      </p:sp>
      <p:pic>
        <p:nvPicPr>
          <p:cNvPr id="13" name="Image 1" descr="/home/claude/assets/ic_lock_white.png"/>
          <p:cNvPicPr>
            <a:picLocks noChangeAspect="1"/>
          </p:cNvPicPr>
          <p:nvPr/>
        </p:nvPicPr>
        <p:blipFill>
          <a:blip r:embed="rId4"/>
          <a:stretch>
            <a:fillRect/>
          </a:stretch>
        </p:blipFill>
        <p:spPr>
          <a:xfrm>
            <a:off x="758952" y="2112264"/>
            <a:ext cx="219456" cy="219456"/>
          </a:xfrm>
          <a:prstGeom prst="rect">
            <a:avLst/>
          </a:prstGeom>
        </p:spPr>
      </p:pic>
      <p:sp>
        <p:nvSpPr>
          <p:cNvPr id="14" name="Text 10"/>
          <p:cNvSpPr/>
          <p:nvPr/>
        </p:nvSpPr>
        <p:spPr>
          <a:xfrm>
            <a:off x="1207008" y="1975104"/>
            <a:ext cx="2651760" cy="219456"/>
          </a:xfrm>
          <a:prstGeom prst="rect">
            <a:avLst/>
          </a:prstGeom>
          <a:noFill/>
          <a:ln/>
        </p:spPr>
        <p:txBody>
          <a:bodyPr wrap="square" lIns="0" tIns="0" rIns="0" bIns="0" rtlCol="0" anchor="ctr"/>
          <a:lstStyle/>
          <a:p>
            <a:pPr marL="0" indent="0">
              <a:buNone/>
            </a:pPr>
            <a:r>
              <a:rPr lang="en-US" sz="1050" b="1">
                <a:solidFill>
                  <a:srgbClr val="123A5E"/>
                </a:solidFill>
                <a:latin typeface="Calibri" pitchFamily="34" charset="0"/>
                <a:ea typeface="Calibri" pitchFamily="34" charset="-122"/>
                <a:cs typeface="Calibri" pitchFamily="34" charset="-120"/>
              </a:rPr>
              <a:t>market_segment_Online TA</a:t>
            </a:r>
            <a:endParaRPr lang="en-US" sz="1050" dirty="0"/>
          </a:p>
        </p:txBody>
      </p:sp>
      <p:sp>
        <p:nvSpPr>
          <p:cNvPr id="15" name="Text 11"/>
          <p:cNvSpPr/>
          <p:nvPr/>
        </p:nvSpPr>
        <p:spPr>
          <a:xfrm>
            <a:off x="1207008" y="2221992"/>
            <a:ext cx="2651760" cy="219456"/>
          </a:xfrm>
          <a:prstGeom prst="rect">
            <a:avLst/>
          </a:prstGeom>
          <a:noFill/>
          <a:ln/>
        </p:spPr>
        <p:txBody>
          <a:bodyPr wrap="square" lIns="0" tIns="0" rIns="0" bIns="0" rtlCol="0" anchor="ctr"/>
          <a:lstStyle/>
          <a:p>
            <a:pPr marL="0" indent="0">
              <a:buNone/>
            </a:pPr>
            <a:r>
              <a:rPr lang="en-US" sz="1100" b="1">
                <a:solidFill>
                  <a:srgbClr val="E2703A"/>
                </a:solidFill>
                <a:latin typeface="Consolas" pitchFamily="34" charset="0"/>
                <a:ea typeface="Consolas" pitchFamily="34" charset="-122"/>
                <a:cs typeface="Consolas" pitchFamily="34" charset="-120"/>
              </a:rPr>
              <a:t>+1,568</a:t>
            </a:r>
            <a:endParaRPr lang="en-US" sz="1100" dirty="0"/>
          </a:p>
        </p:txBody>
      </p:sp>
      <p:sp>
        <p:nvSpPr>
          <p:cNvPr id="16" name="Text 12"/>
          <p:cNvSpPr/>
          <p:nvPr/>
        </p:nvSpPr>
        <p:spPr>
          <a:xfrm>
            <a:off x="3977640" y="1993392"/>
            <a:ext cx="4498848" cy="548640"/>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Online TA berasosiasi dengan peluang pembatalan lebih tinggi, konsisten dengan cancellation rate 31,2%.</a:t>
            </a:r>
            <a:endParaRPr lang="en-US" sz="930" dirty="0"/>
          </a:p>
        </p:txBody>
      </p:sp>
      <p:sp>
        <p:nvSpPr>
          <p:cNvPr id="17" name="Shape 13"/>
          <p:cNvSpPr/>
          <p:nvPr/>
        </p:nvSpPr>
        <p:spPr>
          <a:xfrm>
            <a:off x="502920" y="2670048"/>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4"/>
          <p:cNvSpPr/>
          <p:nvPr/>
        </p:nvSpPr>
        <p:spPr>
          <a:xfrm>
            <a:off x="658368" y="2816352"/>
            <a:ext cx="420624" cy="420624"/>
          </a:xfrm>
          <a:prstGeom prst="roundRect">
            <a:avLst>
              <a:gd name="adj" fmla="val 17391"/>
            </a:avLst>
          </a:prstGeom>
          <a:solidFill>
            <a:srgbClr val="123A5E"/>
          </a:solidFill>
          <a:ln/>
        </p:spPr>
        <p:txBody>
          <a:bodyPr/>
          <a:lstStyle/>
          <a:p>
            <a:endParaRPr lang="en-ID"/>
          </a:p>
        </p:txBody>
      </p:sp>
      <p:pic>
        <p:nvPicPr>
          <p:cNvPr id="19" name="Image 2" descr="/home/claude/assets/ic_users_white.png"/>
          <p:cNvPicPr>
            <a:picLocks noChangeAspect="1"/>
          </p:cNvPicPr>
          <p:nvPr/>
        </p:nvPicPr>
        <p:blipFill>
          <a:blip r:embed="rId5"/>
          <a:stretch>
            <a:fillRect/>
          </a:stretch>
        </p:blipFill>
        <p:spPr>
          <a:xfrm>
            <a:off x="758952" y="2916936"/>
            <a:ext cx="219456" cy="219456"/>
          </a:xfrm>
          <a:prstGeom prst="rect">
            <a:avLst/>
          </a:prstGeom>
        </p:spPr>
      </p:pic>
      <p:sp>
        <p:nvSpPr>
          <p:cNvPr id="20" name="Text 15"/>
          <p:cNvSpPr/>
          <p:nvPr/>
        </p:nvSpPr>
        <p:spPr>
          <a:xfrm>
            <a:off x="1207008" y="2779776"/>
            <a:ext cx="2651760" cy="219456"/>
          </a:xfrm>
          <a:prstGeom prst="rect">
            <a:avLst/>
          </a:prstGeom>
          <a:noFill/>
          <a:ln/>
        </p:spPr>
        <p:txBody>
          <a:bodyPr wrap="square" lIns="0" tIns="0" rIns="0" bIns="0" rtlCol="0" anchor="ctr"/>
          <a:lstStyle/>
          <a:p>
            <a:pPr marL="0" indent="0">
              <a:buNone/>
            </a:pPr>
            <a:r>
              <a:rPr lang="en-US" sz="1050" b="1">
                <a:solidFill>
                  <a:srgbClr val="123A5E"/>
                </a:solidFill>
                <a:latin typeface="Calibri" pitchFamily="34" charset="0"/>
                <a:ea typeface="Calibri" pitchFamily="34" charset="-122"/>
                <a:cs typeface="Calibri" pitchFamily="34" charset="-120"/>
              </a:rPr>
              <a:t>deposit_type_No Deposit</a:t>
            </a:r>
            <a:endParaRPr lang="en-US" sz="1050" dirty="0"/>
          </a:p>
        </p:txBody>
      </p:sp>
      <p:sp>
        <p:nvSpPr>
          <p:cNvPr id="21" name="Text 16"/>
          <p:cNvSpPr/>
          <p:nvPr/>
        </p:nvSpPr>
        <p:spPr>
          <a:xfrm>
            <a:off x="1207008" y="3026664"/>
            <a:ext cx="2651760" cy="219456"/>
          </a:xfrm>
          <a:prstGeom prst="rect">
            <a:avLst/>
          </a:prstGeom>
          <a:noFill/>
          <a:ln/>
        </p:spPr>
        <p:txBody>
          <a:bodyPr wrap="square" lIns="0" tIns="0" rIns="0" bIns="0" rtlCol="0" anchor="ctr"/>
          <a:lstStyle/>
          <a:p>
            <a:pPr marL="0" indent="0">
              <a:buNone/>
            </a:pPr>
            <a:r>
              <a:rPr lang="en-US" sz="1100" b="1">
                <a:solidFill>
                  <a:srgbClr val="E2703A"/>
                </a:solidFill>
                <a:latin typeface="Consolas" pitchFamily="34" charset="0"/>
                <a:ea typeface="Consolas" pitchFamily="34" charset="-122"/>
                <a:cs typeface="Consolas" pitchFamily="34" charset="-120"/>
              </a:rPr>
              <a:t>-1,471</a:t>
            </a:r>
            <a:endParaRPr lang="en-US" sz="1100" dirty="0"/>
          </a:p>
        </p:txBody>
      </p:sp>
      <p:sp>
        <p:nvSpPr>
          <p:cNvPr id="22" name="Text 17"/>
          <p:cNvSpPr/>
          <p:nvPr/>
        </p:nvSpPr>
        <p:spPr>
          <a:xfrm>
            <a:off x="3977640" y="2798064"/>
            <a:ext cx="4498848" cy="548640"/>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No Deposit berasosiasi negatif dengan pembatalan. Cancellation rate bivariatnya 22,5%.</a:t>
            </a:r>
            <a:endParaRPr lang="en-US" sz="930" dirty="0"/>
          </a:p>
        </p:txBody>
      </p:sp>
      <p:sp>
        <p:nvSpPr>
          <p:cNvPr id="23" name="Shape 18"/>
          <p:cNvSpPr/>
          <p:nvPr/>
        </p:nvSpPr>
        <p:spPr>
          <a:xfrm>
            <a:off x="502920" y="3474720"/>
            <a:ext cx="813816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4" name="Shape 19"/>
          <p:cNvSpPr/>
          <p:nvPr/>
        </p:nvSpPr>
        <p:spPr>
          <a:xfrm>
            <a:off x="658368" y="3621024"/>
            <a:ext cx="420624" cy="420624"/>
          </a:xfrm>
          <a:prstGeom prst="roundRect">
            <a:avLst>
              <a:gd name="adj" fmla="val 17391"/>
            </a:avLst>
          </a:prstGeom>
          <a:solidFill>
            <a:srgbClr val="123A5E"/>
          </a:solidFill>
          <a:ln/>
        </p:spPr>
        <p:txBody>
          <a:bodyPr/>
          <a:lstStyle/>
          <a:p>
            <a:endParaRPr lang="en-ID"/>
          </a:p>
        </p:txBody>
      </p:sp>
      <p:pic>
        <p:nvPicPr>
          <p:cNvPr id="25" name="Image 3" descr="/home/claude/assets/ic_search_white.png"/>
          <p:cNvPicPr>
            <a:picLocks noChangeAspect="1"/>
          </p:cNvPicPr>
          <p:nvPr/>
        </p:nvPicPr>
        <p:blipFill>
          <a:blip r:embed="rId6"/>
          <a:stretch>
            <a:fillRect/>
          </a:stretch>
        </p:blipFill>
        <p:spPr>
          <a:xfrm>
            <a:off x="758952" y="3721608"/>
            <a:ext cx="219456" cy="219456"/>
          </a:xfrm>
          <a:prstGeom prst="rect">
            <a:avLst/>
          </a:prstGeom>
        </p:spPr>
      </p:pic>
      <p:sp>
        <p:nvSpPr>
          <p:cNvPr id="26" name="Text 20"/>
          <p:cNvSpPr/>
          <p:nvPr/>
        </p:nvSpPr>
        <p:spPr>
          <a:xfrm>
            <a:off x="1207008" y="3584448"/>
            <a:ext cx="2651760" cy="219456"/>
          </a:xfrm>
          <a:prstGeom prst="rect">
            <a:avLst/>
          </a:prstGeom>
          <a:noFill/>
          <a:ln/>
        </p:spPr>
        <p:txBody>
          <a:bodyPr wrap="square" lIns="0" tIns="0" rIns="0" bIns="0" rtlCol="0" anchor="ctr"/>
          <a:lstStyle/>
          <a:p>
            <a:pPr marL="0" indent="0">
              <a:buNone/>
            </a:pPr>
            <a:r>
              <a:rPr lang="en-US" sz="1050" b="1">
                <a:solidFill>
                  <a:srgbClr val="123A5E"/>
                </a:solidFill>
                <a:latin typeface="Calibri" pitchFamily="34" charset="0"/>
                <a:ea typeface="Calibri" pitchFamily="34" charset="-122"/>
                <a:cs typeface="Calibri" pitchFamily="34" charset="-120"/>
              </a:rPr>
              <a:t>deposit_type_Non Refund</a:t>
            </a:r>
            <a:endParaRPr lang="en-US" sz="1050" dirty="0"/>
          </a:p>
        </p:txBody>
      </p:sp>
      <p:sp>
        <p:nvSpPr>
          <p:cNvPr id="27" name="Text 21"/>
          <p:cNvSpPr/>
          <p:nvPr/>
        </p:nvSpPr>
        <p:spPr>
          <a:xfrm>
            <a:off x="1207008" y="3831336"/>
            <a:ext cx="2651760" cy="219456"/>
          </a:xfrm>
          <a:prstGeom prst="rect">
            <a:avLst/>
          </a:prstGeom>
          <a:noFill/>
          <a:ln/>
        </p:spPr>
        <p:txBody>
          <a:bodyPr wrap="square" lIns="0" tIns="0" rIns="0" bIns="0" rtlCol="0" anchor="ctr"/>
          <a:lstStyle/>
          <a:p>
            <a:pPr marL="0" indent="0">
              <a:buNone/>
            </a:pPr>
            <a:r>
              <a:rPr lang="en-US" sz="1100" b="1">
                <a:solidFill>
                  <a:srgbClr val="E2703A"/>
                </a:solidFill>
                <a:latin typeface="Consolas" pitchFamily="34" charset="0"/>
                <a:ea typeface="Consolas" pitchFamily="34" charset="-122"/>
                <a:cs typeface="Consolas" pitchFamily="34" charset="-120"/>
              </a:rPr>
              <a:t>+1,120</a:t>
            </a:r>
            <a:endParaRPr lang="en-US" sz="1100" dirty="0"/>
          </a:p>
        </p:txBody>
      </p:sp>
      <p:sp>
        <p:nvSpPr>
          <p:cNvPr id="28" name="Text 22"/>
          <p:cNvSpPr/>
          <p:nvPr/>
        </p:nvSpPr>
        <p:spPr>
          <a:xfrm>
            <a:off x="3977640" y="3602736"/>
            <a:ext cx="4498848" cy="548640"/>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Non Refund berasosiasi positif dan memiliki cancellation rate 89,2%. Perlu investigasi operasional.</a:t>
            </a:r>
            <a:endParaRPr lang="en-US" sz="930" dirty="0"/>
          </a:p>
        </p:txBody>
      </p:sp>
      <p:sp>
        <p:nvSpPr>
          <p:cNvPr id="29" name="Shape 23"/>
          <p:cNvSpPr/>
          <p:nvPr/>
        </p:nvSpPr>
        <p:spPr>
          <a:xfrm>
            <a:off x="502920" y="4297680"/>
            <a:ext cx="8138160" cy="548640"/>
          </a:xfrm>
          <a:prstGeom prst="roundRect">
            <a:avLst>
              <a:gd name="adj" fmla="val 10000"/>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0" name="Image 4" descr="/home/claude/assets/ic_warn_orange.png"/>
          <p:cNvPicPr>
            <a:picLocks noChangeAspect="1"/>
          </p:cNvPicPr>
          <p:nvPr/>
        </p:nvPicPr>
        <p:blipFill>
          <a:blip r:embed="rId7"/>
          <a:stretch>
            <a:fillRect/>
          </a:stretch>
        </p:blipFill>
        <p:spPr>
          <a:xfrm>
            <a:off x="694944" y="4407408"/>
            <a:ext cx="219456" cy="219456"/>
          </a:xfrm>
          <a:prstGeom prst="rect">
            <a:avLst/>
          </a:prstGeom>
        </p:spPr>
      </p:pic>
      <p:sp>
        <p:nvSpPr>
          <p:cNvPr id="31" name="Text 24"/>
          <p:cNvSpPr/>
          <p:nvPr/>
        </p:nvSpPr>
        <p:spPr>
          <a:xfrm>
            <a:off x="1005840" y="4407408"/>
            <a:ext cx="7452360" cy="365760"/>
          </a:xfrm>
          <a:prstGeom prst="rect">
            <a:avLst/>
          </a:prstGeom>
          <a:noFill/>
          <a:ln/>
        </p:spPr>
        <p:txBody>
          <a:bodyPr wrap="square" lIns="0" tIns="0" rIns="0" bIns="0" rtlCol="0" anchor="t"/>
          <a:lstStyle/>
          <a:p>
            <a:pPr marL="0" indent="0">
              <a:lnSpc>
                <a:spcPts val="1264"/>
              </a:lnSpc>
              <a:buNone/>
            </a:pPr>
            <a:r>
              <a:rPr lang="en-US" sz="950">
                <a:solidFill>
                  <a:srgbClr val="B3392E"/>
                </a:solidFill>
                <a:latin typeface="Calibri" pitchFamily="34" charset="0"/>
                <a:ea typeface="Calibri" pitchFamily="34" charset="-122"/>
                <a:cs typeface="Calibri" pitchFamily="34" charset="-120"/>
              </a:rPr>
              <a:t>Koefisien menunjukkan asosiasi setelah mengontrol fitur lain, bukan hubungan sebab-akibat.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LIMITASI MODEL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Kapan model ini boleh dipercaya — dan kapan tidak</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35</a:t>
            </a:r>
            <a:endParaRPr lang="en-US" sz="900" dirty="0"/>
          </a:p>
        </p:txBody>
      </p:sp>
      <p:sp>
        <p:nvSpPr>
          <p:cNvPr id="5" name="Shape 3"/>
          <p:cNvSpPr/>
          <p:nvPr/>
        </p:nvSpPr>
        <p:spPr>
          <a:xfrm>
            <a:off x="502920" y="1097280"/>
            <a:ext cx="3977640" cy="3035808"/>
          </a:xfrm>
          <a:prstGeom prst="roundRect">
            <a:avLst>
              <a:gd name="adj" fmla="val 1807"/>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check_navy.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Dapat diandalkan untuk</a:t>
            </a:r>
            <a:endParaRPr lang="en-US" sz="1250" dirty="0"/>
          </a:p>
        </p:txBody>
      </p:sp>
      <p:sp>
        <p:nvSpPr>
          <p:cNvPr id="8" name="Text 5"/>
          <p:cNvSpPr/>
          <p:nvPr/>
        </p:nvSpPr>
        <p:spPr>
          <a:xfrm>
            <a:off x="713232" y="1645920"/>
            <a:ext cx="3566160" cy="1465966"/>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Menangkap 399 dari 481 pembatalan (Recall 0,830)</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Avg Recall CV 0,822 dekat dengan recall test</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Profil booking yang mirip data latih</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Memeringkat prioritas setelah probabilitas dikalibrasi</a:t>
            </a:r>
            <a:endParaRPr lang="en-US" sz="940" dirty="0"/>
          </a:p>
        </p:txBody>
      </p:sp>
      <p:sp>
        <p:nvSpPr>
          <p:cNvPr id="9" name="Shape 6"/>
          <p:cNvSpPr/>
          <p:nvPr/>
        </p:nvSpPr>
        <p:spPr>
          <a:xfrm>
            <a:off x="4663440" y="1097280"/>
            <a:ext cx="3977640" cy="3035808"/>
          </a:xfrm>
          <a:prstGeom prst="roundRect">
            <a:avLst>
              <a:gd name="adj" fmla="val 1807"/>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warn_orange.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Belum bisa diandalkan untuk</a:t>
            </a:r>
            <a:endParaRPr lang="en-US" sz="1250" dirty="0"/>
          </a:p>
        </p:txBody>
      </p:sp>
      <p:sp>
        <p:nvSpPr>
          <p:cNvPr id="12" name="Text 8"/>
          <p:cNvSpPr/>
          <p:nvPr/>
        </p:nvSpPr>
        <p:spPr>
          <a:xfrm>
            <a:off x="4873752" y="1645920"/>
            <a:ext cx="3566160" cy="1465966"/>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Keputusan otomatis: 471 dari 870 booking yang ditandai aman</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Segmen bersampel sangat kecil</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Hubungan non-linear yang tidak tertangkap</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Periode baru dengan pola permintaan berubah</a:t>
            </a:r>
            <a:endParaRPr lang="en-US" sz="940" dirty="0"/>
          </a:p>
        </p:txBody>
      </p:sp>
      <p:sp>
        <p:nvSpPr>
          <p:cNvPr id="13" name="Text 9"/>
          <p:cNvSpPr/>
          <p:nvPr/>
        </p:nvSpPr>
        <p:spPr>
          <a:xfrm>
            <a:off x="502920" y="4224528"/>
            <a:ext cx="8138160" cy="384048"/>
          </a:xfrm>
          <a:prstGeom prst="rect">
            <a:avLst/>
          </a:prstGeom>
          <a:noFill/>
          <a:ln/>
        </p:spPr>
        <p:txBody>
          <a:bodyPr wrap="square" lIns="0" tIns="0" rIns="0" bIns="0" rtlCol="0" anchor="t"/>
          <a:lstStyle/>
          <a:p>
            <a:pPr marL="0" indent="0">
              <a:lnSpc>
                <a:spcPts val="1303"/>
              </a:lnSpc>
              <a:buNone/>
            </a:pPr>
            <a:r>
              <a:rPr lang="en-US" sz="980">
                <a:solidFill>
                  <a:srgbClr val="6B7885"/>
                </a:solidFill>
                <a:latin typeface="Calibri" pitchFamily="34" charset="0"/>
                <a:ea typeface="Calibri" pitchFamily="34" charset="-122"/>
                <a:cs typeface="Calibri" pitchFamily="34" charset="-120"/>
              </a:rPr>
              <a:t>Gunakan model sebagai penyaring awal dan alat prioritisasi. Dengan Precision 0,459, hasil perlu diverifikasi tim.</a:t>
            </a:r>
            <a:endParaRPr lang="en-US" sz="9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6583680" y="-1188720"/>
            <a:ext cx="4206240" cy="4206240"/>
          </a:xfrm>
          <a:prstGeom prst="ellipse">
            <a:avLst/>
          </a:prstGeom>
          <a:solidFill>
            <a:srgbClr val="123A5E"/>
          </a:solidFill>
          <a:ln/>
        </p:spPr>
        <p:txBody>
          <a:bodyPr/>
          <a:lstStyle/>
          <a:p>
            <a:endParaRPr lang="en-ID"/>
          </a:p>
        </p:txBody>
      </p:sp>
      <p:sp>
        <p:nvSpPr>
          <p:cNvPr id="3" name="Shape 1"/>
          <p:cNvSpPr/>
          <p:nvPr/>
        </p:nvSpPr>
        <p:spPr>
          <a:xfrm>
            <a:off x="7680960" y="3017520"/>
            <a:ext cx="2560320" cy="2560320"/>
          </a:xfrm>
          <a:prstGeom prst="ellipse">
            <a:avLst/>
          </a:prstGeom>
          <a:solidFill>
            <a:srgbClr val="103352"/>
          </a:solidFill>
          <a:ln/>
        </p:spPr>
        <p:txBody>
          <a:bodyPr/>
          <a:lstStyle/>
          <a:p>
            <a:endParaRPr lang="en-ID"/>
          </a:p>
        </p:txBody>
      </p:sp>
      <p:sp>
        <p:nvSpPr>
          <p:cNvPr id="4" name="Text 2"/>
          <p:cNvSpPr/>
          <p:nvPr/>
        </p:nvSpPr>
        <p:spPr>
          <a:xfrm>
            <a:off x="566928" y="1335024"/>
            <a:ext cx="1828800" cy="914400"/>
          </a:xfrm>
          <a:prstGeom prst="rect">
            <a:avLst/>
          </a:prstGeom>
          <a:noFill/>
          <a:ln/>
        </p:spPr>
        <p:txBody>
          <a:bodyPr wrap="square" lIns="0" tIns="0" rIns="0" bIns="0" rtlCol="0" anchor="ctr"/>
          <a:lstStyle/>
          <a:p>
            <a:pPr marL="0" indent="0">
              <a:buNone/>
            </a:pPr>
            <a:r>
              <a:rPr lang="en-US" sz="5800" b="1" dirty="0">
                <a:solidFill>
                  <a:srgbClr val="1D4A73"/>
                </a:solidFill>
                <a:latin typeface="Calibri" pitchFamily="34" charset="0"/>
                <a:ea typeface="Calibri" pitchFamily="34" charset="-122"/>
                <a:cs typeface="Calibri" pitchFamily="34" charset="-120"/>
              </a:rPr>
              <a:t>04</a:t>
            </a:r>
            <a:endParaRPr lang="en-US" sz="5800" dirty="0"/>
          </a:p>
        </p:txBody>
      </p:sp>
      <p:pic>
        <p:nvPicPr>
          <p:cNvPr id="5" name="Image 0" descr="/home/claude/assets/ic_flag_orange.png"/>
          <p:cNvPicPr>
            <a:picLocks noChangeAspect="1"/>
          </p:cNvPicPr>
          <p:nvPr/>
        </p:nvPicPr>
        <p:blipFill>
          <a:blip r:embed="rId3"/>
          <a:stretch>
            <a:fillRect/>
          </a:stretch>
        </p:blipFill>
        <p:spPr>
          <a:xfrm>
            <a:off x="603504" y="2487168"/>
            <a:ext cx="384048" cy="384048"/>
          </a:xfrm>
          <a:prstGeom prst="rect">
            <a:avLst/>
          </a:prstGeom>
        </p:spPr>
      </p:pic>
      <p:sp>
        <p:nvSpPr>
          <p:cNvPr id="6" name="Text 3"/>
          <p:cNvSpPr/>
          <p:nvPr/>
        </p:nvSpPr>
        <p:spPr>
          <a:xfrm>
            <a:off x="566928" y="2999232"/>
            <a:ext cx="6400800" cy="45720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Impact &amp; Rekomendasi</a:t>
            </a:r>
            <a:endParaRPr lang="en-US" sz="3100" dirty="0"/>
          </a:p>
        </p:txBody>
      </p:sp>
      <p:sp>
        <p:nvSpPr>
          <p:cNvPr id="7" name="Text 4"/>
          <p:cNvSpPr/>
          <p:nvPr/>
        </p:nvSpPr>
        <p:spPr>
          <a:xfrm>
            <a:off x="585216" y="3529584"/>
            <a:ext cx="6400800" cy="274320"/>
          </a:xfrm>
          <a:prstGeom prst="rect">
            <a:avLst/>
          </a:prstGeom>
          <a:noFill/>
          <a:ln/>
        </p:spPr>
        <p:txBody>
          <a:bodyPr wrap="square" lIns="0" tIns="0" rIns="0" bIns="0" rtlCol="0" anchor="ctr"/>
          <a:lstStyle/>
          <a:p>
            <a:pPr marL="0" indent="0">
              <a:buNone/>
            </a:pPr>
            <a:r>
              <a:rPr lang="en-US" sz="1250" dirty="0">
                <a:solidFill>
                  <a:srgbClr val="93A8BC"/>
                </a:solidFill>
                <a:latin typeface="Calibri" pitchFamily="34" charset="0"/>
                <a:ea typeface="Calibri" pitchFamily="34" charset="-122"/>
                <a:cs typeface="Calibri" pitchFamily="34" charset="-120"/>
              </a:rPr>
              <a:t>Dampak bisnis, kesimpulan, dan rencana perbaikan</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BUSINESS IMPACT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Kerangka perhitungan dampak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a:off x="502920" y="1060704"/>
            <a:ext cx="8138160" cy="694944"/>
          </a:xfrm>
          <a:prstGeom prst="roundRect">
            <a:avLst>
              <a:gd name="adj" fmla="val 7895"/>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207008"/>
            <a:ext cx="256032" cy="256032"/>
          </a:xfrm>
          <a:prstGeom prst="rect">
            <a:avLst/>
          </a:prstGeom>
        </p:spPr>
      </p:pic>
      <p:sp>
        <p:nvSpPr>
          <p:cNvPr id="7" name="Text 4"/>
          <p:cNvSpPr/>
          <p:nvPr/>
        </p:nvSpPr>
        <p:spPr>
          <a:xfrm>
            <a:off x="1097280" y="1188720"/>
            <a:ext cx="7360920" cy="457200"/>
          </a:xfrm>
          <a:prstGeom prst="rect">
            <a:avLst/>
          </a:prstGeom>
          <a:noFill/>
          <a:ln/>
        </p:spPr>
        <p:txBody>
          <a:bodyPr wrap="square" lIns="0" tIns="0" rIns="0" bIns="0" rtlCol="0" anchor="t"/>
          <a:lstStyle/>
          <a:p>
            <a:pPr marL="0" indent="0">
              <a:lnSpc>
                <a:spcPts val="1330"/>
              </a:lnSpc>
              <a:buNone/>
            </a:pPr>
            <a:r>
              <a:rPr lang="en-US" sz="1000" dirty="0">
                <a:solidFill>
                  <a:srgbClr val="B3392E"/>
                </a:solidFill>
                <a:latin typeface="Calibri" pitchFamily="34" charset="0"/>
                <a:ea typeface="Calibri" pitchFamily="34" charset="-122"/>
                <a:cs typeface="Calibri" pitchFamily="34" charset="-120"/>
              </a:rPr>
              <a:t>Dataset tidak memuat harga kamar (ADR) maupun biaya intervensi, sehingga nilai rupiah tidak dapat dihitung dari data. Kerangka di bawah harus diisi angka internal hotel dan disebut sebagai asumsi.</a:t>
            </a:r>
            <a:endParaRPr lang="en-US" sz="1000" dirty="0"/>
          </a:p>
        </p:txBody>
      </p:sp>
      <p:sp>
        <p:nvSpPr>
          <p:cNvPr id="8" name="Shape 5"/>
          <p:cNvSpPr/>
          <p:nvPr/>
        </p:nvSpPr>
        <p:spPr>
          <a:xfrm>
            <a:off x="502920" y="1883664"/>
            <a:ext cx="8138160" cy="1005840"/>
          </a:xfrm>
          <a:prstGeom prst="roundRect">
            <a:avLst>
              <a:gd name="adj" fmla="val 5455"/>
            </a:avLst>
          </a:prstGeom>
          <a:solidFill>
            <a:srgbClr val="F7F1F0"/>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9" name="Text 6"/>
          <p:cNvSpPr/>
          <p:nvPr/>
        </p:nvSpPr>
        <p:spPr>
          <a:xfrm>
            <a:off x="731520" y="2002536"/>
            <a:ext cx="1828800" cy="237744"/>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Tanpa model</a:t>
            </a:r>
            <a:endParaRPr lang="en-US" sz="1250" dirty="0"/>
          </a:p>
        </p:txBody>
      </p:sp>
      <p:sp>
        <p:nvSpPr>
          <p:cNvPr id="10" name="Text 7"/>
          <p:cNvSpPr/>
          <p:nvPr/>
        </p:nvSpPr>
        <p:spPr>
          <a:xfrm>
            <a:off x="731520" y="2276856"/>
            <a:ext cx="3749040" cy="548640"/>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Semua booking diperlakukan sama. Seluruh 481 pembatalan pada periode uji terjadi tanpa antisipasi.</a:t>
            </a:r>
            <a:endParaRPr lang="en-US" sz="1000" dirty="0"/>
          </a:p>
        </p:txBody>
      </p:sp>
      <p:sp>
        <p:nvSpPr>
          <p:cNvPr id="11" name="Shape 8"/>
          <p:cNvSpPr/>
          <p:nvPr/>
        </p:nvSpPr>
        <p:spPr>
          <a:xfrm>
            <a:off x="4617720" y="2057400"/>
            <a:ext cx="3840480" cy="640080"/>
          </a:xfrm>
          <a:prstGeom prst="roundRect">
            <a:avLst>
              <a:gd name="adj" fmla="val 8571"/>
            </a:avLst>
          </a:prstGeom>
          <a:solidFill>
            <a:srgbClr val="FFFFFF"/>
          </a:solidFill>
          <a:ln w="9525">
            <a:solidFill>
              <a:srgbClr val="D8E0E8"/>
            </a:solidFill>
            <a:prstDash val="solid"/>
          </a:ln>
        </p:spPr>
        <p:txBody>
          <a:bodyPr/>
          <a:lstStyle/>
          <a:p>
            <a:endParaRPr lang="en-ID"/>
          </a:p>
        </p:txBody>
      </p:sp>
      <p:sp>
        <p:nvSpPr>
          <p:cNvPr id="12" name="Text 9"/>
          <p:cNvSpPr/>
          <p:nvPr/>
        </p:nvSpPr>
        <p:spPr>
          <a:xfrm>
            <a:off x="4736592" y="2148840"/>
            <a:ext cx="3602736" cy="457200"/>
          </a:xfrm>
          <a:prstGeom prst="rect">
            <a:avLst/>
          </a:prstGeom>
          <a:noFill/>
          <a:ln/>
        </p:spPr>
        <p:txBody>
          <a:bodyPr wrap="square" lIns="0" tIns="0" rIns="0" bIns="0" rtlCol="0" anchor="ctr"/>
          <a:lstStyle/>
          <a:p>
            <a:pPr marL="0" indent="0" algn="ctr">
              <a:buNone/>
            </a:pPr>
            <a:r>
              <a:rPr lang="en-US" sz="1050" b="1" dirty="0">
                <a:solidFill>
                  <a:srgbClr val="16202B"/>
                </a:solidFill>
                <a:latin typeface="Calibri" pitchFamily="34" charset="0"/>
                <a:ea typeface="Calibri" pitchFamily="34" charset="-122"/>
                <a:cs typeface="Calibri" pitchFamily="34" charset="-120"/>
              </a:rPr>
              <a:t>481 × biaya kamar kosong</a:t>
            </a:r>
            <a:endParaRPr lang="en-US" sz="1050" dirty="0"/>
          </a:p>
        </p:txBody>
      </p:sp>
      <p:sp>
        <p:nvSpPr>
          <p:cNvPr id="13" name="Shape 10"/>
          <p:cNvSpPr/>
          <p:nvPr/>
        </p:nvSpPr>
        <p:spPr>
          <a:xfrm>
            <a:off x="502920" y="2999232"/>
            <a:ext cx="8138160" cy="1005840"/>
          </a:xfrm>
          <a:prstGeom prst="roundRect">
            <a:avLst>
              <a:gd name="adj" fmla="val 5455"/>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4" name="Text 11"/>
          <p:cNvSpPr/>
          <p:nvPr/>
        </p:nvSpPr>
        <p:spPr>
          <a:xfrm>
            <a:off x="731520" y="3118104"/>
            <a:ext cx="1828800" cy="237744"/>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Dengan model</a:t>
            </a:r>
            <a:endParaRPr lang="en-US" sz="1250" dirty="0"/>
          </a:p>
        </p:txBody>
      </p:sp>
      <p:sp>
        <p:nvSpPr>
          <p:cNvPr id="15" name="Text 12"/>
          <p:cNvSpPr/>
          <p:nvPr/>
        </p:nvSpPr>
        <p:spPr>
          <a:xfrm>
            <a:off x="731520" y="3392424"/>
            <a:ext cx="3749040" cy="548640"/>
          </a:xfrm>
          <a:prstGeom prst="rect">
            <a:avLst/>
          </a:prstGeom>
          <a:noFill/>
          <a:ln/>
        </p:spPr>
        <p:txBody>
          <a:bodyPr wrap="square" lIns="0" tIns="0" rIns="0" bIns="0" rtlCol="0" anchor="t"/>
          <a:lstStyle/>
          <a:p>
            <a:pPr marL="0" indent="0">
              <a:lnSpc>
                <a:spcPts val="1330"/>
              </a:lnSpc>
              <a:buNone/>
            </a:pPr>
            <a:r>
              <a:rPr lang="nl-NL" sz="1000">
                <a:solidFill>
                  <a:srgbClr val="16202B"/>
                </a:solidFill>
                <a:latin typeface="Calibri" pitchFamily="34" charset="0"/>
                <a:ea typeface="Calibri" pitchFamily="34" charset="-122"/>
                <a:cs typeface="Calibri" pitchFamily="34" charset="-120"/>
              </a:rPr>
              <a:t>399 pembatalan terdeteksi lebih awal dan dapat diintervensi. 471 booking aman ikut dihubungi.</a:t>
            </a:r>
            <a:endParaRPr lang="en-US" sz="1000" dirty="0"/>
          </a:p>
        </p:txBody>
      </p:sp>
      <p:sp>
        <p:nvSpPr>
          <p:cNvPr id="16" name="Shape 13"/>
          <p:cNvSpPr/>
          <p:nvPr/>
        </p:nvSpPr>
        <p:spPr>
          <a:xfrm>
            <a:off x="4617720" y="3172968"/>
            <a:ext cx="3840480" cy="640080"/>
          </a:xfrm>
          <a:prstGeom prst="roundRect">
            <a:avLst>
              <a:gd name="adj" fmla="val 8571"/>
            </a:avLst>
          </a:prstGeom>
          <a:solidFill>
            <a:srgbClr val="FFFFFF"/>
          </a:solidFill>
          <a:ln w="9525">
            <a:solidFill>
              <a:srgbClr val="D8E0E8"/>
            </a:solidFill>
            <a:prstDash val="solid"/>
          </a:ln>
        </p:spPr>
        <p:txBody>
          <a:bodyPr/>
          <a:lstStyle/>
          <a:p>
            <a:endParaRPr lang="en-ID"/>
          </a:p>
        </p:txBody>
      </p:sp>
      <p:sp>
        <p:nvSpPr>
          <p:cNvPr id="17" name="Text 14"/>
          <p:cNvSpPr/>
          <p:nvPr/>
        </p:nvSpPr>
        <p:spPr>
          <a:xfrm>
            <a:off x="4736592" y="3264408"/>
            <a:ext cx="3602736" cy="457200"/>
          </a:xfrm>
          <a:prstGeom prst="rect">
            <a:avLst/>
          </a:prstGeom>
          <a:noFill/>
          <a:ln/>
        </p:spPr>
        <p:txBody>
          <a:bodyPr wrap="square" lIns="0" tIns="0" rIns="0" bIns="0" rtlCol="0" anchor="ctr"/>
          <a:lstStyle/>
          <a:p>
            <a:pPr marL="0" indent="0" algn="ctr">
              <a:buNone/>
            </a:pPr>
            <a:r>
              <a:rPr lang="en-US" sz="1050" b="1">
                <a:solidFill>
                  <a:srgbClr val="16202B"/>
                </a:solidFill>
                <a:latin typeface="Calibri" pitchFamily="34" charset="0"/>
                <a:ea typeface="Calibri" pitchFamily="34" charset="-122"/>
                <a:cs typeface="Calibri" pitchFamily="34" charset="-120"/>
              </a:rPr>
              <a:t>(399 x tingkat keberhasilan retensi x nilai kamar) - (870 x biaya intervensi)</a:t>
            </a:r>
            <a:endParaRPr lang="en-US" sz="1050" dirty="0"/>
          </a:p>
        </p:txBody>
      </p:sp>
      <p:sp>
        <p:nvSpPr>
          <p:cNvPr id="18" name="Shape 15"/>
          <p:cNvSpPr/>
          <p:nvPr/>
        </p:nvSpPr>
        <p:spPr>
          <a:xfrm>
            <a:off x="502920" y="4133088"/>
            <a:ext cx="8138160" cy="548640"/>
          </a:xfrm>
          <a:prstGeom prst="roundRect">
            <a:avLst>
              <a:gd name="adj" fmla="val 10000"/>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9" name="Text 16"/>
          <p:cNvSpPr/>
          <p:nvPr/>
        </p:nvSpPr>
        <p:spPr>
          <a:xfrm>
            <a:off x="713232" y="4169664"/>
            <a:ext cx="7680960" cy="438912"/>
          </a:xfrm>
          <a:prstGeom prst="rect">
            <a:avLst/>
          </a:prstGeom>
          <a:noFill/>
          <a:ln/>
        </p:spPr>
        <p:txBody>
          <a:bodyPr wrap="square" lIns="0" tIns="0" rIns="0" bIns="0" rtlCol="0" anchor="t"/>
          <a:lstStyle/>
          <a:p>
            <a:pPr marL="0" indent="0">
              <a:lnSpc>
                <a:spcPts val="1210"/>
              </a:lnSpc>
              <a:buNone/>
            </a:pPr>
            <a:r>
              <a:rPr lang="en-US" sz="910">
                <a:solidFill>
                  <a:srgbClr val="6B7885"/>
                </a:solidFill>
                <a:latin typeface="Calibri" pitchFamily="34" charset="0"/>
                <a:ea typeface="Calibri" pitchFamily="34" charset="-122"/>
                <a:cs typeface="Calibri" pitchFamily="34" charset="-120"/>
              </a:rPr>
              <a:t>Confusion matrix test: TP 399, FP 471, FN 82. Kelayakan program bergantung pada nilai kamar, biaya kontak, dan tingkat keberhasilan retensi.</a:t>
            </a:r>
            <a:endParaRPr lang="en-US" sz="91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Memprioritaskan intervensi berdasarkan probabilitas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38</a:t>
            </a:r>
            <a:endParaRPr lang="en-US" sz="900" dirty="0"/>
          </a:p>
        </p:txBody>
      </p:sp>
      <p:sp>
        <p:nvSpPr>
          <p:cNvPr id="5" name="Shape 3"/>
          <p:cNvSpPr/>
          <p:nvPr/>
        </p:nvSpPr>
        <p:spPr>
          <a:xfrm>
            <a:off x="502920" y="1133856"/>
            <a:ext cx="2606040" cy="2103120"/>
          </a:xfrm>
          <a:prstGeom prst="roundRect">
            <a:avLst>
              <a:gd name="adj" fmla="val 2609"/>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85800" y="1316736"/>
            <a:ext cx="457200" cy="457200"/>
          </a:xfrm>
          <a:prstGeom prst="roundRect">
            <a:avLst>
              <a:gd name="adj" fmla="val 18000"/>
            </a:avLst>
          </a:prstGeom>
          <a:solidFill>
            <a:srgbClr val="B3392E"/>
          </a:solidFill>
          <a:ln/>
        </p:spPr>
        <p:txBody>
          <a:bodyPr/>
          <a:lstStyle/>
          <a:p>
            <a:endParaRPr lang="en-ID"/>
          </a:p>
        </p:txBody>
      </p:sp>
      <p:sp>
        <p:nvSpPr>
          <p:cNvPr id="7" name="Text 5"/>
          <p:cNvSpPr/>
          <p:nvPr/>
        </p:nvSpPr>
        <p:spPr>
          <a:xfrm>
            <a:off x="685800"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685800" y="1901952"/>
            <a:ext cx="2240280" cy="237744"/>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Prioritas Tinggi</a:t>
            </a:r>
            <a:endParaRPr lang="en-US" sz="1250" dirty="0"/>
          </a:p>
        </p:txBody>
      </p:sp>
      <p:sp>
        <p:nvSpPr>
          <p:cNvPr id="9" name="Text 7"/>
          <p:cNvSpPr/>
          <p:nvPr/>
        </p:nvSpPr>
        <p:spPr>
          <a:xfrm>
            <a:off x="685800"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 0,7</a:t>
            </a:r>
            <a:endParaRPr lang="en-US" sz="1000" dirty="0"/>
          </a:p>
        </p:txBody>
      </p:sp>
      <p:sp>
        <p:nvSpPr>
          <p:cNvPr id="10" name="Text 8"/>
          <p:cNvSpPr/>
          <p:nvPr/>
        </p:nvSpPr>
        <p:spPr>
          <a:xfrm>
            <a:off x="685800" y="2468880"/>
            <a:ext cx="2240280" cy="658368"/>
          </a:xfrm>
          <a:prstGeom prst="rect">
            <a:avLst/>
          </a:prstGeom>
          <a:noFill/>
          <a:ln/>
        </p:spPr>
        <p:txBody>
          <a:bodyPr wrap="square" lIns="0" tIns="0" rIns="0" bIns="0" rtlCol="0" anchor="t"/>
          <a:lstStyle/>
          <a:p>
            <a:pPr marL="0" indent="0">
              <a:lnSpc>
                <a:spcPts val="1264"/>
              </a:lnSpc>
              <a:buNone/>
            </a:pPr>
            <a:r>
              <a:rPr lang="en-US" sz="950">
                <a:solidFill>
                  <a:srgbClr val="6B7885"/>
                </a:solidFill>
                <a:latin typeface="Calibri" pitchFamily="34" charset="0"/>
                <a:ea typeface="Calibri" pitchFamily="34" charset="-122"/>
                <a:cs typeface="Calibri" pitchFamily="34" charset="-120"/>
              </a:rPr>
              <a:t>435 booking pada data uji. Fokuskan kontak personal pada kelompok ini.</a:t>
            </a:r>
            <a:endParaRPr lang="en-US" sz="950" dirty="0"/>
          </a:p>
        </p:txBody>
      </p:sp>
      <p:sp>
        <p:nvSpPr>
          <p:cNvPr id="11" name="Shape 9"/>
          <p:cNvSpPr/>
          <p:nvPr/>
        </p:nvSpPr>
        <p:spPr>
          <a:xfrm>
            <a:off x="3273552" y="1133856"/>
            <a:ext cx="2606040" cy="2103120"/>
          </a:xfrm>
          <a:prstGeom prst="roundRect">
            <a:avLst>
              <a:gd name="adj" fmla="val 2609"/>
            </a:avLst>
          </a:prstGeom>
          <a:solidFill>
            <a:srgbClr val="FDF3EC"/>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2" name="Shape 10"/>
          <p:cNvSpPr/>
          <p:nvPr/>
        </p:nvSpPr>
        <p:spPr>
          <a:xfrm>
            <a:off x="3456432" y="1316736"/>
            <a:ext cx="457200" cy="457200"/>
          </a:xfrm>
          <a:prstGeom prst="roundRect">
            <a:avLst>
              <a:gd name="adj" fmla="val 18000"/>
            </a:avLst>
          </a:prstGeom>
          <a:solidFill>
            <a:srgbClr val="E2703A"/>
          </a:solidFill>
          <a:ln/>
        </p:spPr>
        <p:txBody>
          <a:bodyPr/>
          <a:lstStyle/>
          <a:p>
            <a:endParaRPr lang="en-ID"/>
          </a:p>
        </p:txBody>
      </p:sp>
      <p:sp>
        <p:nvSpPr>
          <p:cNvPr id="13" name="Text 11"/>
          <p:cNvSpPr/>
          <p:nvPr/>
        </p:nvSpPr>
        <p:spPr>
          <a:xfrm>
            <a:off x="3456432"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456432" y="1901952"/>
            <a:ext cx="2240280" cy="237744"/>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Prioritas Menengah</a:t>
            </a:r>
            <a:endParaRPr lang="en-US" sz="1250" dirty="0"/>
          </a:p>
        </p:txBody>
      </p:sp>
      <p:sp>
        <p:nvSpPr>
          <p:cNvPr id="15" name="Text 13"/>
          <p:cNvSpPr/>
          <p:nvPr/>
        </p:nvSpPr>
        <p:spPr>
          <a:xfrm>
            <a:off x="3456432"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0,5 – 0,7</a:t>
            </a:r>
            <a:endParaRPr lang="en-US" sz="1000" dirty="0"/>
          </a:p>
        </p:txBody>
      </p:sp>
      <p:sp>
        <p:nvSpPr>
          <p:cNvPr id="16" name="Text 14"/>
          <p:cNvSpPr/>
          <p:nvPr/>
        </p:nvSpPr>
        <p:spPr>
          <a:xfrm>
            <a:off x="3456432" y="2468880"/>
            <a:ext cx="2240280" cy="658368"/>
          </a:xfrm>
          <a:prstGeom prst="rect">
            <a:avLst/>
          </a:prstGeom>
          <a:noFill/>
          <a:ln/>
        </p:spPr>
        <p:txBody>
          <a:bodyPr wrap="square" lIns="0" tIns="0" rIns="0" bIns="0" rtlCol="0" anchor="t"/>
          <a:lstStyle/>
          <a:p>
            <a:pPr marL="0" indent="0">
              <a:lnSpc>
                <a:spcPts val="1264"/>
              </a:lnSpc>
              <a:buNone/>
            </a:pPr>
            <a:r>
              <a:rPr lang="fi-FI" sz="950">
                <a:solidFill>
                  <a:srgbClr val="6B7885"/>
                </a:solidFill>
                <a:latin typeface="Calibri" pitchFamily="34" charset="0"/>
                <a:ea typeface="Calibri" pitchFamily="34" charset="-122"/>
                <a:cs typeface="Calibri" pitchFamily="34" charset="-120"/>
              </a:rPr>
              <a:t>435 booking. Gunakan email atau pesan konfirmasi otomatis.</a:t>
            </a:r>
            <a:endParaRPr lang="en-US" sz="950" dirty="0"/>
          </a:p>
        </p:txBody>
      </p:sp>
      <p:sp>
        <p:nvSpPr>
          <p:cNvPr id="17" name="Shape 15"/>
          <p:cNvSpPr/>
          <p:nvPr/>
        </p:nvSpPr>
        <p:spPr>
          <a:xfrm>
            <a:off x="6044184" y="1133856"/>
            <a:ext cx="2606040" cy="2103120"/>
          </a:xfrm>
          <a:prstGeom prst="roundRect">
            <a:avLst>
              <a:gd name="adj" fmla="val 2609"/>
            </a:avLst>
          </a:prstGeom>
          <a:solidFill>
            <a:srgbClr val="EEF3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8" name="Shape 16"/>
          <p:cNvSpPr/>
          <p:nvPr/>
        </p:nvSpPr>
        <p:spPr>
          <a:xfrm>
            <a:off x="6227064" y="1316736"/>
            <a:ext cx="457200" cy="457200"/>
          </a:xfrm>
          <a:prstGeom prst="roundRect">
            <a:avLst>
              <a:gd name="adj" fmla="val 18000"/>
            </a:avLst>
          </a:prstGeom>
          <a:solidFill>
            <a:srgbClr val="123A5E"/>
          </a:solidFill>
          <a:ln/>
        </p:spPr>
        <p:txBody>
          <a:bodyPr/>
          <a:lstStyle/>
          <a:p>
            <a:endParaRPr lang="en-ID"/>
          </a:p>
        </p:txBody>
      </p:sp>
      <p:sp>
        <p:nvSpPr>
          <p:cNvPr id="19" name="Text 17"/>
          <p:cNvSpPr/>
          <p:nvPr/>
        </p:nvSpPr>
        <p:spPr>
          <a:xfrm>
            <a:off x="6227064" y="1417320"/>
            <a:ext cx="45720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227064" y="1901952"/>
            <a:ext cx="2240280" cy="237744"/>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Prioritas Rendah</a:t>
            </a:r>
            <a:endParaRPr lang="en-US" sz="1250" dirty="0"/>
          </a:p>
        </p:txBody>
      </p:sp>
      <p:sp>
        <p:nvSpPr>
          <p:cNvPr id="21" name="Text 19"/>
          <p:cNvSpPr/>
          <p:nvPr/>
        </p:nvSpPr>
        <p:spPr>
          <a:xfrm>
            <a:off x="6227064" y="2176272"/>
            <a:ext cx="2240280" cy="219456"/>
          </a:xfrm>
          <a:prstGeom prst="rect">
            <a:avLst/>
          </a:prstGeom>
          <a:noFill/>
          <a:ln/>
        </p:spPr>
        <p:txBody>
          <a:bodyPr wrap="square" lIns="0" tIns="0" rIns="0" bIns="0" rtlCol="0" anchor="ctr"/>
          <a:lstStyle/>
          <a:p>
            <a:pPr marL="0" indent="0">
              <a:buNone/>
            </a:pPr>
            <a:r>
              <a:rPr lang="en-US" sz="1000" dirty="0">
                <a:solidFill>
                  <a:srgbClr val="16202B"/>
                </a:solidFill>
                <a:latin typeface="Consolas" pitchFamily="34" charset="0"/>
                <a:ea typeface="Consolas" pitchFamily="34" charset="-122"/>
                <a:cs typeface="Consolas" pitchFamily="34" charset="-120"/>
              </a:rPr>
              <a:t>probabilitas &lt; 0,5</a:t>
            </a:r>
            <a:endParaRPr lang="en-US" sz="1000" dirty="0"/>
          </a:p>
        </p:txBody>
      </p:sp>
      <p:sp>
        <p:nvSpPr>
          <p:cNvPr id="22" name="Text 20"/>
          <p:cNvSpPr/>
          <p:nvPr/>
        </p:nvSpPr>
        <p:spPr>
          <a:xfrm>
            <a:off x="6227064" y="2468880"/>
            <a:ext cx="2240280" cy="658368"/>
          </a:xfrm>
          <a:prstGeom prst="rect">
            <a:avLst/>
          </a:prstGeom>
          <a:noFill/>
          <a:ln/>
        </p:spPr>
        <p:txBody>
          <a:bodyPr wrap="square" lIns="0" tIns="0" rIns="0" bIns="0" rtlCol="0" anchor="t"/>
          <a:lstStyle/>
          <a:p>
            <a:pPr marL="0" indent="0">
              <a:lnSpc>
                <a:spcPts val="1264"/>
              </a:lnSpc>
              <a:buNone/>
            </a:pPr>
            <a:r>
              <a:rPr lang="en-US" sz="950">
                <a:solidFill>
                  <a:srgbClr val="6B7885"/>
                </a:solidFill>
                <a:latin typeface="Calibri" pitchFamily="34" charset="0"/>
                <a:ea typeface="Calibri" pitchFamily="34" charset="-122"/>
                <a:cs typeface="Calibri" pitchFamily="34" charset="-120"/>
              </a:rPr>
              <a:t>1.150 booking. Tidak perlu intervensi khusus kecuali skornya berubah.</a:t>
            </a:r>
            <a:endParaRPr lang="en-US" sz="950" dirty="0"/>
          </a:p>
        </p:txBody>
      </p:sp>
      <p:sp>
        <p:nvSpPr>
          <p:cNvPr id="23" name="Shape 21"/>
          <p:cNvSpPr/>
          <p:nvPr/>
        </p:nvSpPr>
        <p:spPr>
          <a:xfrm>
            <a:off x="502920" y="3383280"/>
            <a:ext cx="8138160" cy="1005840"/>
          </a:xfrm>
          <a:prstGeom prst="roundRect">
            <a:avLst>
              <a:gd name="adj" fmla="val 5455"/>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4" name="Image 0" descr="/home/claude/assets/ic_clock_navy.png"/>
          <p:cNvPicPr>
            <a:picLocks noChangeAspect="1"/>
          </p:cNvPicPr>
          <p:nvPr/>
        </p:nvPicPr>
        <p:blipFill>
          <a:blip r:embed="rId3"/>
          <a:stretch>
            <a:fillRect/>
          </a:stretch>
        </p:blipFill>
        <p:spPr>
          <a:xfrm>
            <a:off x="713232" y="3566160"/>
            <a:ext cx="256032" cy="256032"/>
          </a:xfrm>
          <a:prstGeom prst="rect">
            <a:avLst/>
          </a:prstGeom>
        </p:spPr>
      </p:pic>
      <p:sp>
        <p:nvSpPr>
          <p:cNvPr id="25" name="Text 22"/>
          <p:cNvSpPr/>
          <p:nvPr/>
        </p:nvSpPr>
        <p:spPr>
          <a:xfrm>
            <a:off x="1097280" y="3547872"/>
            <a:ext cx="365760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Beban kerja terbagi sesuai tingkat risiko</a:t>
            </a:r>
            <a:endParaRPr lang="en-US" sz="1250" dirty="0"/>
          </a:p>
        </p:txBody>
      </p:sp>
      <p:sp>
        <p:nvSpPr>
          <p:cNvPr id="26" name="Text 23"/>
          <p:cNvSpPr/>
          <p:nvPr/>
        </p:nvSpPr>
        <p:spPr>
          <a:xfrm>
            <a:off x="1097280" y="3785616"/>
            <a:ext cx="7360920" cy="566928"/>
          </a:xfrm>
          <a:prstGeom prst="rect">
            <a:avLst/>
          </a:prstGeom>
          <a:noFill/>
          <a:ln/>
        </p:spPr>
        <p:txBody>
          <a:bodyPr wrap="square" lIns="0" tIns="0" rIns="0" bIns="0" rtlCol="0" anchor="t"/>
          <a:lstStyle/>
          <a:p>
            <a:pPr marL="0" indent="0">
              <a:lnSpc>
                <a:spcPts val="1277"/>
              </a:lnSpc>
              <a:buNone/>
            </a:pPr>
            <a:r>
              <a:rPr lang="en-US" sz="960">
                <a:solidFill>
                  <a:srgbClr val="16202B"/>
                </a:solidFill>
                <a:latin typeface="Calibri" pitchFamily="34" charset="0"/>
                <a:ea typeface="Calibri" pitchFamily="34" charset="-122"/>
                <a:cs typeface="Calibri" pitchFamily="34" charset="-120"/>
              </a:rPr>
              <a:t>Pada threshold 0,5, model menandai 870 booking: 435 prioritas tinggi dan 435 prioritas menengah. Recall tetap 0,830.</a:t>
            </a:r>
            <a:endParaRPr lang="en-US" sz="9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REKOMENDASI OPERASIONAL</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Bentuk intervensi untuk booking berisiko tinggi</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0292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phone_orange.png"/>
          <p:cNvPicPr>
            <a:picLocks noChangeAspect="1"/>
          </p:cNvPicPr>
          <p:nvPr/>
        </p:nvPicPr>
        <p:blipFill>
          <a:blip r:embed="rId3"/>
          <a:stretch>
            <a:fillRect/>
          </a:stretch>
        </p:blipFill>
        <p:spPr>
          <a:xfrm>
            <a:off x="704088" y="1316736"/>
            <a:ext cx="274320" cy="274320"/>
          </a:xfrm>
          <a:prstGeom prst="rect">
            <a:avLst/>
          </a:prstGeom>
        </p:spPr>
      </p:pic>
      <p:sp>
        <p:nvSpPr>
          <p:cNvPr id="7" name="Text 4"/>
          <p:cNvSpPr/>
          <p:nvPr/>
        </p:nvSpPr>
        <p:spPr>
          <a:xfrm>
            <a:off x="1088136"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Konfirmasi personal</a:t>
            </a:r>
            <a:endParaRPr lang="en-US" sz="1250" dirty="0"/>
          </a:p>
        </p:txBody>
      </p:sp>
      <p:sp>
        <p:nvSpPr>
          <p:cNvPr id="8" name="Text 5"/>
          <p:cNvSpPr/>
          <p:nvPr/>
        </p:nvSpPr>
        <p:spPr>
          <a:xfrm>
            <a:off x="704088" y="1682496"/>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Hubungi tamu untuk memastikan detail pemesanan dan menanyakan kendala. Sebagian pembatalan berakar dari miskomunikasi, bukan perubahan rencana.</a:t>
            </a:r>
            <a:endParaRPr lang="en-US" sz="1000" dirty="0"/>
          </a:p>
        </p:txBody>
      </p:sp>
      <p:sp>
        <p:nvSpPr>
          <p:cNvPr id="9" name="Shape 6"/>
          <p:cNvSpPr/>
          <p:nvPr/>
        </p:nvSpPr>
        <p:spPr>
          <a:xfrm>
            <a:off x="4663440" y="1133856"/>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gift_orange.png"/>
          <p:cNvPicPr>
            <a:picLocks noChangeAspect="1"/>
          </p:cNvPicPr>
          <p:nvPr/>
        </p:nvPicPr>
        <p:blipFill>
          <a:blip r:embed="rId4"/>
          <a:stretch>
            <a:fillRect/>
          </a:stretch>
        </p:blipFill>
        <p:spPr>
          <a:xfrm>
            <a:off x="4864608" y="1316736"/>
            <a:ext cx="274320" cy="274320"/>
          </a:xfrm>
          <a:prstGeom prst="rect">
            <a:avLst/>
          </a:prstGeom>
        </p:spPr>
      </p:pic>
      <p:sp>
        <p:nvSpPr>
          <p:cNvPr id="11" name="Text 7"/>
          <p:cNvSpPr/>
          <p:nvPr/>
        </p:nvSpPr>
        <p:spPr>
          <a:xfrm>
            <a:off x="5248656" y="1325880"/>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Insentif bernilai persepsi tinggi</a:t>
            </a:r>
            <a:endParaRPr lang="en-US" sz="1250" dirty="0"/>
          </a:p>
        </p:txBody>
      </p:sp>
      <p:sp>
        <p:nvSpPr>
          <p:cNvPr id="12" name="Text 8"/>
          <p:cNvSpPr/>
          <p:nvPr/>
        </p:nvSpPr>
        <p:spPr>
          <a:xfrm>
            <a:off x="4864608" y="1682496"/>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Upgrade kamar bila tersedia, sarapan gratis, atau diskon fasilitas — biaya rendah bagi hotel, terasa besar bagi tamu.</a:t>
            </a:r>
            <a:endParaRPr lang="en-US" sz="1000" dirty="0"/>
          </a:p>
        </p:txBody>
      </p:sp>
      <p:sp>
        <p:nvSpPr>
          <p:cNvPr id="13" name="Shape 9"/>
          <p:cNvSpPr/>
          <p:nvPr/>
        </p:nvSpPr>
        <p:spPr>
          <a:xfrm>
            <a:off x="50292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clock_orange.png"/>
          <p:cNvPicPr>
            <a:picLocks noChangeAspect="1"/>
          </p:cNvPicPr>
          <p:nvPr/>
        </p:nvPicPr>
        <p:blipFill>
          <a:blip r:embed="rId5"/>
          <a:stretch>
            <a:fillRect/>
          </a:stretch>
        </p:blipFill>
        <p:spPr>
          <a:xfrm>
            <a:off x="704088" y="2889504"/>
            <a:ext cx="274320" cy="274320"/>
          </a:xfrm>
          <a:prstGeom prst="rect">
            <a:avLst/>
          </a:prstGeom>
        </p:spPr>
      </p:pic>
      <p:sp>
        <p:nvSpPr>
          <p:cNvPr id="15" name="Text 10"/>
          <p:cNvSpPr/>
          <p:nvPr/>
        </p:nvSpPr>
        <p:spPr>
          <a:xfrm>
            <a:off x="1088136" y="2898648"/>
            <a:ext cx="3108960" cy="219456"/>
          </a:xfrm>
          <a:prstGeom prst="rect">
            <a:avLst/>
          </a:prstGeom>
          <a:noFill/>
          <a:ln/>
        </p:spPr>
        <p:txBody>
          <a:bodyPr wrap="square" lIns="0" tIns="0" rIns="0" bIns="0" rtlCol="0" anchor="ctr"/>
          <a:lstStyle/>
          <a:p>
            <a:pPr marL="0" indent="0">
              <a:buNone/>
            </a:pPr>
            <a:r>
              <a:rPr lang="en-US" sz="1250" b="1" dirty="0">
                <a:solidFill>
                  <a:srgbClr val="123A5E"/>
                </a:solidFill>
                <a:latin typeface="Calibri" pitchFamily="34" charset="0"/>
                <a:ea typeface="Calibri" pitchFamily="34" charset="-122"/>
                <a:cs typeface="Calibri" pitchFamily="34" charset="-120"/>
              </a:rPr>
              <a:t>Fleksibilitas terkendali</a:t>
            </a:r>
            <a:endParaRPr lang="en-US" sz="1250" dirty="0"/>
          </a:p>
        </p:txBody>
      </p:sp>
      <p:sp>
        <p:nvSpPr>
          <p:cNvPr id="16" name="Text 11"/>
          <p:cNvSpPr/>
          <p:nvPr/>
        </p:nvSpPr>
        <p:spPr>
          <a:xfrm>
            <a:off x="704088" y="3255264"/>
            <a:ext cx="3584448" cy="786384"/>
          </a:xfrm>
          <a:prstGeom prst="rect">
            <a:avLst/>
          </a:prstGeom>
          <a:noFill/>
          <a:ln/>
        </p:spPr>
        <p:txBody>
          <a:bodyPr wrap="square" lIns="0" tIns="0" rIns="0" bIns="0" rtlCol="0" anchor="t"/>
          <a:lstStyle/>
          <a:p>
            <a:pPr marL="0" indent="0">
              <a:lnSpc>
                <a:spcPts val="1330"/>
              </a:lnSpc>
              <a:buNone/>
            </a:pPr>
            <a:r>
              <a:rPr lang="en-US" sz="1000" dirty="0">
                <a:solidFill>
                  <a:srgbClr val="16202B"/>
                </a:solidFill>
                <a:latin typeface="Calibri" pitchFamily="34" charset="0"/>
                <a:ea typeface="Calibri" pitchFamily="34" charset="-122"/>
                <a:cs typeface="Calibri" pitchFamily="34" charset="-120"/>
              </a:rPr>
              <a:t>Tawarkan perubahan tanggal tanpa biaya dalam batas tertentu. Menggeser booking jauh lebih baik daripada kehilangannya.</a:t>
            </a:r>
            <a:endParaRPr lang="en-US" sz="1000" dirty="0"/>
          </a:p>
        </p:txBody>
      </p:sp>
      <p:sp>
        <p:nvSpPr>
          <p:cNvPr id="17" name="Shape 12"/>
          <p:cNvSpPr/>
          <p:nvPr/>
        </p:nvSpPr>
        <p:spPr>
          <a:xfrm>
            <a:off x="4663440" y="2706624"/>
            <a:ext cx="3977640" cy="1426464"/>
          </a:xfrm>
          <a:prstGeom prst="roundRect">
            <a:avLst>
              <a:gd name="adj" fmla="val 3846"/>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lock_orange.png"/>
          <p:cNvPicPr>
            <a:picLocks noChangeAspect="1"/>
          </p:cNvPicPr>
          <p:nvPr/>
        </p:nvPicPr>
        <p:blipFill>
          <a:blip r:embed="rId6"/>
          <a:stretch>
            <a:fillRect/>
          </a:stretch>
        </p:blipFill>
        <p:spPr>
          <a:xfrm>
            <a:off x="4864608" y="2889504"/>
            <a:ext cx="274320" cy="274320"/>
          </a:xfrm>
          <a:prstGeom prst="rect">
            <a:avLst/>
          </a:prstGeom>
        </p:spPr>
      </p:pic>
      <p:sp>
        <p:nvSpPr>
          <p:cNvPr id="19" name="Text 13"/>
          <p:cNvSpPr/>
          <p:nvPr/>
        </p:nvSpPr>
        <p:spPr>
          <a:xfrm>
            <a:off x="5248656" y="2898648"/>
            <a:ext cx="3108960" cy="219456"/>
          </a:xfrm>
          <a:prstGeom prst="rect">
            <a:avLst/>
          </a:prstGeom>
          <a:noFill/>
          <a:ln/>
        </p:spPr>
        <p:txBody>
          <a:bodyPr wrap="square" lIns="0" tIns="0" rIns="0" bIns="0" rtlCol="0" anchor="ctr"/>
          <a:lstStyle/>
          <a:p>
            <a:pPr marL="0" indent="0">
              <a:buNone/>
            </a:pPr>
            <a:r>
              <a:rPr lang="en-US" sz="1250" b="1">
                <a:solidFill>
                  <a:srgbClr val="123A5E"/>
                </a:solidFill>
                <a:latin typeface="Calibri" pitchFamily="34" charset="0"/>
                <a:ea typeface="Calibri" pitchFamily="34" charset="-122"/>
                <a:cs typeface="Calibri" pitchFamily="34" charset="-120"/>
              </a:rPr>
              <a:t>Investigasi anomali Non Refund</a:t>
            </a:r>
            <a:endParaRPr lang="en-US" sz="1250" dirty="0"/>
          </a:p>
        </p:txBody>
      </p:sp>
      <p:sp>
        <p:nvSpPr>
          <p:cNvPr id="20" name="Text 14"/>
          <p:cNvSpPr/>
          <p:nvPr/>
        </p:nvSpPr>
        <p:spPr>
          <a:xfrm>
            <a:off x="4864608" y="3255264"/>
            <a:ext cx="3584448" cy="786384"/>
          </a:xfrm>
          <a:prstGeom prst="rect">
            <a:avLst/>
          </a:prstGeom>
          <a:noFill/>
          <a:ln/>
        </p:spPr>
        <p:txBody>
          <a:bodyPr wrap="square" lIns="0" tIns="0" rIns="0" bIns="0" rtlCol="0" anchor="t"/>
          <a:lstStyle/>
          <a:p>
            <a:pPr marL="0" indent="0">
              <a:lnSpc>
                <a:spcPts val="1330"/>
              </a:lnSpc>
              <a:buNone/>
            </a:pPr>
            <a:r>
              <a:rPr lang="en-US" sz="1000">
                <a:solidFill>
                  <a:srgbClr val="16202B"/>
                </a:solidFill>
                <a:latin typeface="Calibri" pitchFamily="34" charset="0"/>
                <a:ea typeface="Calibri" pitchFamily="34" charset="-122"/>
                <a:cs typeface="Calibri" pitchFamily="34" charset="-120"/>
              </a:rPr>
              <a:t>Jangan otomatis mengonversi booking ke Non Refund. Cancellation rate 89,2% perlu ditelusuri bersama tim operasional.</a:t>
            </a:r>
            <a:endParaRPr lang="en-US" sz="1000" dirty="0"/>
          </a:p>
        </p:txBody>
      </p:sp>
      <p:sp>
        <p:nvSpPr>
          <p:cNvPr id="21" name="Shape 15"/>
          <p:cNvSpPr/>
          <p:nvPr/>
        </p:nvSpPr>
        <p:spPr>
          <a:xfrm>
            <a:off x="502920" y="4315968"/>
            <a:ext cx="8138160" cy="438912"/>
          </a:xfrm>
          <a:prstGeom prst="roundRect">
            <a:avLst>
              <a:gd name="adj" fmla="val 12500"/>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2" name="Text 16"/>
          <p:cNvSpPr/>
          <p:nvPr/>
        </p:nvSpPr>
        <p:spPr>
          <a:xfrm>
            <a:off x="713232" y="4407408"/>
            <a:ext cx="7680960" cy="292608"/>
          </a:xfrm>
          <a:prstGeom prst="rect">
            <a:avLst/>
          </a:prstGeom>
          <a:noFill/>
          <a:ln/>
        </p:spPr>
        <p:txBody>
          <a:bodyPr wrap="square" lIns="0" tIns="0" rIns="0" bIns="0" rtlCol="0" anchor="t"/>
          <a:lstStyle/>
          <a:p>
            <a:pPr marL="0" indent="0">
              <a:lnSpc>
                <a:spcPts val="1303"/>
              </a:lnSpc>
              <a:buNone/>
            </a:pPr>
            <a:r>
              <a:rPr lang="en-US" sz="980" dirty="0">
                <a:solidFill>
                  <a:srgbClr val="6B7885"/>
                </a:solidFill>
                <a:latin typeface="Calibri" pitchFamily="34" charset="0"/>
                <a:ea typeface="Calibri" pitchFamily="34" charset="-122"/>
                <a:cs typeface="Calibri" pitchFamily="34" charset="-120"/>
              </a:rPr>
              <a:t>Prinsipnya: biaya intervensi harus jauh lebih kecil daripada nilai satu kamar yang batal, agar program tetap menguntungkan meski sebagian sasaran adalah False Positive.</a:t>
            </a:r>
            <a:endParaRPr lang="en-US" sz="9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CONCLUSION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Kesimpulan</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40</a:t>
            </a:r>
            <a:endParaRPr lang="en-US" sz="900" dirty="0"/>
          </a:p>
        </p:txBody>
      </p:sp>
      <p:sp>
        <p:nvSpPr>
          <p:cNvPr id="5" name="Shape 3"/>
          <p:cNvSpPr/>
          <p:nvPr/>
        </p:nvSpPr>
        <p:spPr>
          <a:xfrm>
            <a:off x="502920" y="1097280"/>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6" name="Shape 4"/>
          <p:cNvSpPr/>
          <p:nvPr/>
        </p:nvSpPr>
        <p:spPr>
          <a:xfrm>
            <a:off x="658368" y="1207008"/>
            <a:ext cx="384048" cy="384048"/>
          </a:xfrm>
          <a:prstGeom prst="roundRect">
            <a:avLst>
              <a:gd name="adj" fmla="val 16667"/>
            </a:avLst>
          </a:prstGeom>
          <a:solidFill>
            <a:srgbClr val="123A5E"/>
          </a:solidFill>
          <a:ln/>
        </p:spPr>
        <p:txBody>
          <a:bodyPr/>
          <a:lstStyle/>
          <a:p>
            <a:endParaRPr lang="en-ID"/>
          </a:p>
        </p:txBody>
      </p:sp>
      <p:pic>
        <p:nvPicPr>
          <p:cNvPr id="7" name="Image 0" descr="/home/claude/assets/ic_chart_white.png"/>
          <p:cNvPicPr>
            <a:picLocks noChangeAspect="1"/>
          </p:cNvPicPr>
          <p:nvPr/>
        </p:nvPicPr>
        <p:blipFill>
          <a:blip r:embed="rId3"/>
          <a:stretch>
            <a:fillRect/>
          </a:stretch>
        </p:blipFill>
        <p:spPr>
          <a:xfrm>
            <a:off x="749808" y="1298448"/>
            <a:ext cx="201168" cy="201168"/>
          </a:xfrm>
          <a:prstGeom prst="rect">
            <a:avLst/>
          </a:prstGeom>
        </p:spPr>
      </p:pic>
      <p:sp>
        <p:nvSpPr>
          <p:cNvPr id="8" name="Text 5"/>
          <p:cNvSpPr/>
          <p:nvPr/>
        </p:nvSpPr>
        <p:spPr>
          <a:xfrm>
            <a:off x="1170432" y="1188720"/>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Skala masalah terukur</a:t>
            </a:r>
            <a:endParaRPr lang="en-US" sz="1100" dirty="0"/>
          </a:p>
        </p:txBody>
      </p:sp>
      <p:sp>
        <p:nvSpPr>
          <p:cNvPr id="9" name="Text 6"/>
          <p:cNvSpPr/>
          <p:nvPr/>
        </p:nvSpPr>
        <p:spPr>
          <a:xfrm>
            <a:off x="4005072" y="1216152"/>
            <a:ext cx="4480560" cy="402336"/>
          </a:xfrm>
          <a:prstGeom prst="rect">
            <a:avLst/>
          </a:prstGeom>
          <a:noFill/>
          <a:ln/>
        </p:spPr>
        <p:txBody>
          <a:bodyPr wrap="square" lIns="0" tIns="0" rIns="0" bIns="0" rtlCol="0" anchor="t"/>
          <a:lstStyle/>
          <a:p>
            <a:pPr marL="0" indent="0">
              <a:lnSpc>
                <a:spcPts val="1237"/>
              </a:lnSpc>
              <a:buNone/>
            </a:pPr>
            <a:r>
              <a:rPr lang="en-US" sz="930" dirty="0">
                <a:solidFill>
                  <a:srgbClr val="6B7885"/>
                </a:solidFill>
                <a:latin typeface="Calibri" pitchFamily="34" charset="0"/>
                <a:ea typeface="Calibri" pitchFamily="34" charset="-122"/>
                <a:cs typeface="Calibri" pitchFamily="34" charset="-120"/>
              </a:rPr>
              <a:t>2.405 dari 10.097 pemesanan (23,8%) dibatalkan — sekitar 1 dari 4 kamar yang sudah terjual berisiko kosong kembali.</a:t>
            </a:r>
            <a:endParaRPr lang="en-US" sz="930" dirty="0"/>
          </a:p>
        </p:txBody>
      </p:sp>
      <p:sp>
        <p:nvSpPr>
          <p:cNvPr id="10" name="Shape 7"/>
          <p:cNvSpPr/>
          <p:nvPr/>
        </p:nvSpPr>
        <p:spPr>
          <a:xfrm>
            <a:off x="502920" y="1792224"/>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1" name="Shape 8"/>
          <p:cNvSpPr/>
          <p:nvPr/>
        </p:nvSpPr>
        <p:spPr>
          <a:xfrm>
            <a:off x="658368" y="1901952"/>
            <a:ext cx="384048" cy="384048"/>
          </a:xfrm>
          <a:prstGeom prst="roundRect">
            <a:avLst>
              <a:gd name="adj" fmla="val 16667"/>
            </a:avLst>
          </a:prstGeom>
          <a:solidFill>
            <a:srgbClr val="123A5E"/>
          </a:solidFill>
          <a:ln/>
        </p:spPr>
        <p:txBody>
          <a:bodyPr/>
          <a:lstStyle/>
          <a:p>
            <a:endParaRPr lang="en-ID"/>
          </a:p>
        </p:txBody>
      </p:sp>
      <p:pic>
        <p:nvPicPr>
          <p:cNvPr id="12" name="Image 1" descr="/home/claude/assets/ic_brain_white.png"/>
          <p:cNvPicPr>
            <a:picLocks noChangeAspect="1"/>
          </p:cNvPicPr>
          <p:nvPr/>
        </p:nvPicPr>
        <p:blipFill>
          <a:blip r:embed="rId4"/>
          <a:stretch>
            <a:fillRect/>
          </a:stretch>
        </p:blipFill>
        <p:spPr>
          <a:xfrm>
            <a:off x="749808" y="1993392"/>
            <a:ext cx="201168" cy="201168"/>
          </a:xfrm>
          <a:prstGeom prst="rect">
            <a:avLst/>
          </a:prstGeom>
        </p:spPr>
      </p:pic>
      <p:sp>
        <p:nvSpPr>
          <p:cNvPr id="13" name="Text 9"/>
          <p:cNvSpPr/>
          <p:nvPr/>
        </p:nvSpPr>
        <p:spPr>
          <a:xfrm>
            <a:off x="1170432" y="1883664"/>
            <a:ext cx="2743200" cy="219456"/>
          </a:xfrm>
          <a:prstGeom prst="rect">
            <a:avLst/>
          </a:prstGeom>
          <a:noFill/>
          <a:ln/>
        </p:spPr>
        <p:txBody>
          <a:bodyPr wrap="square" lIns="0" tIns="0" rIns="0" bIns="0" rtlCol="0" anchor="ctr"/>
          <a:lstStyle/>
          <a:p>
            <a:pPr marL="0" indent="0">
              <a:buNone/>
            </a:pPr>
            <a:r>
              <a:rPr lang="en-US" sz="1100" b="1">
                <a:solidFill>
                  <a:srgbClr val="123A5E"/>
                </a:solidFill>
                <a:latin typeface="Calibri" pitchFamily="34" charset="0"/>
                <a:ea typeface="Calibri" pitchFamily="34" charset="-122"/>
                <a:cs typeface="Calibri" pitchFamily="34" charset="-120"/>
              </a:rPr>
              <a:t>Model menangkap sekitar 5 dari 6 pembatalan</a:t>
            </a:r>
            <a:endParaRPr lang="en-US" sz="1100" dirty="0"/>
          </a:p>
        </p:txBody>
      </p:sp>
      <p:sp>
        <p:nvSpPr>
          <p:cNvPr id="14" name="Text 10"/>
          <p:cNvSpPr/>
          <p:nvPr/>
        </p:nvSpPr>
        <p:spPr>
          <a:xfrm>
            <a:off x="4005072" y="1911096"/>
            <a:ext cx="4480560" cy="402336"/>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Logistic Regression mencapai Recall 0,830: 399 dari 481 pembatalan terdeteksi dan 82 lolos.</a:t>
            </a:r>
            <a:endParaRPr lang="en-US" sz="930" dirty="0"/>
          </a:p>
        </p:txBody>
      </p:sp>
      <p:sp>
        <p:nvSpPr>
          <p:cNvPr id="15" name="Shape 11"/>
          <p:cNvSpPr/>
          <p:nvPr/>
        </p:nvSpPr>
        <p:spPr>
          <a:xfrm>
            <a:off x="502920" y="2487168"/>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16" name="Shape 12"/>
          <p:cNvSpPr/>
          <p:nvPr/>
        </p:nvSpPr>
        <p:spPr>
          <a:xfrm>
            <a:off x="658368" y="2596896"/>
            <a:ext cx="384048" cy="384048"/>
          </a:xfrm>
          <a:prstGeom prst="roundRect">
            <a:avLst>
              <a:gd name="adj" fmla="val 16667"/>
            </a:avLst>
          </a:prstGeom>
          <a:solidFill>
            <a:srgbClr val="123A5E"/>
          </a:solidFill>
          <a:ln/>
        </p:spPr>
        <p:txBody>
          <a:bodyPr/>
          <a:lstStyle/>
          <a:p>
            <a:endParaRPr lang="en-ID"/>
          </a:p>
        </p:txBody>
      </p:sp>
      <p:pic>
        <p:nvPicPr>
          <p:cNvPr id="17" name="Image 2" descr="/home/claude/assets/ic_check_white.png"/>
          <p:cNvPicPr>
            <a:picLocks noChangeAspect="1"/>
          </p:cNvPicPr>
          <p:nvPr/>
        </p:nvPicPr>
        <p:blipFill>
          <a:blip r:embed="rId5"/>
          <a:stretch>
            <a:fillRect/>
          </a:stretch>
        </p:blipFill>
        <p:spPr>
          <a:xfrm>
            <a:off x="749808" y="2688336"/>
            <a:ext cx="201168" cy="201168"/>
          </a:xfrm>
          <a:prstGeom prst="rect">
            <a:avLst/>
          </a:prstGeom>
        </p:spPr>
      </p:pic>
      <p:sp>
        <p:nvSpPr>
          <p:cNvPr id="18" name="Text 13"/>
          <p:cNvSpPr/>
          <p:nvPr/>
        </p:nvSpPr>
        <p:spPr>
          <a:xfrm>
            <a:off x="1170432" y="2578608"/>
            <a:ext cx="2743200" cy="219456"/>
          </a:xfrm>
          <a:prstGeom prst="rect">
            <a:avLst/>
          </a:prstGeom>
          <a:noFill/>
          <a:ln/>
        </p:spPr>
        <p:txBody>
          <a:bodyPr wrap="square" lIns="0" tIns="0" rIns="0" bIns="0" rtlCol="0" anchor="ctr"/>
          <a:lstStyle/>
          <a:p>
            <a:pPr marL="0" indent="0">
              <a:buNone/>
            </a:pPr>
            <a:r>
              <a:rPr lang="en-US" sz="1100" b="1" dirty="0">
                <a:solidFill>
                  <a:srgbClr val="123A5E"/>
                </a:solidFill>
                <a:latin typeface="Calibri" pitchFamily="34" charset="0"/>
                <a:ea typeface="Calibri" pitchFamily="34" charset="-122"/>
                <a:cs typeface="Calibri" pitchFamily="34" charset="-120"/>
              </a:rPr>
              <a:t>Hasil tervalidasi dan stabil</a:t>
            </a:r>
            <a:endParaRPr lang="en-US" sz="1100" dirty="0"/>
          </a:p>
        </p:txBody>
      </p:sp>
      <p:sp>
        <p:nvSpPr>
          <p:cNvPr id="19" name="Text 14"/>
          <p:cNvSpPr/>
          <p:nvPr/>
        </p:nvSpPr>
        <p:spPr>
          <a:xfrm>
            <a:off x="4005072" y="2606040"/>
            <a:ext cx="4480560" cy="402336"/>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Dipilih lewat Stratified 5-Fold CV. Avg Recall CV 0,822 dekat dengan recall test 0,830.</a:t>
            </a:r>
            <a:endParaRPr lang="en-US" sz="930" dirty="0"/>
          </a:p>
        </p:txBody>
      </p:sp>
      <p:sp>
        <p:nvSpPr>
          <p:cNvPr id="20" name="Shape 15"/>
          <p:cNvSpPr/>
          <p:nvPr/>
        </p:nvSpPr>
        <p:spPr>
          <a:xfrm>
            <a:off x="502920" y="3182112"/>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1" name="Shape 16"/>
          <p:cNvSpPr/>
          <p:nvPr/>
        </p:nvSpPr>
        <p:spPr>
          <a:xfrm>
            <a:off x="658368" y="3291840"/>
            <a:ext cx="384048" cy="384048"/>
          </a:xfrm>
          <a:prstGeom prst="roundRect">
            <a:avLst>
              <a:gd name="adj" fmla="val 16667"/>
            </a:avLst>
          </a:prstGeom>
          <a:solidFill>
            <a:srgbClr val="123A5E"/>
          </a:solidFill>
          <a:ln/>
        </p:spPr>
        <p:txBody>
          <a:bodyPr/>
          <a:lstStyle/>
          <a:p>
            <a:endParaRPr lang="en-ID"/>
          </a:p>
        </p:txBody>
      </p:sp>
      <p:pic>
        <p:nvPicPr>
          <p:cNvPr id="22" name="Image 3" descr="/home/claude/assets/ic_search_white.png"/>
          <p:cNvPicPr>
            <a:picLocks noChangeAspect="1"/>
          </p:cNvPicPr>
          <p:nvPr/>
        </p:nvPicPr>
        <p:blipFill>
          <a:blip r:embed="rId6"/>
          <a:stretch>
            <a:fillRect/>
          </a:stretch>
        </p:blipFill>
        <p:spPr>
          <a:xfrm>
            <a:off x="749808" y="3383280"/>
            <a:ext cx="201168" cy="201168"/>
          </a:xfrm>
          <a:prstGeom prst="rect">
            <a:avLst/>
          </a:prstGeom>
        </p:spPr>
      </p:pic>
      <p:sp>
        <p:nvSpPr>
          <p:cNvPr id="23" name="Text 17"/>
          <p:cNvSpPr/>
          <p:nvPr/>
        </p:nvSpPr>
        <p:spPr>
          <a:xfrm>
            <a:off x="1170432" y="3273552"/>
            <a:ext cx="2743200" cy="219456"/>
          </a:xfrm>
          <a:prstGeom prst="rect">
            <a:avLst/>
          </a:prstGeom>
          <a:noFill/>
          <a:ln/>
        </p:spPr>
        <p:txBody>
          <a:bodyPr wrap="square" lIns="0" tIns="0" rIns="0" bIns="0" rtlCol="0" anchor="ctr"/>
          <a:lstStyle/>
          <a:p>
            <a:pPr marL="0" indent="0">
              <a:buNone/>
            </a:pPr>
            <a:r>
              <a:rPr lang="en-US" sz="1100" b="1">
                <a:solidFill>
                  <a:srgbClr val="123A5E"/>
                </a:solidFill>
                <a:latin typeface="Calibri" pitchFamily="34" charset="0"/>
                <a:ea typeface="Calibri" pitchFamily="34" charset="-122"/>
                <a:cs typeface="Calibri" pitchFamily="34" charset="-120"/>
              </a:rPr>
              <a:t>Koefisien memberi arah asosiasi</a:t>
            </a:r>
            <a:endParaRPr lang="en-US" sz="1100" dirty="0"/>
          </a:p>
        </p:txBody>
      </p:sp>
      <p:sp>
        <p:nvSpPr>
          <p:cNvPr id="24" name="Text 18"/>
          <p:cNvSpPr/>
          <p:nvPr/>
        </p:nvSpPr>
        <p:spPr>
          <a:xfrm>
            <a:off x="4005072" y="3300984"/>
            <a:ext cx="4480560" cy="402336"/>
          </a:xfrm>
          <a:prstGeom prst="rect">
            <a:avLst/>
          </a:prstGeom>
          <a:noFill/>
          <a:ln/>
        </p:spPr>
        <p:txBody>
          <a:bodyPr wrap="square" lIns="0" tIns="0" rIns="0" bIns="0" rtlCol="0" anchor="t"/>
          <a:lstStyle/>
          <a:p>
            <a:pPr marL="0" indent="0">
              <a:lnSpc>
                <a:spcPts val="1237"/>
              </a:lnSpc>
              <a:buNone/>
            </a:pPr>
            <a:r>
              <a:rPr lang="fi-FI" sz="930">
                <a:solidFill>
                  <a:srgbClr val="6B7885"/>
                </a:solidFill>
                <a:latin typeface="Calibri" pitchFamily="34" charset="0"/>
                <a:ea typeface="Calibri" pitchFamily="34" charset="-122"/>
                <a:cs typeface="Calibri" pitchFamily="34" charset="-120"/>
              </a:rPr>
              <a:t>Permintaan parkir memiliki koefisien -2,848, sedangkan Online TA +1,568.</a:t>
            </a:r>
            <a:endParaRPr lang="en-US" sz="930" dirty="0"/>
          </a:p>
        </p:txBody>
      </p:sp>
      <p:sp>
        <p:nvSpPr>
          <p:cNvPr id="25" name="Shape 19"/>
          <p:cNvSpPr/>
          <p:nvPr/>
        </p:nvSpPr>
        <p:spPr>
          <a:xfrm>
            <a:off x="502920" y="3877056"/>
            <a:ext cx="8138160" cy="603504"/>
          </a:xfrm>
          <a:prstGeom prst="roundRect">
            <a:avLst>
              <a:gd name="adj" fmla="val 9091"/>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sp>
        <p:nvSpPr>
          <p:cNvPr id="26" name="Shape 20"/>
          <p:cNvSpPr/>
          <p:nvPr/>
        </p:nvSpPr>
        <p:spPr>
          <a:xfrm>
            <a:off x="658368" y="3986784"/>
            <a:ext cx="384048" cy="384048"/>
          </a:xfrm>
          <a:prstGeom prst="roundRect">
            <a:avLst>
              <a:gd name="adj" fmla="val 16667"/>
            </a:avLst>
          </a:prstGeom>
          <a:solidFill>
            <a:srgbClr val="123A5E"/>
          </a:solidFill>
          <a:ln/>
        </p:spPr>
        <p:txBody>
          <a:bodyPr/>
          <a:lstStyle/>
          <a:p>
            <a:endParaRPr lang="en-ID"/>
          </a:p>
        </p:txBody>
      </p:sp>
      <p:pic>
        <p:nvPicPr>
          <p:cNvPr id="27" name="Image 4" descr="/home/claude/assets/ic_warn_white.png"/>
          <p:cNvPicPr>
            <a:picLocks noChangeAspect="1"/>
          </p:cNvPicPr>
          <p:nvPr/>
        </p:nvPicPr>
        <p:blipFill>
          <a:blip r:embed="rId7"/>
          <a:stretch>
            <a:fillRect/>
          </a:stretch>
        </p:blipFill>
        <p:spPr>
          <a:xfrm>
            <a:off x="749808" y="4078224"/>
            <a:ext cx="201168" cy="201168"/>
          </a:xfrm>
          <a:prstGeom prst="rect">
            <a:avLst/>
          </a:prstGeom>
        </p:spPr>
      </p:pic>
      <p:sp>
        <p:nvSpPr>
          <p:cNvPr id="28" name="Text 21"/>
          <p:cNvSpPr/>
          <p:nvPr/>
        </p:nvSpPr>
        <p:spPr>
          <a:xfrm>
            <a:off x="1170432" y="3968496"/>
            <a:ext cx="2743200" cy="219456"/>
          </a:xfrm>
          <a:prstGeom prst="rect">
            <a:avLst/>
          </a:prstGeom>
          <a:noFill/>
          <a:ln/>
        </p:spPr>
        <p:txBody>
          <a:bodyPr wrap="square" lIns="0" tIns="0" rIns="0" bIns="0" rtlCol="0" anchor="ctr"/>
          <a:lstStyle/>
          <a:p>
            <a:pPr marL="0" indent="0">
              <a:buNone/>
            </a:pPr>
            <a:r>
              <a:rPr lang="en-US" sz="1100" b="1">
                <a:solidFill>
                  <a:srgbClr val="123A5E"/>
                </a:solidFill>
                <a:latin typeface="Calibri" pitchFamily="34" charset="0"/>
                <a:ea typeface="Calibri" pitchFamily="34" charset="-122"/>
                <a:cs typeface="Calibri" pitchFamily="34" charset="-120"/>
              </a:rPr>
              <a:t>Harga yang dibayar: 471 alarm palsu</a:t>
            </a:r>
            <a:endParaRPr lang="en-US" sz="1100" dirty="0"/>
          </a:p>
        </p:txBody>
      </p:sp>
      <p:sp>
        <p:nvSpPr>
          <p:cNvPr id="29" name="Text 22"/>
          <p:cNvSpPr/>
          <p:nvPr/>
        </p:nvSpPr>
        <p:spPr>
          <a:xfrm>
            <a:off x="4005072" y="3995928"/>
            <a:ext cx="4480560" cy="402336"/>
          </a:xfrm>
          <a:prstGeom prst="rect">
            <a:avLst/>
          </a:prstGeom>
          <a:noFill/>
          <a:ln/>
        </p:spPr>
        <p:txBody>
          <a:bodyPr wrap="square" lIns="0" tIns="0" rIns="0" bIns="0" rtlCol="0" anchor="t"/>
          <a:lstStyle/>
          <a:p>
            <a:pPr marL="0" indent="0">
              <a:lnSpc>
                <a:spcPts val="1237"/>
              </a:lnSpc>
              <a:buNone/>
            </a:pPr>
            <a:r>
              <a:rPr lang="en-US" sz="930">
                <a:solidFill>
                  <a:srgbClr val="6B7885"/>
                </a:solidFill>
                <a:latin typeface="Calibri" pitchFamily="34" charset="0"/>
                <a:ea typeface="Calibri" pitchFamily="34" charset="-122"/>
                <a:cs typeface="Calibri" pitchFamily="34" charset="-120"/>
              </a:rPr>
              <a:t>Precision 0,459 berarti lebih dari separuh booking yang ditandai sebenarnya aman. Model cocok sebagai penyaring.</a:t>
            </a:r>
            <a:endParaRPr lang="en-US" sz="93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RECOMMENDATION</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Rekomendasi untuk bisnis</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41</a:t>
            </a:r>
            <a:endParaRPr lang="en-US" sz="900" dirty="0"/>
          </a:p>
        </p:txBody>
      </p:sp>
      <p:sp>
        <p:nvSpPr>
          <p:cNvPr id="5" name="Shape 3"/>
          <p:cNvSpPr/>
          <p:nvPr/>
        </p:nvSpPr>
        <p:spPr>
          <a:xfrm>
            <a:off x="502920" y="1097280"/>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316736"/>
            <a:ext cx="274320" cy="274320"/>
          </a:xfrm>
          <a:prstGeom prst="rect">
            <a:avLst/>
          </a:prstGeom>
        </p:spPr>
      </p:pic>
      <p:sp>
        <p:nvSpPr>
          <p:cNvPr id="7" name="Text 4"/>
          <p:cNvSpPr/>
          <p:nvPr/>
        </p:nvSpPr>
        <p:spPr>
          <a:xfrm>
            <a:off x="1133856" y="1225296"/>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Tinjau ulang kebijakan tarif Non Refund</a:t>
            </a:r>
            <a:endParaRPr lang="en-US" sz="1150" dirty="0"/>
          </a:p>
        </p:txBody>
      </p:sp>
      <p:sp>
        <p:nvSpPr>
          <p:cNvPr id="8" name="Text 5"/>
          <p:cNvSpPr/>
          <p:nvPr/>
        </p:nvSpPr>
        <p:spPr>
          <a:xfrm>
            <a:off x="4224528" y="1243584"/>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Cancellation rate-nya 89,2% — jauh di atas No Deposit yang hanya 22,5%. Telusuri ke tim operasional: apakah tarif ini dijual terlalu murah, atau justru diterapkan pada segmen yang sudah berisiko.</a:t>
            </a:r>
            <a:endParaRPr lang="en-US" sz="950" dirty="0"/>
          </a:p>
        </p:txBody>
      </p:sp>
      <p:sp>
        <p:nvSpPr>
          <p:cNvPr id="9" name="Shape 6"/>
          <p:cNvSpPr/>
          <p:nvPr/>
        </p:nvSpPr>
        <p:spPr>
          <a:xfrm>
            <a:off x="502920" y="1956816"/>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phone_orange.png"/>
          <p:cNvPicPr>
            <a:picLocks noChangeAspect="1"/>
          </p:cNvPicPr>
          <p:nvPr/>
        </p:nvPicPr>
        <p:blipFill>
          <a:blip r:embed="rId4"/>
          <a:stretch>
            <a:fillRect/>
          </a:stretch>
        </p:blipFill>
        <p:spPr>
          <a:xfrm>
            <a:off x="713232" y="2176272"/>
            <a:ext cx="274320" cy="274320"/>
          </a:xfrm>
          <a:prstGeom prst="rect">
            <a:avLst/>
          </a:prstGeom>
        </p:spPr>
      </p:pic>
      <p:sp>
        <p:nvSpPr>
          <p:cNvPr id="11" name="Text 7"/>
          <p:cNvSpPr/>
          <p:nvPr/>
        </p:nvSpPr>
        <p:spPr>
          <a:xfrm>
            <a:off x="1133856" y="2084832"/>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Prioritaskan kontak berbasis probabilitas</a:t>
            </a:r>
            <a:endParaRPr lang="en-US" sz="1150" dirty="0"/>
          </a:p>
        </p:txBody>
      </p:sp>
      <p:sp>
        <p:nvSpPr>
          <p:cNvPr id="12" name="Text 8"/>
          <p:cNvSpPr/>
          <p:nvPr/>
        </p:nvSpPr>
        <p:spPr>
          <a:xfrm>
            <a:off x="4224528" y="2103120"/>
            <a:ext cx="4261104" cy="548640"/>
          </a:xfrm>
          <a:prstGeom prst="rect">
            <a:avLst/>
          </a:prstGeom>
          <a:noFill/>
          <a:ln/>
        </p:spPr>
        <p:txBody>
          <a:bodyPr wrap="square" lIns="0" tIns="0" rIns="0" bIns="0" rtlCol="0" anchor="t"/>
          <a:lstStyle/>
          <a:p>
            <a:pPr marL="0" indent="0">
              <a:lnSpc>
                <a:spcPts val="1264"/>
              </a:lnSpc>
              <a:buNone/>
            </a:pPr>
            <a:r>
              <a:rPr lang="en-US" sz="950">
                <a:solidFill>
                  <a:srgbClr val="6B7885"/>
                </a:solidFill>
                <a:latin typeface="Calibri" pitchFamily="34" charset="0"/>
                <a:ea typeface="Calibri" pitchFamily="34" charset="-122"/>
                <a:cs typeface="Calibri" pitchFamily="34" charset="-120"/>
              </a:rPr>
              <a:t>Urutkan booking dari skor tertinggi dan sesuaikan jumlah kontak dengan kapasitas harian, bukan menghubungi seluruh 870 booking dengan cara yang sama.</a:t>
            </a:r>
            <a:endParaRPr lang="en-US" sz="950" dirty="0"/>
          </a:p>
        </p:txBody>
      </p:sp>
      <p:sp>
        <p:nvSpPr>
          <p:cNvPr id="13" name="Shape 9"/>
          <p:cNvSpPr/>
          <p:nvPr/>
        </p:nvSpPr>
        <p:spPr>
          <a:xfrm>
            <a:off x="502920" y="2816352"/>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4" name="Image 2" descr="/home/claude/assets/ic_users_orange.png"/>
          <p:cNvPicPr>
            <a:picLocks noChangeAspect="1"/>
          </p:cNvPicPr>
          <p:nvPr/>
        </p:nvPicPr>
        <p:blipFill>
          <a:blip r:embed="rId5"/>
          <a:stretch>
            <a:fillRect/>
          </a:stretch>
        </p:blipFill>
        <p:spPr>
          <a:xfrm>
            <a:off x="713232" y="3035808"/>
            <a:ext cx="274320" cy="274320"/>
          </a:xfrm>
          <a:prstGeom prst="rect">
            <a:avLst/>
          </a:prstGeom>
        </p:spPr>
      </p:pic>
      <p:sp>
        <p:nvSpPr>
          <p:cNvPr id="15" name="Text 10"/>
          <p:cNvSpPr/>
          <p:nvPr/>
        </p:nvSpPr>
        <p:spPr>
          <a:xfrm>
            <a:off x="1133856" y="2944368"/>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Fokuskan retensi pada Online TA dan Transient</a:t>
            </a:r>
            <a:endParaRPr lang="en-US" sz="1150" dirty="0"/>
          </a:p>
        </p:txBody>
      </p:sp>
      <p:sp>
        <p:nvSpPr>
          <p:cNvPr id="16" name="Text 11"/>
          <p:cNvSpPr/>
          <p:nvPr/>
        </p:nvSpPr>
        <p:spPr>
          <a:xfrm>
            <a:off x="4224528" y="2962656"/>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Online TA menyumbang 4.924 booking dengan cancellation rate 31,2%, dan Transient 6.825 booking dengan 29,0% — gabungan volume besar dan risiko tinggi.</a:t>
            </a:r>
            <a:endParaRPr lang="en-US" sz="950" dirty="0"/>
          </a:p>
        </p:txBody>
      </p:sp>
      <p:sp>
        <p:nvSpPr>
          <p:cNvPr id="17" name="Shape 12"/>
          <p:cNvSpPr/>
          <p:nvPr/>
        </p:nvSpPr>
        <p:spPr>
          <a:xfrm>
            <a:off x="502920" y="3675888"/>
            <a:ext cx="8138160" cy="768096"/>
          </a:xfrm>
          <a:prstGeom prst="roundRect">
            <a:avLst>
              <a:gd name="adj" fmla="val 7143"/>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8" name="Image 3" descr="/home/claude/assets/ic_gift_orange.png"/>
          <p:cNvPicPr>
            <a:picLocks noChangeAspect="1"/>
          </p:cNvPicPr>
          <p:nvPr/>
        </p:nvPicPr>
        <p:blipFill>
          <a:blip r:embed="rId6"/>
          <a:stretch>
            <a:fillRect/>
          </a:stretch>
        </p:blipFill>
        <p:spPr>
          <a:xfrm>
            <a:off x="713232" y="3895344"/>
            <a:ext cx="274320" cy="274320"/>
          </a:xfrm>
          <a:prstGeom prst="rect">
            <a:avLst/>
          </a:prstGeom>
        </p:spPr>
      </p:pic>
      <p:sp>
        <p:nvSpPr>
          <p:cNvPr id="19" name="Text 13"/>
          <p:cNvSpPr/>
          <p:nvPr/>
        </p:nvSpPr>
        <p:spPr>
          <a:xfrm>
            <a:off x="1133856" y="3803904"/>
            <a:ext cx="3017520" cy="237744"/>
          </a:xfrm>
          <a:prstGeom prst="rect">
            <a:avLst/>
          </a:prstGeom>
          <a:noFill/>
          <a:ln/>
        </p:spPr>
        <p:txBody>
          <a:bodyPr wrap="square" lIns="0" tIns="0" rIns="0" bIns="0" rtlCol="0" anchor="ctr"/>
          <a:lstStyle/>
          <a:p>
            <a:pPr marL="0" indent="0">
              <a:buNone/>
            </a:pPr>
            <a:r>
              <a:rPr lang="en-US" sz="1150" b="1" dirty="0">
                <a:solidFill>
                  <a:srgbClr val="123A5E"/>
                </a:solidFill>
                <a:latin typeface="Calibri" pitchFamily="34" charset="0"/>
                <a:ea typeface="Calibri" pitchFamily="34" charset="-122"/>
                <a:cs typeface="Calibri" pitchFamily="34" charset="-120"/>
              </a:rPr>
              <a:t>Uji insentif lewat A/B testing</a:t>
            </a:r>
            <a:endParaRPr lang="en-US" sz="1150" dirty="0"/>
          </a:p>
        </p:txBody>
      </p:sp>
      <p:sp>
        <p:nvSpPr>
          <p:cNvPr id="20" name="Text 14"/>
          <p:cNvSpPr/>
          <p:nvPr/>
        </p:nvSpPr>
        <p:spPr>
          <a:xfrm>
            <a:off x="4224528" y="3822192"/>
            <a:ext cx="4261104" cy="548640"/>
          </a:xfrm>
          <a:prstGeom prst="rect">
            <a:avLst/>
          </a:prstGeom>
          <a:noFill/>
          <a:ln/>
        </p:spPr>
        <p:txBody>
          <a:bodyPr wrap="square" lIns="0" tIns="0" rIns="0" bIns="0" rtlCol="0" anchor="t"/>
          <a:lstStyle/>
          <a:p>
            <a:pPr marL="0" indent="0">
              <a:lnSpc>
                <a:spcPts val="1264"/>
              </a:lnSpc>
              <a:buNone/>
            </a:pPr>
            <a:r>
              <a:rPr lang="en-US" sz="950" dirty="0">
                <a:solidFill>
                  <a:srgbClr val="6B7885"/>
                </a:solidFill>
                <a:latin typeface="Calibri" pitchFamily="34" charset="0"/>
                <a:ea typeface="Calibri" pitchFamily="34" charset="-122"/>
                <a:cs typeface="Calibri" pitchFamily="34" charset="-120"/>
              </a:rPr>
              <a:t>Bandingkan kelompok yang diintervensi dengan kelompok kontrol untuk membuktikan program benar-benar menurunkan pembatalan, bukan sekadar berkorelasi.</a:t>
            </a:r>
            <a:endParaRPr lang="en-US" sz="950" dirty="0"/>
          </a:p>
        </p:txBody>
      </p:sp>
      <p:sp>
        <p:nvSpPr>
          <p:cNvPr id="21" name="Text 15"/>
          <p:cNvSpPr/>
          <p:nvPr/>
        </p:nvSpPr>
        <p:spPr>
          <a:xfrm>
            <a:off x="502920" y="4517136"/>
            <a:ext cx="8138160" cy="310896"/>
          </a:xfrm>
          <a:prstGeom prst="rect">
            <a:avLst/>
          </a:prstGeom>
          <a:noFill/>
          <a:ln/>
        </p:spPr>
        <p:txBody>
          <a:bodyPr wrap="square" lIns="0" tIns="0" rIns="0" bIns="0" rtlCol="0" anchor="t"/>
          <a:lstStyle/>
          <a:p>
            <a:pPr marL="0" indent="0">
              <a:lnSpc>
                <a:spcPts val="1197"/>
              </a:lnSpc>
              <a:buNone/>
            </a:pPr>
            <a:r>
              <a:rPr lang="en-US" sz="900" dirty="0">
                <a:solidFill>
                  <a:srgbClr val="6B7885"/>
                </a:solidFill>
                <a:latin typeface="Calibri" pitchFamily="34" charset="0"/>
                <a:ea typeface="Calibri" pitchFamily="34" charset="-122"/>
                <a:cs typeface="Calibri" pitchFamily="34" charset="-120"/>
              </a:rPr>
              <a:t>Setiap rekomendasi diturunkan dari analisis bivariat dan koefisien model, bukan dari praktik umum industri. Perhatikan bahwa rekomendasi pertama berlawanan dengan dugaan awal — inilah nilai dari memeriksa data sebelum menyimpulkan.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IMPROVEMENT</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Rekomendasi pengembangan model dan data</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42</a:t>
            </a:r>
            <a:endParaRPr lang="en-US" sz="900" dirty="0"/>
          </a:p>
        </p:txBody>
      </p:sp>
      <p:sp>
        <p:nvSpPr>
          <p:cNvPr id="5" name="Text 3"/>
          <p:cNvSpPr/>
          <p:nvPr/>
        </p:nvSpPr>
        <p:spPr>
          <a:xfrm>
            <a:off x="502920" y="98755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Perbaikan model</a:t>
            </a:r>
            <a:endParaRPr lang="en-US" sz="1250" dirty="0"/>
          </a:p>
        </p:txBody>
      </p:sp>
      <p:sp>
        <p:nvSpPr>
          <p:cNvPr id="6" name="Shape 4"/>
          <p:cNvSpPr/>
          <p:nvPr/>
        </p:nvSpPr>
        <p:spPr>
          <a:xfrm>
            <a:off x="502920" y="1243584"/>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7" name="Image 0" descr="/home/claude/assets/ic_gear_navy.png"/>
          <p:cNvPicPr>
            <a:picLocks noChangeAspect="1"/>
          </p:cNvPicPr>
          <p:nvPr/>
        </p:nvPicPr>
        <p:blipFill>
          <a:blip r:embed="rId3"/>
          <a:stretch>
            <a:fillRect/>
          </a:stretch>
        </p:blipFill>
        <p:spPr>
          <a:xfrm>
            <a:off x="694944" y="1371600"/>
            <a:ext cx="237744" cy="237744"/>
          </a:xfrm>
          <a:prstGeom prst="rect">
            <a:avLst/>
          </a:prstGeom>
        </p:spPr>
      </p:pic>
      <p:sp>
        <p:nvSpPr>
          <p:cNvPr id="8" name="Text 5"/>
          <p:cNvSpPr/>
          <p:nvPr/>
        </p:nvSpPr>
        <p:spPr>
          <a:xfrm>
            <a:off x="1042416" y="1353312"/>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Uji ulang keputusan duplikat</a:t>
            </a:r>
            <a:endParaRPr lang="en-US" sz="1050" dirty="0"/>
          </a:p>
        </p:txBody>
      </p:sp>
      <p:sp>
        <p:nvSpPr>
          <p:cNvPr id="9" name="Text 6"/>
          <p:cNvSpPr/>
          <p:nvPr/>
        </p:nvSpPr>
        <p:spPr>
          <a:xfrm>
            <a:off x="1042416" y="1591056"/>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Latih dua versi — dengan dan tanpa penghapusan 73.476 baris — lalu bandingkan hasilnya.</a:t>
            </a:r>
            <a:endParaRPr lang="en-US" sz="880" dirty="0"/>
          </a:p>
        </p:txBody>
      </p:sp>
      <p:sp>
        <p:nvSpPr>
          <p:cNvPr id="10" name="Shape 7"/>
          <p:cNvSpPr/>
          <p:nvPr/>
        </p:nvSpPr>
        <p:spPr>
          <a:xfrm>
            <a:off x="502920" y="2048256"/>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1" name="Image 1" descr="/home/claude/assets/ic_search_navy.png"/>
          <p:cNvPicPr>
            <a:picLocks noChangeAspect="1"/>
          </p:cNvPicPr>
          <p:nvPr/>
        </p:nvPicPr>
        <p:blipFill>
          <a:blip r:embed="rId4"/>
          <a:stretch>
            <a:fillRect/>
          </a:stretch>
        </p:blipFill>
        <p:spPr>
          <a:xfrm>
            <a:off x="694944" y="2176272"/>
            <a:ext cx="237744" cy="237744"/>
          </a:xfrm>
          <a:prstGeom prst="rect">
            <a:avLst/>
          </a:prstGeom>
        </p:spPr>
      </p:pic>
      <p:sp>
        <p:nvSpPr>
          <p:cNvPr id="12" name="Text 8"/>
          <p:cNvSpPr/>
          <p:nvPr/>
        </p:nvSpPr>
        <p:spPr>
          <a:xfrm>
            <a:off x="1042416" y="2157984"/>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Hyperparameter tuning</a:t>
            </a:r>
            <a:endParaRPr lang="en-US" sz="1050" dirty="0"/>
          </a:p>
        </p:txBody>
      </p:sp>
      <p:sp>
        <p:nvSpPr>
          <p:cNvPr id="13" name="Text 9"/>
          <p:cNvSpPr/>
          <p:nvPr/>
        </p:nvSpPr>
        <p:spPr>
          <a:xfrm>
            <a:off x="1042416" y="2395728"/>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Uji nilai C dan penalty L1 vs L2 dengan scoring='recall' di atas 5-Fold yang sudah ada.</a:t>
            </a:r>
            <a:endParaRPr lang="en-US" sz="880" dirty="0"/>
          </a:p>
        </p:txBody>
      </p:sp>
      <p:sp>
        <p:nvSpPr>
          <p:cNvPr id="14" name="Shape 10"/>
          <p:cNvSpPr/>
          <p:nvPr/>
        </p:nvSpPr>
        <p:spPr>
          <a:xfrm>
            <a:off x="502920" y="2852928"/>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5" name="Image 2" descr="/home/claude/assets/ic_scale_navy.png"/>
          <p:cNvPicPr>
            <a:picLocks noChangeAspect="1"/>
          </p:cNvPicPr>
          <p:nvPr/>
        </p:nvPicPr>
        <p:blipFill>
          <a:blip r:embed="rId5"/>
          <a:stretch>
            <a:fillRect/>
          </a:stretch>
        </p:blipFill>
        <p:spPr>
          <a:xfrm>
            <a:off x="694944" y="2980944"/>
            <a:ext cx="237744" cy="237744"/>
          </a:xfrm>
          <a:prstGeom prst="rect">
            <a:avLst/>
          </a:prstGeom>
        </p:spPr>
      </p:pic>
      <p:sp>
        <p:nvSpPr>
          <p:cNvPr id="16" name="Text 11"/>
          <p:cNvSpPr/>
          <p:nvPr/>
        </p:nvSpPr>
        <p:spPr>
          <a:xfrm>
            <a:off x="1042416" y="2962656"/>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Kalibrasi probabilitas</a:t>
            </a:r>
            <a:endParaRPr lang="en-US" sz="1050" dirty="0"/>
          </a:p>
        </p:txBody>
      </p:sp>
      <p:sp>
        <p:nvSpPr>
          <p:cNvPr id="17" name="Text 12"/>
          <p:cNvSpPr/>
          <p:nvPr/>
        </p:nvSpPr>
        <p:spPr>
          <a:xfrm>
            <a:off x="1042416" y="3200400"/>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Pastikan skor 0,7 benar-benar berarti peluang 70%, karena skor dipakai untuk prioritisasi.</a:t>
            </a:r>
            <a:endParaRPr lang="en-US" sz="880" dirty="0"/>
          </a:p>
        </p:txBody>
      </p:sp>
      <p:sp>
        <p:nvSpPr>
          <p:cNvPr id="18" name="Shape 13"/>
          <p:cNvSpPr/>
          <p:nvPr/>
        </p:nvSpPr>
        <p:spPr>
          <a:xfrm>
            <a:off x="502920" y="3657600"/>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9" name="Image 3" descr="/home/claude/assets/ic_check_navy.png"/>
          <p:cNvPicPr>
            <a:picLocks noChangeAspect="1"/>
          </p:cNvPicPr>
          <p:nvPr/>
        </p:nvPicPr>
        <p:blipFill>
          <a:blip r:embed="rId6"/>
          <a:stretch>
            <a:fillRect/>
          </a:stretch>
        </p:blipFill>
        <p:spPr>
          <a:xfrm>
            <a:off x="694944" y="3785616"/>
            <a:ext cx="237744" cy="237744"/>
          </a:xfrm>
          <a:prstGeom prst="rect">
            <a:avLst/>
          </a:prstGeom>
        </p:spPr>
      </p:pic>
      <p:sp>
        <p:nvSpPr>
          <p:cNvPr id="20" name="Text 14"/>
          <p:cNvSpPr/>
          <p:nvPr/>
        </p:nvSpPr>
        <p:spPr>
          <a:xfrm>
            <a:off x="1042416" y="3767328"/>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Bandingkan metode imbalance</a:t>
            </a:r>
            <a:endParaRPr lang="en-US" sz="1050" dirty="0"/>
          </a:p>
        </p:txBody>
      </p:sp>
      <p:sp>
        <p:nvSpPr>
          <p:cNvPr id="21" name="Text 15"/>
          <p:cNvSpPr/>
          <p:nvPr/>
        </p:nvSpPr>
        <p:spPr>
          <a:xfrm>
            <a:off x="1042416" y="4005072"/>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Uji SMOTE dan undersampling sebagai pembanding class_weight yang dipakai sekarang.</a:t>
            </a:r>
            <a:endParaRPr lang="en-US" sz="880" dirty="0"/>
          </a:p>
        </p:txBody>
      </p:sp>
      <p:sp>
        <p:nvSpPr>
          <p:cNvPr id="22" name="Text 16"/>
          <p:cNvSpPr/>
          <p:nvPr/>
        </p:nvSpPr>
        <p:spPr>
          <a:xfrm>
            <a:off x="4663440" y="987552"/>
            <a:ext cx="3657600" cy="219456"/>
          </a:xfrm>
          <a:prstGeom prst="rect">
            <a:avLst/>
          </a:prstGeom>
          <a:noFill/>
          <a:ln/>
        </p:spPr>
        <p:txBody>
          <a:bodyPr wrap="square" lIns="0" tIns="0" rIns="0" bIns="0" rtlCol="0" anchor="ctr"/>
          <a:lstStyle/>
          <a:p>
            <a:pPr marL="0" indent="0">
              <a:buNone/>
            </a:pPr>
            <a:r>
              <a:rPr lang="en-US" sz="1250" b="1" dirty="0">
                <a:solidFill>
                  <a:srgbClr val="E2703A"/>
                </a:solidFill>
                <a:latin typeface="Calibri" pitchFamily="34" charset="0"/>
                <a:ea typeface="Calibri" pitchFamily="34" charset="-122"/>
                <a:cs typeface="Calibri" pitchFamily="34" charset="-120"/>
              </a:rPr>
              <a:t>Penambahan data</a:t>
            </a:r>
            <a:endParaRPr lang="en-US" sz="1250" dirty="0"/>
          </a:p>
        </p:txBody>
      </p:sp>
      <p:sp>
        <p:nvSpPr>
          <p:cNvPr id="23" name="Shape 17"/>
          <p:cNvSpPr/>
          <p:nvPr/>
        </p:nvSpPr>
        <p:spPr>
          <a:xfrm>
            <a:off x="4663440" y="1243584"/>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4" name="Image 4" descr="/home/claude/assets/ic_clock_orange.png"/>
          <p:cNvPicPr>
            <a:picLocks noChangeAspect="1"/>
          </p:cNvPicPr>
          <p:nvPr/>
        </p:nvPicPr>
        <p:blipFill>
          <a:blip r:embed="rId7"/>
          <a:stretch>
            <a:fillRect/>
          </a:stretch>
        </p:blipFill>
        <p:spPr>
          <a:xfrm>
            <a:off x="4855464" y="1371600"/>
            <a:ext cx="237744" cy="237744"/>
          </a:xfrm>
          <a:prstGeom prst="rect">
            <a:avLst/>
          </a:prstGeom>
        </p:spPr>
      </p:pic>
      <p:sp>
        <p:nvSpPr>
          <p:cNvPr id="25" name="Text 18"/>
          <p:cNvSpPr/>
          <p:nvPr/>
        </p:nvSpPr>
        <p:spPr>
          <a:xfrm>
            <a:off x="5202936" y="1353312"/>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lead_time</a:t>
            </a:r>
            <a:endParaRPr lang="en-US" sz="1050" dirty="0"/>
          </a:p>
        </p:txBody>
      </p:sp>
      <p:sp>
        <p:nvSpPr>
          <p:cNvPr id="26" name="Text 19"/>
          <p:cNvSpPr/>
          <p:nvPr/>
        </p:nvSpPr>
        <p:spPr>
          <a:xfrm>
            <a:off x="5202936" y="1591056"/>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Jarak hari antara pemesanan dan kedatangan — di literatur perhotelan termasuk prediktor terkuat.</a:t>
            </a:r>
            <a:endParaRPr lang="en-US" sz="880" dirty="0"/>
          </a:p>
        </p:txBody>
      </p:sp>
      <p:sp>
        <p:nvSpPr>
          <p:cNvPr id="27" name="Shape 20"/>
          <p:cNvSpPr/>
          <p:nvPr/>
        </p:nvSpPr>
        <p:spPr>
          <a:xfrm>
            <a:off x="4663440" y="2048256"/>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28" name="Image 5" descr="/home/claude/assets/ic_money_orange.png"/>
          <p:cNvPicPr>
            <a:picLocks noChangeAspect="1"/>
          </p:cNvPicPr>
          <p:nvPr/>
        </p:nvPicPr>
        <p:blipFill>
          <a:blip r:embed="rId8"/>
          <a:stretch>
            <a:fillRect/>
          </a:stretch>
        </p:blipFill>
        <p:spPr>
          <a:xfrm>
            <a:off x="4855464" y="2176272"/>
            <a:ext cx="237744" cy="237744"/>
          </a:xfrm>
          <a:prstGeom prst="rect">
            <a:avLst/>
          </a:prstGeom>
        </p:spPr>
      </p:pic>
      <p:sp>
        <p:nvSpPr>
          <p:cNvPr id="29" name="Text 21"/>
          <p:cNvSpPr/>
          <p:nvPr/>
        </p:nvSpPr>
        <p:spPr>
          <a:xfrm>
            <a:off x="5202936" y="2157984"/>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ADR &amp; tanggal menginap</a:t>
            </a:r>
            <a:endParaRPr lang="en-US" sz="1050" dirty="0"/>
          </a:p>
        </p:txBody>
      </p:sp>
      <p:sp>
        <p:nvSpPr>
          <p:cNvPr id="30" name="Text 22"/>
          <p:cNvSpPr/>
          <p:nvPr/>
        </p:nvSpPr>
        <p:spPr>
          <a:xfrm>
            <a:off x="5202936" y="2395728"/>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Memungkinkan perhitungan dampak bisnis dalam nilai uang, bukan hanya jumlah booking.</a:t>
            </a:r>
            <a:endParaRPr lang="en-US" sz="880" dirty="0"/>
          </a:p>
        </p:txBody>
      </p:sp>
      <p:sp>
        <p:nvSpPr>
          <p:cNvPr id="31" name="Shape 23"/>
          <p:cNvSpPr/>
          <p:nvPr/>
        </p:nvSpPr>
        <p:spPr>
          <a:xfrm>
            <a:off x="4663440" y="2852928"/>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2" name="Image 6" descr="/home/claude/assets/ic_users_orange.png"/>
          <p:cNvPicPr>
            <a:picLocks noChangeAspect="1"/>
          </p:cNvPicPr>
          <p:nvPr/>
        </p:nvPicPr>
        <p:blipFill>
          <a:blip r:embed="rId9"/>
          <a:stretch>
            <a:fillRect/>
          </a:stretch>
        </p:blipFill>
        <p:spPr>
          <a:xfrm>
            <a:off x="4855464" y="2980944"/>
            <a:ext cx="237744" cy="237744"/>
          </a:xfrm>
          <a:prstGeom prst="rect">
            <a:avLst/>
          </a:prstGeom>
        </p:spPr>
      </p:pic>
      <p:sp>
        <p:nvSpPr>
          <p:cNvPr id="33" name="Text 24"/>
          <p:cNvSpPr/>
          <p:nvPr/>
        </p:nvSpPr>
        <p:spPr>
          <a:xfrm>
            <a:off x="5202936" y="2962656"/>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Riwayat tamu</a:t>
            </a:r>
            <a:endParaRPr lang="en-US" sz="1050" dirty="0"/>
          </a:p>
        </p:txBody>
      </p:sp>
      <p:sp>
        <p:nvSpPr>
          <p:cNvPr id="34" name="Text 25"/>
          <p:cNvSpPr/>
          <p:nvPr/>
        </p:nvSpPr>
        <p:spPr>
          <a:xfrm>
            <a:off x="5202936" y="3200400"/>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Status repeat guest dan jumlah booking sebelumnya untuk memperkaya sinyal komitmen.</a:t>
            </a:r>
            <a:endParaRPr lang="en-US" sz="880" dirty="0"/>
          </a:p>
        </p:txBody>
      </p:sp>
      <p:sp>
        <p:nvSpPr>
          <p:cNvPr id="35" name="Shape 26"/>
          <p:cNvSpPr/>
          <p:nvPr/>
        </p:nvSpPr>
        <p:spPr>
          <a:xfrm>
            <a:off x="4663440" y="3657600"/>
            <a:ext cx="3977640" cy="713232"/>
          </a:xfrm>
          <a:prstGeom prst="roundRect">
            <a:avLst>
              <a:gd name="adj" fmla="val 7692"/>
            </a:avLst>
          </a:prstGeom>
          <a:solidFill>
            <a:srgbClr val="F2F5F8"/>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36" name="Image 7" descr="/home/claude/assets/ic_data_orange.png"/>
          <p:cNvPicPr>
            <a:picLocks noChangeAspect="1"/>
          </p:cNvPicPr>
          <p:nvPr/>
        </p:nvPicPr>
        <p:blipFill>
          <a:blip r:embed="rId10"/>
          <a:stretch>
            <a:fillRect/>
          </a:stretch>
        </p:blipFill>
        <p:spPr>
          <a:xfrm>
            <a:off x="4855464" y="3785616"/>
            <a:ext cx="237744" cy="237744"/>
          </a:xfrm>
          <a:prstGeom prst="rect">
            <a:avLst/>
          </a:prstGeom>
        </p:spPr>
      </p:pic>
      <p:sp>
        <p:nvSpPr>
          <p:cNvPr id="37" name="Text 27"/>
          <p:cNvSpPr/>
          <p:nvPr/>
        </p:nvSpPr>
        <p:spPr>
          <a:xfrm>
            <a:off x="5202936" y="3767328"/>
            <a:ext cx="3291840" cy="219456"/>
          </a:xfrm>
          <a:prstGeom prst="rect">
            <a:avLst/>
          </a:prstGeom>
          <a:noFill/>
          <a:ln/>
        </p:spPr>
        <p:txBody>
          <a:bodyPr wrap="square" lIns="0" tIns="0" rIns="0" bIns="0" rtlCol="0" anchor="ctr"/>
          <a:lstStyle/>
          <a:p>
            <a:pPr marL="0" indent="0">
              <a:buNone/>
            </a:pPr>
            <a:r>
              <a:rPr lang="en-US" sz="1050" b="1" dirty="0">
                <a:solidFill>
                  <a:srgbClr val="123A5E"/>
                </a:solidFill>
                <a:latin typeface="Calibri" pitchFamily="34" charset="0"/>
                <a:ea typeface="Calibri" pitchFamily="34" charset="-122"/>
                <a:cs typeface="Calibri" pitchFamily="34" charset="-120"/>
              </a:rPr>
              <a:t>Data eksternal</a:t>
            </a:r>
            <a:endParaRPr lang="en-US" sz="1050" dirty="0"/>
          </a:p>
        </p:txBody>
      </p:sp>
      <p:sp>
        <p:nvSpPr>
          <p:cNvPr id="38" name="Text 28"/>
          <p:cNvSpPr/>
          <p:nvPr/>
        </p:nvSpPr>
        <p:spPr>
          <a:xfrm>
            <a:off x="5202936" y="4005072"/>
            <a:ext cx="3291840" cy="329184"/>
          </a:xfrm>
          <a:prstGeom prst="rect">
            <a:avLst/>
          </a:prstGeom>
          <a:noFill/>
          <a:ln/>
        </p:spPr>
        <p:txBody>
          <a:bodyPr wrap="square" lIns="0" tIns="0" rIns="0" bIns="0" rtlCol="0" anchor="t"/>
          <a:lstStyle/>
          <a:p>
            <a:pPr marL="0" indent="0">
              <a:lnSpc>
                <a:spcPts val="1170"/>
              </a:lnSpc>
              <a:buNone/>
            </a:pPr>
            <a:r>
              <a:rPr lang="en-US" sz="880" dirty="0">
                <a:solidFill>
                  <a:srgbClr val="6B7885"/>
                </a:solidFill>
                <a:latin typeface="Calibri" pitchFamily="34" charset="0"/>
                <a:ea typeface="Calibri" pitchFamily="34" charset="-122"/>
                <a:cs typeface="Calibri" pitchFamily="34" charset="-120"/>
              </a:rPr>
              <a:t>Kalender acara lokal, musim liburan, dan kondisi cuaca di lokasi hotel.</a:t>
            </a:r>
            <a:endParaRPr lang="en-US" sz="880" dirty="0"/>
          </a:p>
        </p:txBody>
      </p:sp>
      <p:sp>
        <p:nvSpPr>
          <p:cNvPr id="39" name="Text 29"/>
          <p:cNvSpPr/>
          <p:nvPr/>
        </p:nvSpPr>
        <p:spPr>
          <a:xfrm>
            <a:off x="502920" y="4498848"/>
            <a:ext cx="8138160" cy="310896"/>
          </a:xfrm>
          <a:prstGeom prst="rect">
            <a:avLst/>
          </a:prstGeom>
          <a:noFill/>
          <a:ln/>
        </p:spPr>
        <p:txBody>
          <a:bodyPr wrap="square" lIns="0" tIns="0" rIns="0" bIns="0" rtlCol="0" anchor="t"/>
          <a:lstStyle/>
          <a:p>
            <a:pPr marL="0" indent="0">
              <a:lnSpc>
                <a:spcPts val="1237"/>
              </a:lnSpc>
              <a:buNone/>
            </a:pPr>
            <a:r>
              <a:rPr lang="en-US" sz="930" dirty="0">
                <a:solidFill>
                  <a:srgbClr val="B3392E"/>
                </a:solidFill>
                <a:latin typeface="Calibri" pitchFamily="34" charset="0"/>
                <a:ea typeface="Calibri" pitchFamily="34" charset="-122"/>
                <a:cs typeface="Calibri" pitchFamily="34" charset="-120"/>
              </a:rPr>
              <a:t>Prioritas pertama: telusuri anomali tarif Non Refund ke tim operasional hotel. Temuan 89,2% itu terlalu kuat untuk dibiarkan tanpa penjelasan, dan jawabannya bisa mengubah arah rekomendasi bisnis.</a:t>
            </a:r>
            <a:endParaRPr lang="en-US" sz="9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01168"/>
          </a:xfrm>
          <a:prstGeom prst="rect">
            <a:avLst/>
          </a:prstGeom>
          <a:noFill/>
          <a:ln/>
        </p:spPr>
        <p:txBody>
          <a:bodyPr wrap="square" lIns="0" tIns="0" rIns="0" bIns="0" rtlCol="0" anchor="t"/>
          <a:lstStyle/>
          <a:p>
            <a:pPr marL="0" indent="0">
              <a:buNone/>
            </a:pPr>
            <a:r>
              <a:rPr lang="en-US" sz="1050" b="1" kern="0" spc="160" dirty="0">
                <a:solidFill>
                  <a:srgbClr val="E2703A"/>
                </a:solidFill>
                <a:latin typeface="Calibri" pitchFamily="34" charset="0"/>
                <a:ea typeface="Calibri" pitchFamily="34" charset="-122"/>
                <a:cs typeface="Calibri" pitchFamily="34" charset="-120"/>
              </a:rPr>
              <a:t>IMPLEMENTASI</a:t>
            </a:r>
            <a:endParaRPr lang="en-US" sz="1050" dirty="0"/>
          </a:p>
        </p:txBody>
      </p:sp>
      <p:sp>
        <p:nvSpPr>
          <p:cNvPr id="3" name="Text 1"/>
          <p:cNvSpPr/>
          <p:nvPr/>
        </p:nvSpPr>
        <p:spPr>
          <a:xfrm>
            <a:off x="502920" y="512064"/>
            <a:ext cx="8138160" cy="731520"/>
          </a:xfrm>
          <a:prstGeom prst="rect">
            <a:avLst/>
          </a:prstGeom>
          <a:noFill/>
          <a:ln/>
        </p:spPr>
        <p:txBody>
          <a:bodyPr wrap="square" lIns="0" tIns="0" rIns="0" bIns="0" rtlCol="0" anchor="t"/>
          <a:lstStyle/>
          <a:p>
            <a:pPr marL="0" indent="0">
              <a:buNone/>
            </a:pPr>
            <a:r>
              <a:rPr lang="en-US" sz="2400" b="1" dirty="0">
                <a:solidFill>
                  <a:srgbClr val="123A5E"/>
                </a:solidFill>
                <a:latin typeface="Calibri" pitchFamily="34" charset="0"/>
                <a:ea typeface="Calibri" pitchFamily="34" charset="-122"/>
                <a:cs typeface="Calibri" pitchFamily="34" charset="-120"/>
              </a:rPr>
              <a:t>Risiko implementasi dan rencana monitoring</a:t>
            </a:r>
            <a:endParaRPr lang="en-US" sz="2400" dirty="0"/>
          </a:p>
        </p:txBody>
      </p:sp>
      <p:sp>
        <p:nvSpPr>
          <p:cNvPr id="4" name="Text 2"/>
          <p:cNvSpPr/>
          <p:nvPr/>
        </p:nvSpPr>
        <p:spPr>
          <a:xfrm>
            <a:off x="8275320" y="4754880"/>
            <a:ext cx="457200" cy="201168"/>
          </a:xfrm>
          <a:prstGeom prst="rect">
            <a:avLst/>
          </a:prstGeom>
          <a:noFill/>
          <a:ln/>
        </p:spPr>
        <p:txBody>
          <a:bodyPr wrap="square" lIns="0" tIns="0" rIns="0" bIns="0" rtlCol="0" anchor="ctr"/>
          <a:lstStyle/>
          <a:p>
            <a:pPr marL="0" indent="0" algn="r">
              <a:buNone/>
            </a:pPr>
            <a:r>
              <a:rPr lang="en-US" sz="900" dirty="0">
                <a:solidFill>
                  <a:srgbClr val="B6C1CC"/>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02920" y="1097280"/>
            <a:ext cx="3977640" cy="3017520"/>
          </a:xfrm>
          <a:prstGeom prst="roundRect">
            <a:avLst>
              <a:gd name="adj" fmla="val 1818"/>
            </a:avLst>
          </a:prstGeom>
          <a:solidFill>
            <a:srgbClr val="FBECEA"/>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6" name="Image 0" descr="/home/claude/assets/ic_warn_orange.png"/>
          <p:cNvPicPr>
            <a:picLocks noChangeAspect="1"/>
          </p:cNvPicPr>
          <p:nvPr/>
        </p:nvPicPr>
        <p:blipFill>
          <a:blip r:embed="rId3"/>
          <a:stretch>
            <a:fillRect/>
          </a:stretch>
        </p:blipFill>
        <p:spPr>
          <a:xfrm>
            <a:off x="713232" y="1298448"/>
            <a:ext cx="274320" cy="274320"/>
          </a:xfrm>
          <a:prstGeom prst="rect">
            <a:avLst/>
          </a:prstGeom>
        </p:spPr>
      </p:pic>
      <p:sp>
        <p:nvSpPr>
          <p:cNvPr id="7" name="Text 4"/>
          <p:cNvSpPr/>
          <p:nvPr/>
        </p:nvSpPr>
        <p:spPr>
          <a:xfrm>
            <a:off x="1115568" y="1298448"/>
            <a:ext cx="3200400" cy="219456"/>
          </a:xfrm>
          <a:prstGeom prst="rect">
            <a:avLst/>
          </a:prstGeom>
          <a:noFill/>
          <a:ln/>
        </p:spPr>
        <p:txBody>
          <a:bodyPr wrap="square" lIns="0" tIns="0" rIns="0" bIns="0" rtlCol="0" anchor="ctr"/>
          <a:lstStyle/>
          <a:p>
            <a:pPr marL="0" indent="0">
              <a:buNone/>
            </a:pPr>
            <a:r>
              <a:rPr lang="en-US" sz="1250" b="1" dirty="0">
                <a:solidFill>
                  <a:srgbClr val="B3392E"/>
                </a:solidFill>
                <a:latin typeface="Calibri" pitchFamily="34" charset="0"/>
                <a:ea typeface="Calibri" pitchFamily="34" charset="-122"/>
                <a:cs typeface="Calibri" pitchFamily="34" charset="-120"/>
              </a:rPr>
              <a:t>Risiko yang perlu dikelola</a:t>
            </a:r>
            <a:endParaRPr lang="en-US" sz="1250" dirty="0"/>
          </a:p>
        </p:txBody>
      </p:sp>
      <p:sp>
        <p:nvSpPr>
          <p:cNvPr id="8" name="Text 5"/>
          <p:cNvSpPr/>
          <p:nvPr/>
        </p:nvSpPr>
        <p:spPr>
          <a:xfrm>
            <a:off x="713232" y="1645920"/>
            <a:ext cx="3566160" cy="1832458"/>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Beban kerja: 870 dari 2.020 booking ditandai pada threshold 0,5</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Kepercayaan tim turun bila 54% kontak alarm palsu</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Tamu dapat terganggu bila terlalu sering dihubungi</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Pola is_domestic dapat berubah</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Kualitas input dapat menurun</a:t>
            </a:r>
            <a:endParaRPr lang="en-US" sz="940" dirty="0"/>
          </a:p>
        </p:txBody>
      </p:sp>
      <p:sp>
        <p:nvSpPr>
          <p:cNvPr id="9" name="Shape 6"/>
          <p:cNvSpPr/>
          <p:nvPr/>
        </p:nvSpPr>
        <p:spPr>
          <a:xfrm>
            <a:off x="4663440" y="1097280"/>
            <a:ext cx="3977640" cy="3017520"/>
          </a:xfrm>
          <a:prstGeom prst="roundRect">
            <a:avLst>
              <a:gd name="adj" fmla="val 1818"/>
            </a:avLst>
          </a:prstGeom>
          <a:solidFill>
            <a:srgbClr val="EAF2ED"/>
          </a:solidFill>
          <a:ln w="9525">
            <a:solidFill>
              <a:srgbClr val="D8E0E8"/>
            </a:solidFill>
            <a:prstDash val="solid"/>
          </a:ln>
          <a:effectLst>
            <a:outerShdw blurRad="101600" dist="25400" dir="5400000" algn="bl" rotWithShape="0">
              <a:srgbClr val="8FA3B5">
                <a:alpha val="22000"/>
              </a:srgbClr>
            </a:outerShdw>
          </a:effectLst>
        </p:spPr>
        <p:txBody>
          <a:bodyPr/>
          <a:lstStyle/>
          <a:p>
            <a:endParaRPr lang="en-ID"/>
          </a:p>
        </p:txBody>
      </p:sp>
      <p:pic>
        <p:nvPicPr>
          <p:cNvPr id="10" name="Image 1" descr="/home/claude/assets/ic_check_navy.png"/>
          <p:cNvPicPr>
            <a:picLocks noChangeAspect="1"/>
          </p:cNvPicPr>
          <p:nvPr/>
        </p:nvPicPr>
        <p:blipFill>
          <a:blip r:embed="rId4"/>
          <a:stretch>
            <a:fillRect/>
          </a:stretch>
        </p:blipFill>
        <p:spPr>
          <a:xfrm>
            <a:off x="4873752" y="1298448"/>
            <a:ext cx="274320" cy="274320"/>
          </a:xfrm>
          <a:prstGeom prst="rect">
            <a:avLst/>
          </a:prstGeom>
        </p:spPr>
      </p:pic>
      <p:sp>
        <p:nvSpPr>
          <p:cNvPr id="11" name="Text 7"/>
          <p:cNvSpPr/>
          <p:nvPr/>
        </p:nvSpPr>
        <p:spPr>
          <a:xfrm>
            <a:off x="5276088" y="1298448"/>
            <a:ext cx="3200400" cy="219456"/>
          </a:xfrm>
          <a:prstGeom prst="rect">
            <a:avLst/>
          </a:prstGeom>
          <a:noFill/>
          <a:ln/>
        </p:spPr>
        <p:txBody>
          <a:bodyPr wrap="square" lIns="0" tIns="0" rIns="0" bIns="0" rtlCol="0" anchor="ctr"/>
          <a:lstStyle/>
          <a:p>
            <a:pPr marL="0" indent="0">
              <a:buNone/>
            </a:pPr>
            <a:r>
              <a:rPr lang="en-US" sz="1250" b="1" dirty="0">
                <a:solidFill>
                  <a:srgbClr val="2F7D5E"/>
                </a:solidFill>
                <a:latin typeface="Calibri" pitchFamily="34" charset="0"/>
                <a:ea typeface="Calibri" pitchFamily="34" charset="-122"/>
                <a:cs typeface="Calibri" pitchFamily="34" charset="-120"/>
              </a:rPr>
              <a:t>Rencana monitoring</a:t>
            </a:r>
            <a:endParaRPr lang="en-US" sz="1250" dirty="0"/>
          </a:p>
        </p:txBody>
      </p:sp>
      <p:sp>
        <p:nvSpPr>
          <p:cNvPr id="12" name="Text 8"/>
          <p:cNvSpPr/>
          <p:nvPr/>
        </p:nvSpPr>
        <p:spPr>
          <a:xfrm>
            <a:off x="4873752" y="1645920"/>
            <a:ext cx="3566160" cy="1832458"/>
          </a:xfrm>
          <a:prstGeom prst="rect">
            <a:avLst/>
          </a:prstGeom>
          <a:noFill/>
          <a:ln/>
        </p:spPr>
        <p:txBody>
          <a:bodyPr wrap="square" lIns="0" tIns="0" rIns="0" bIns="0" rtlCol="0" anchor="t"/>
          <a:lstStyle/>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Pantau Recall, Precision, dan AUC-ROC setiap bulan</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Bandingkan distribusi fitur baru terhadap data latih</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Pantau proporsi is_domestic dan kategori one-hot</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Lacak cancellation rate setelah intervensi</a:t>
            </a:r>
          </a:p>
          <a:p>
            <a:pPr marL="342900" indent="-342900">
              <a:lnSpc>
                <a:spcPts val="1222"/>
              </a:lnSpc>
              <a:spcAft>
                <a:spcPts val="500"/>
              </a:spcAft>
              <a:buSzPct val="100000"/>
              <a:buChar char="•"/>
            </a:pPr>
            <a:r>
              <a:rPr lang="en-US" sz="940">
                <a:solidFill>
                  <a:srgbClr val="16202B"/>
                </a:solidFill>
                <a:latin typeface="Calibri" pitchFamily="34" charset="0"/>
                <a:ea typeface="Calibri" pitchFamily="34" charset="-122"/>
                <a:cs typeface="Calibri" pitchFamily="34" charset="-120"/>
              </a:rPr>
              <a:t>Jalankan A/B testing</a:t>
            </a:r>
            <a:endParaRPr lang="en-US" sz="940" dirty="0"/>
          </a:p>
        </p:txBody>
      </p:sp>
      <p:sp>
        <p:nvSpPr>
          <p:cNvPr id="13" name="Text 9"/>
          <p:cNvSpPr/>
          <p:nvPr/>
        </p:nvSpPr>
        <p:spPr>
          <a:xfrm>
            <a:off x="502920" y="4224528"/>
            <a:ext cx="8138160" cy="365760"/>
          </a:xfrm>
          <a:prstGeom prst="rect">
            <a:avLst/>
          </a:prstGeom>
          <a:noFill/>
          <a:ln/>
        </p:spPr>
        <p:txBody>
          <a:bodyPr wrap="square" lIns="0" tIns="0" rIns="0" bIns="0" rtlCol="0" anchor="t"/>
          <a:lstStyle/>
          <a:p>
            <a:pPr marL="0" indent="0">
              <a:lnSpc>
                <a:spcPts val="1330"/>
              </a:lnSpc>
              <a:buNone/>
            </a:pPr>
            <a:r>
              <a:rPr lang="en-US" sz="1000" dirty="0">
                <a:solidFill>
                  <a:srgbClr val="6B7885"/>
                </a:solidFill>
                <a:latin typeface="Calibri" pitchFamily="34" charset="0"/>
                <a:ea typeface="Calibri" pitchFamily="34" charset="-122"/>
                <a:cs typeface="Calibri" pitchFamily="34" charset="-120"/>
              </a:rPr>
              <a:t>Model yang tidak dipantau akan menua diam-diam. Metrik teknis saja tidak cukup — dampak bisnisnya harus ikut diukur.</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0C2740"/>
        </a:solidFill>
        <a:effectLst/>
      </p:bgPr>
    </p:bg>
    <p:spTree>
      <p:nvGrpSpPr>
        <p:cNvPr id="1" name=""/>
        <p:cNvGrpSpPr/>
        <p:nvPr/>
      </p:nvGrpSpPr>
      <p:grpSpPr>
        <a:xfrm>
          <a:off x="0" y="0"/>
          <a:ext cx="0" cy="0"/>
          <a:chOff x="0" y="0"/>
          <a:chExt cx="0" cy="0"/>
        </a:xfrm>
      </p:grpSpPr>
      <p:sp>
        <p:nvSpPr>
          <p:cNvPr id="2" name="Shape 0"/>
          <p:cNvSpPr/>
          <p:nvPr/>
        </p:nvSpPr>
        <p:spPr>
          <a:xfrm>
            <a:off x="-1463040" y="2743200"/>
            <a:ext cx="4206240" cy="4206240"/>
          </a:xfrm>
          <a:prstGeom prst="ellipse">
            <a:avLst/>
          </a:prstGeom>
          <a:solidFill>
            <a:srgbClr val="123A5E"/>
          </a:solidFill>
          <a:ln/>
        </p:spPr>
        <p:txBody>
          <a:bodyPr/>
          <a:lstStyle/>
          <a:p>
            <a:endParaRPr lang="en-ID"/>
          </a:p>
        </p:txBody>
      </p:sp>
      <p:sp>
        <p:nvSpPr>
          <p:cNvPr id="3" name="Shape 1"/>
          <p:cNvSpPr/>
          <p:nvPr/>
        </p:nvSpPr>
        <p:spPr>
          <a:xfrm>
            <a:off x="7132320" y="-1097280"/>
            <a:ext cx="3474720" cy="3474720"/>
          </a:xfrm>
          <a:prstGeom prst="ellipse">
            <a:avLst/>
          </a:prstGeom>
          <a:solidFill>
            <a:srgbClr val="103352"/>
          </a:solidFill>
          <a:ln/>
        </p:spPr>
        <p:txBody>
          <a:bodyPr/>
          <a:lstStyle/>
          <a:p>
            <a:endParaRPr lang="en-ID"/>
          </a:p>
        </p:txBody>
      </p:sp>
      <p:pic>
        <p:nvPicPr>
          <p:cNvPr id="4" name="Image 0" descr="/home/claude/assets/ic_flag_orange.png"/>
          <p:cNvPicPr>
            <a:picLocks noChangeAspect="1"/>
          </p:cNvPicPr>
          <p:nvPr/>
        </p:nvPicPr>
        <p:blipFill>
          <a:blip r:embed="rId3"/>
          <a:stretch>
            <a:fillRect/>
          </a:stretch>
        </p:blipFill>
        <p:spPr>
          <a:xfrm>
            <a:off x="4224528" y="1298448"/>
            <a:ext cx="685800" cy="685800"/>
          </a:xfrm>
          <a:prstGeom prst="rect">
            <a:avLst/>
          </a:prstGeom>
        </p:spPr>
      </p:pic>
      <p:sp>
        <p:nvSpPr>
          <p:cNvPr id="5" name="Text 2"/>
          <p:cNvSpPr/>
          <p:nvPr/>
        </p:nvSpPr>
        <p:spPr>
          <a:xfrm>
            <a:off x="457200" y="2212848"/>
            <a:ext cx="8229600" cy="603504"/>
          </a:xfrm>
          <a:prstGeom prst="rect">
            <a:avLst/>
          </a:prstGeom>
          <a:noFill/>
          <a:ln/>
        </p:spPr>
        <p:txBody>
          <a:bodyPr wrap="square" lIns="0" tIns="0" rIns="0" bIns="0"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Terima Kasih</a:t>
            </a:r>
            <a:endParaRPr lang="en-US" sz="3800" dirty="0"/>
          </a:p>
        </p:txBody>
      </p:sp>
      <p:sp>
        <p:nvSpPr>
          <p:cNvPr id="6" name="Text 3"/>
          <p:cNvSpPr/>
          <p:nvPr/>
        </p:nvSpPr>
        <p:spPr>
          <a:xfrm>
            <a:off x="457200" y="2907792"/>
            <a:ext cx="8229600" cy="274320"/>
          </a:xfrm>
          <a:prstGeom prst="rect">
            <a:avLst/>
          </a:prstGeom>
          <a:noFill/>
          <a:ln/>
        </p:spPr>
        <p:txBody>
          <a:bodyPr wrap="square" lIns="0" tIns="0" rIns="0" bIns="0" rtlCol="0" anchor="ctr"/>
          <a:lstStyle/>
          <a:p>
            <a:pPr marL="0" indent="0" algn="ctr">
              <a:buNone/>
            </a:pPr>
            <a:r>
              <a:rPr lang="en-US" sz="1300" dirty="0">
                <a:solidFill>
                  <a:srgbClr val="B9C7D6"/>
                </a:solidFill>
                <a:latin typeface="Calibri" pitchFamily="34" charset="0"/>
                <a:ea typeface="Calibri" pitchFamily="34" charset="-122"/>
                <a:cs typeface="Calibri" pitchFamily="34" charset="-120"/>
              </a:rPr>
              <a:t>Prediksi Pembatalan Pemesanan Hotel  •  Capstone Project Module 3</a:t>
            </a:r>
            <a:endParaRPr lang="en-US" sz="1300" dirty="0"/>
          </a:p>
        </p:txBody>
      </p:sp>
      <p:sp>
        <p:nvSpPr>
          <p:cNvPr id="7" name="Text 4"/>
          <p:cNvSpPr/>
          <p:nvPr/>
        </p:nvSpPr>
        <p:spPr>
          <a:xfrm>
            <a:off x="457200" y="3529584"/>
            <a:ext cx="8229600" cy="27432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5338</Words>
  <Application>Microsoft Office PowerPoint</Application>
  <PresentationFormat>On-screen Show (16:9)</PresentationFormat>
  <Paragraphs>812</Paragraphs>
  <Slides>44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Pembatalan Pemesanan Hotel</dc:title>
  <dc:subject>PptxGenJS Presentation</dc:subject>
  <dc:creator>PptxGenJS</dc:creator>
  <cp:lastModifiedBy>yudha ardika</cp:lastModifiedBy>
  <cp:revision>7</cp:revision>
  <dcterms:created xsi:type="dcterms:W3CDTF">2026-08-01T09:50:43Z</dcterms:created>
  <dcterms:modified xsi:type="dcterms:W3CDTF">2026-09-14T01:03:10Z</dcterms:modified>
</cp:coreProperties>
</file>