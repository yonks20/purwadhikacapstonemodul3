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40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diri, dataset yang dipilih, dan satu kalimat masalah bisnis. Target durasi total 15 menit.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porsi terbesar ada di Analytics, jadi bagian modeling akan dibahas paling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23,8% dihitung setelah cleaning. Jangan lupa kaitkan ke slide Data Cleaning.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adalah fondasi argumen pemilihan metrik. Jangan dilewat cepat.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siapa yang memakai output model dan pada titik mana keputusannya diambil.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meminta penjelasan cara kerja metrik. Ucapkan rumusnya, bukan hanya angka hasilnya.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menanyakan siapa yang memakai model dan kapan digunakan — jawabannya ada di slide ini.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sejak awal apa yang TIDAK ada di data, supaya limitasi di belakang terasa konsisten.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Isu kardinalitas country ini bagus untuk ditanya balik ke penguji sebagai rencana perbaikan.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median 0 di mana-mana berarti mayoritas booking "polos" — sinyalnya justru ada di minoritas yang bernilai &gt; 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fokus prosesnya. Isu duplikat dibahas khusus di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Angkat isu ini sendiri sebelum ditanya. Menunjukkan kesadaran metodologis menaikkan nilai, bukan menurunkan.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langsung ke slide benchmark: imbalance yang tidak ditangani menekan recall.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ke rekomendasi: struktur deposit adalah tuas yang paling bisa dikendalikan hotel.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distribusi miring, imputasi numerik memakai median bukan mean.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contoh konkret dari slide limitasi: model tidak bisa dipercaya untuk segmen bersampel kecil.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ditanya lokasi hotel: dominasi PRT mengindikasikan Portugal, tapi sebut sebagai dugaan karena tidak ada kolom lokasi hotel.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paling menarik di seluruh project. Sampaikan sebagai kejutan yang ditemukan dari data, bukan asumsi awal.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 Undefined 100% batal tapi hanya 1 baris — sebutkan sebagai anomali data, jangan dijadikan temuan.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country tidak lagi di-TargetEncode — sudah diringkas jadi is_domestic sebelum preprocessing. Ini kenapa kolom turun dari 32 ke 21.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country disederhanakan jadi is_domestic, XGBoost yang sebelumnya kalah tipis dari Logistic Regression kini unggul jelas.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kunci: penyederhanaan country menaikkan performa SEMUA model, bukan cuma yang terpilih. Ini bukti perbaikan fitur, bukan kebetulan pemilihan model.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 dari Logistic Regression: gap train-test pada XGBoost wajar terjadi karena kapasitas modelnya lebih besar. Jangan panik kalau ditanya soal ini.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bukti konkret bahwa feature engineering bisa mengubah urutan model terbaik. Siap-siap ditanya kenapa hasil sebelumnya beda.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menjelaskan boosting tanpa membaca. Rubrik mewajibkan penjelasan cara kerja algoritma final.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class_weight=balanced membuat sklearn menghitung bobot otomatis: n_samples / (n_classes * n_samples_kelas).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Beban kerja tim: 835 booking ditandai dari 2.020 (41%). Kaitkan langsung ke slide threshold.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0,86 di kelas batal adalah headline number. Precision 0,45 dan accuracy 0,72 adalah harga yang dibayar, sampaikan dengan percaya diri.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menunjukkan model bukan kotak hitam yang kaku — ambangnya bisa disetel mengikuti kapasitas operasional.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langsung untuk pertanyaan kenapa country dulu terlihat dominan. Sampaikan sebagai bukti perbaikan metodologi.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Dominasi required_car_parking_spaces (59,7%) jauh lebih tegas dibanding versi Logistic Regression. Ini ciri khas model pohon: bisa sangat bergantung pada satu fitur kuat.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menilai pemahaman limitasi. Sampaikan dengan percaya diri — ini nilai plus, bukan pengakuan kelemahan.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punya asumsi ADR, sebutkan eksplisit sebagai asumsi — bukan sebagai temuan dari data.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Jujur bahwa batas 0,7 / 0,4 masih usulan. Yang dinilai adalah logika prioritisasinya.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tiap bentuk intervensi ke fitur yang muncul di feature importance.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temuan Non Refund — itu bagian paling berkesan dan menunjukkan analisis benar-benar dilakukan.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 menekankan rekomendasi tidak boleh ngambang. Selalu sebut dari data mana rekomendasi itu berasal.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bivariat ini paling cepat dikerjakan dan paling terlihat hasilnya di presentasi.</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menilai pemahaman dampak implementasi terhadap proses bisnis. Slide ini menjawabnya.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Siapkan jawaban untuk: keputusan duplikat, kenapa Logistic Regression menang, anomali Non Refund, dan trade-off precision.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8.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52.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53.png"/><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035040" y="-1371600"/>
            <a:ext cx="4937760" cy="4937760"/>
          </a:xfrm>
          <a:prstGeom prst="ellipse">
            <a:avLst/>
          </a:prstGeom>
          <a:solidFill>
            <a:srgbClr val="123A5E"/>
          </a:solidFill>
          <a:ln/>
        </p:spPr>
        <p:txBody>
          <a:bodyPr/>
          <a:lstStyle/>
          <a:p>
            <a:endParaRPr lang="en-ID"/>
          </a:p>
        </p:txBody>
      </p:sp>
      <p:sp>
        <p:nvSpPr>
          <p:cNvPr id="3" name="Shape 1"/>
          <p:cNvSpPr/>
          <p:nvPr/>
        </p:nvSpPr>
        <p:spPr>
          <a:xfrm>
            <a:off x="7223760" y="2651760"/>
            <a:ext cx="2926080" cy="2926080"/>
          </a:xfrm>
          <a:prstGeom prst="ellipse">
            <a:avLst/>
          </a:prstGeom>
          <a:solidFill>
            <a:srgbClr val="103352"/>
          </a:solidFill>
          <a:ln/>
        </p:spPr>
        <p:txBody>
          <a:bodyPr/>
          <a:lstStyle/>
          <a:p>
            <a:endParaRPr lang="en-ID"/>
          </a:p>
        </p:txBody>
      </p:sp>
      <p:pic>
        <p:nvPicPr>
          <p:cNvPr id="4" name="Image 0" descr="/home/claude/assets/ic_hotel_orange.png"/>
          <p:cNvPicPr>
            <a:picLocks noChangeAspect="1"/>
          </p:cNvPicPr>
          <p:nvPr/>
        </p:nvPicPr>
        <p:blipFill>
          <a:blip r:embed="rId3"/>
          <a:stretch>
            <a:fillRect/>
          </a:stretch>
        </p:blipFill>
        <p:spPr>
          <a:xfrm>
            <a:off x="566928" y="932688"/>
            <a:ext cx="566928" cy="566928"/>
          </a:xfrm>
          <a:prstGeom prst="rect">
            <a:avLst/>
          </a:prstGeom>
        </p:spPr>
      </p:pic>
      <p:sp>
        <p:nvSpPr>
          <p:cNvPr id="5" name="Text 2"/>
          <p:cNvSpPr/>
          <p:nvPr/>
        </p:nvSpPr>
        <p:spPr>
          <a:xfrm>
            <a:off x="566928" y="1691640"/>
            <a:ext cx="5486400" cy="219456"/>
          </a:xfrm>
          <a:prstGeom prst="rect">
            <a:avLst/>
          </a:prstGeom>
          <a:noFill/>
          <a:ln/>
        </p:spPr>
        <p:txBody>
          <a:bodyPr wrap="square" lIns="0" tIns="0" rIns="0" bIns="0" rtlCol="0" anchor="ctr"/>
          <a:lstStyle/>
          <a:p>
            <a:pPr marL="0" indent="0">
              <a:buNone/>
            </a:pPr>
            <a:r>
              <a:rPr lang="en-US" sz="1100" b="1" kern="0" spc="200" dirty="0">
                <a:solidFill>
                  <a:srgbClr val="E2703A"/>
                </a:solidFill>
                <a:latin typeface="Calibri" pitchFamily="34" charset="0"/>
                <a:ea typeface="Calibri" pitchFamily="34" charset="-122"/>
                <a:cs typeface="Calibri" pitchFamily="34" charset="-120"/>
              </a:rPr>
              <a:t>CAPSTONE PROJECT MODULE 3</a:t>
            </a:r>
            <a:endParaRPr lang="en-US" sz="1100" dirty="0"/>
          </a:p>
        </p:txBody>
      </p:sp>
      <p:sp>
        <p:nvSpPr>
          <p:cNvPr id="6" name="Text 3"/>
          <p:cNvSpPr/>
          <p:nvPr/>
        </p:nvSpPr>
        <p:spPr>
          <a:xfrm>
            <a:off x="548640" y="1965960"/>
            <a:ext cx="6035040" cy="1234440"/>
          </a:xfrm>
          <a:prstGeom prst="rect">
            <a:avLst/>
          </a:prstGeom>
          <a:noFill/>
          <a:ln/>
        </p:spPr>
        <p:txBody>
          <a:bodyPr wrap="square" lIns="0" tIns="0" rIns="0" bIns="0" rtlCol="0" anchor="ctr"/>
          <a:lstStyle/>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Prediksi Pembatalan</a:t>
            </a:r>
            <a:endParaRPr lang="en-US" sz="3800" dirty="0"/>
          </a:p>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Pemesanan Hotel</a:t>
            </a:r>
            <a:endParaRPr lang="en-US" sz="3800" dirty="0"/>
          </a:p>
        </p:txBody>
      </p:sp>
      <p:sp>
        <p:nvSpPr>
          <p:cNvPr id="7" name="Text 4"/>
          <p:cNvSpPr/>
          <p:nvPr/>
        </p:nvSpPr>
        <p:spPr>
          <a:xfrm>
            <a:off x="566928" y="3310128"/>
            <a:ext cx="5852160" cy="640080"/>
          </a:xfrm>
          <a:prstGeom prst="rect">
            <a:avLst/>
          </a:prstGeom>
          <a:noFill/>
          <a:ln/>
        </p:spPr>
        <p:txBody>
          <a:bodyPr wrap="square" lIns="0" tIns="0" rIns="0" bIns="0" rtlCol="0" anchor="ctr"/>
          <a:lstStyle/>
          <a:p>
            <a:pPr marL="0" indent="0">
              <a:lnSpc>
                <a:spcPts val="1900"/>
              </a:lnSpc>
              <a:buNone/>
            </a:pPr>
            <a:r>
              <a:rPr lang="en-US" sz="1300" dirty="0">
                <a:solidFill>
                  <a:srgbClr val="B9C7D6"/>
                </a:solidFill>
                <a:latin typeface="Calibri" pitchFamily="34" charset="0"/>
                <a:ea typeface="Calibri" pitchFamily="34" charset="-122"/>
                <a:cs typeface="Calibri" pitchFamily="34" charset="-120"/>
              </a:rPr>
              <a:t>Klasifikasi biner untuk mendeteksi booking berisiko batal</a:t>
            </a:r>
            <a:endParaRPr lang="en-US" sz="1300" dirty="0"/>
          </a:p>
          <a:p>
            <a:pPr marL="0" indent="0">
              <a:lnSpc>
                <a:spcPts val="1900"/>
              </a:lnSpc>
              <a:buNone/>
            </a:pPr>
            <a:r>
              <a:rPr lang="en-US" sz="1300" dirty="0">
                <a:solidFill>
                  <a:srgbClr val="B9C7D6"/>
                </a:solidFill>
                <a:latin typeface="Calibri" pitchFamily="34" charset="0"/>
                <a:ea typeface="Calibri" pitchFamily="34" charset="-122"/>
                <a:cs typeface="Calibri" pitchFamily="34" charset="-120"/>
              </a:rPr>
              <a:t>sebagai dasar intervensi tim Revenue Management</a:t>
            </a:r>
            <a:endParaRPr lang="en-US" sz="1300" dirty="0"/>
          </a:p>
        </p:txBody>
      </p:sp>
      <p:sp>
        <p:nvSpPr>
          <p:cNvPr id="8" name="Shape 5"/>
          <p:cNvSpPr/>
          <p:nvPr/>
        </p:nvSpPr>
        <p:spPr>
          <a:xfrm>
            <a:off x="566928" y="4114800"/>
            <a:ext cx="457200" cy="27432"/>
          </a:xfrm>
          <a:prstGeom prst="rect">
            <a:avLst/>
          </a:prstGeom>
          <a:solidFill>
            <a:srgbClr val="E2703A"/>
          </a:solidFill>
          <a:ln/>
        </p:spPr>
        <p:txBody>
          <a:bodyPr/>
          <a:lstStyle/>
          <a:p>
            <a:endParaRPr lang="en-ID"/>
          </a:p>
        </p:txBody>
      </p:sp>
      <p:sp>
        <p:nvSpPr>
          <p:cNvPr id="9" name="Text 6"/>
          <p:cNvSpPr/>
          <p:nvPr/>
        </p:nvSpPr>
        <p:spPr>
          <a:xfrm>
            <a:off x="566928" y="4279392"/>
            <a:ext cx="6400800" cy="237744"/>
          </a:xfrm>
          <a:prstGeom prst="rect">
            <a:avLst/>
          </a:prstGeom>
          <a:noFill/>
          <a:ln/>
        </p:spPr>
        <p:txBody>
          <a:bodyPr wrap="square" lIns="0" tIns="0" rIns="0" bIns="0" rtlCol="0" anchor="ctr"/>
          <a:lstStyle/>
          <a:p>
            <a:pPr marL="0" indent="0">
              <a:buNone/>
            </a:pPr>
            <a:r>
              <a:rPr lang="en-US" sz="1100">
                <a:solidFill>
                  <a:srgbClr val="8FA3B5"/>
                </a:solidFill>
                <a:latin typeface="Calibri" pitchFamily="34" charset="0"/>
                <a:ea typeface="Calibri" pitchFamily="34" charset="-122"/>
                <a:cs typeface="Calibri" pitchFamily="34" charset="-120"/>
              </a:rPr>
              <a:t>Yonkie Yudha Ardika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OUTLINE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Alur Presentasi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02920" y="1115568"/>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76656" y="1261872"/>
            <a:ext cx="493776" cy="493776"/>
          </a:xfrm>
          <a:prstGeom prst="roundRect">
            <a:avLst>
              <a:gd name="adj" fmla="val 16667"/>
            </a:avLst>
          </a:prstGeom>
          <a:solidFill>
            <a:srgbClr val="123A5E"/>
          </a:solidFill>
          <a:ln/>
        </p:spPr>
        <p:txBody>
          <a:bodyPr/>
          <a:lstStyle/>
          <a:p>
            <a:endParaRPr lang="en-ID"/>
          </a:p>
        </p:txBody>
      </p:sp>
      <p:pic>
        <p:nvPicPr>
          <p:cNvPr id="7" name="Image 0" descr="/home/claude/assets/ic_problem_white.png"/>
          <p:cNvPicPr>
            <a:picLocks noChangeAspect="1"/>
          </p:cNvPicPr>
          <p:nvPr/>
        </p:nvPicPr>
        <p:blipFill>
          <a:blip r:embed="rId3"/>
          <a:stretch>
            <a:fillRect/>
          </a:stretch>
        </p:blipFill>
        <p:spPr>
          <a:xfrm>
            <a:off x="795528" y="1380744"/>
            <a:ext cx="256032" cy="256032"/>
          </a:xfrm>
          <a:prstGeom prst="rect">
            <a:avLst/>
          </a:prstGeom>
        </p:spPr>
      </p:pic>
      <p:sp>
        <p:nvSpPr>
          <p:cNvPr id="8" name="Text 5"/>
          <p:cNvSpPr/>
          <p:nvPr/>
        </p:nvSpPr>
        <p:spPr>
          <a:xfrm>
            <a:off x="7973568" y="1225296"/>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01</a:t>
            </a:r>
            <a:endParaRPr lang="en-US" sz="1200" dirty="0"/>
          </a:p>
        </p:txBody>
      </p:sp>
      <p:sp>
        <p:nvSpPr>
          <p:cNvPr id="9" name="Text 6"/>
          <p:cNvSpPr/>
          <p:nvPr/>
        </p:nvSpPr>
        <p:spPr>
          <a:xfrm>
            <a:off x="1316736" y="1280160"/>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Business Problem</a:t>
            </a:r>
            <a:endParaRPr lang="en-US" sz="1350" dirty="0"/>
          </a:p>
        </p:txBody>
      </p:sp>
      <p:sp>
        <p:nvSpPr>
          <p:cNvPr id="10" name="Text 7"/>
          <p:cNvSpPr/>
          <p:nvPr/>
        </p:nvSpPr>
        <p:spPr>
          <a:xfrm>
            <a:off x="4297680" y="1316736"/>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Konteks bisnis, stakeholder, goal, dan pemilihan metrik</a:t>
            </a:r>
            <a:endParaRPr lang="en-US" sz="1000" dirty="0"/>
          </a:p>
        </p:txBody>
      </p:sp>
      <p:sp>
        <p:nvSpPr>
          <p:cNvPr id="11" name="Shape 8"/>
          <p:cNvSpPr/>
          <p:nvPr/>
        </p:nvSpPr>
        <p:spPr>
          <a:xfrm>
            <a:off x="502920" y="2011680"/>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676656" y="2157984"/>
            <a:ext cx="493776" cy="493776"/>
          </a:xfrm>
          <a:prstGeom prst="roundRect">
            <a:avLst>
              <a:gd name="adj" fmla="val 16667"/>
            </a:avLst>
          </a:prstGeom>
          <a:solidFill>
            <a:srgbClr val="123A5E"/>
          </a:solidFill>
          <a:ln/>
        </p:spPr>
        <p:txBody>
          <a:bodyPr/>
          <a:lstStyle/>
          <a:p>
            <a:endParaRPr lang="en-ID"/>
          </a:p>
        </p:txBody>
      </p:sp>
      <p:pic>
        <p:nvPicPr>
          <p:cNvPr id="13" name="Image 1" descr="/home/claude/assets/ic_data_white.png"/>
          <p:cNvPicPr>
            <a:picLocks noChangeAspect="1"/>
          </p:cNvPicPr>
          <p:nvPr/>
        </p:nvPicPr>
        <p:blipFill>
          <a:blip r:embed="rId4"/>
          <a:stretch>
            <a:fillRect/>
          </a:stretch>
        </p:blipFill>
        <p:spPr>
          <a:xfrm>
            <a:off x="795528" y="2276856"/>
            <a:ext cx="256032" cy="256032"/>
          </a:xfrm>
          <a:prstGeom prst="rect">
            <a:avLst/>
          </a:prstGeom>
        </p:spPr>
      </p:pic>
      <p:sp>
        <p:nvSpPr>
          <p:cNvPr id="14" name="Text 10"/>
          <p:cNvSpPr/>
          <p:nvPr/>
        </p:nvSpPr>
        <p:spPr>
          <a:xfrm>
            <a:off x="7973568" y="2121408"/>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02</a:t>
            </a:r>
            <a:endParaRPr lang="en-US" sz="1200" dirty="0"/>
          </a:p>
        </p:txBody>
      </p:sp>
      <p:sp>
        <p:nvSpPr>
          <p:cNvPr id="15" name="Text 11"/>
          <p:cNvSpPr/>
          <p:nvPr/>
        </p:nvSpPr>
        <p:spPr>
          <a:xfrm>
            <a:off x="1316736" y="2176272"/>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Data &amp; EDA</a:t>
            </a:r>
            <a:endParaRPr lang="en-US" sz="1350" dirty="0"/>
          </a:p>
        </p:txBody>
      </p:sp>
      <p:sp>
        <p:nvSpPr>
          <p:cNvPr id="16" name="Text 12"/>
          <p:cNvSpPr/>
          <p:nvPr/>
        </p:nvSpPr>
        <p:spPr>
          <a:xfrm>
            <a:off x="4297680" y="2212848"/>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Arti tiap kolom, proses cleaning, dan pola dalam data</a:t>
            </a:r>
            <a:endParaRPr lang="en-US" sz="1000" dirty="0"/>
          </a:p>
        </p:txBody>
      </p:sp>
      <p:sp>
        <p:nvSpPr>
          <p:cNvPr id="17" name="Shape 13"/>
          <p:cNvSpPr/>
          <p:nvPr/>
        </p:nvSpPr>
        <p:spPr>
          <a:xfrm>
            <a:off x="502920" y="2907792"/>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676656" y="3054096"/>
            <a:ext cx="493776" cy="493776"/>
          </a:xfrm>
          <a:prstGeom prst="roundRect">
            <a:avLst>
              <a:gd name="adj" fmla="val 16667"/>
            </a:avLst>
          </a:prstGeom>
          <a:solidFill>
            <a:srgbClr val="123A5E"/>
          </a:solidFill>
          <a:ln/>
        </p:spPr>
        <p:txBody>
          <a:bodyPr/>
          <a:lstStyle/>
          <a:p>
            <a:endParaRPr lang="en-ID"/>
          </a:p>
        </p:txBody>
      </p:sp>
      <p:pic>
        <p:nvPicPr>
          <p:cNvPr id="19" name="Image 2" descr="/home/claude/assets/ic_brain_white.png"/>
          <p:cNvPicPr>
            <a:picLocks noChangeAspect="1"/>
          </p:cNvPicPr>
          <p:nvPr/>
        </p:nvPicPr>
        <p:blipFill>
          <a:blip r:embed="rId5"/>
          <a:stretch>
            <a:fillRect/>
          </a:stretch>
        </p:blipFill>
        <p:spPr>
          <a:xfrm>
            <a:off x="795528" y="3172968"/>
            <a:ext cx="256032" cy="256032"/>
          </a:xfrm>
          <a:prstGeom prst="rect">
            <a:avLst/>
          </a:prstGeom>
        </p:spPr>
      </p:pic>
      <p:sp>
        <p:nvSpPr>
          <p:cNvPr id="20" name="Text 15"/>
          <p:cNvSpPr/>
          <p:nvPr/>
        </p:nvSpPr>
        <p:spPr>
          <a:xfrm>
            <a:off x="7973568" y="3017520"/>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03</a:t>
            </a:r>
            <a:endParaRPr lang="en-US" sz="1200" dirty="0"/>
          </a:p>
        </p:txBody>
      </p:sp>
      <p:sp>
        <p:nvSpPr>
          <p:cNvPr id="21" name="Text 16"/>
          <p:cNvSpPr/>
          <p:nvPr/>
        </p:nvSpPr>
        <p:spPr>
          <a:xfrm>
            <a:off x="1316736" y="3072384"/>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Preprocessing &amp; Modeling</a:t>
            </a:r>
            <a:endParaRPr lang="en-US" sz="1350" dirty="0"/>
          </a:p>
        </p:txBody>
      </p:sp>
      <p:sp>
        <p:nvSpPr>
          <p:cNvPr id="22" name="Text 17"/>
          <p:cNvSpPr/>
          <p:nvPr/>
        </p:nvSpPr>
        <p:spPr>
          <a:xfrm>
            <a:off x="4297680" y="3108960"/>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Pipeline, benchmark 7 algoritma, dan analisis error</a:t>
            </a:r>
            <a:endParaRPr lang="en-US" sz="1000" dirty="0"/>
          </a:p>
        </p:txBody>
      </p:sp>
      <p:sp>
        <p:nvSpPr>
          <p:cNvPr id="23" name="Shape 18"/>
          <p:cNvSpPr/>
          <p:nvPr/>
        </p:nvSpPr>
        <p:spPr>
          <a:xfrm>
            <a:off x="502920" y="3803904"/>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676656" y="3950208"/>
            <a:ext cx="493776" cy="493776"/>
          </a:xfrm>
          <a:prstGeom prst="roundRect">
            <a:avLst>
              <a:gd name="adj" fmla="val 16667"/>
            </a:avLst>
          </a:prstGeom>
          <a:solidFill>
            <a:srgbClr val="123A5E"/>
          </a:solidFill>
          <a:ln/>
        </p:spPr>
        <p:txBody>
          <a:bodyPr/>
          <a:lstStyle/>
          <a:p>
            <a:endParaRPr lang="en-ID"/>
          </a:p>
        </p:txBody>
      </p:sp>
      <p:pic>
        <p:nvPicPr>
          <p:cNvPr id="25" name="Image 3" descr="/home/claude/assets/ic_flag_white.png"/>
          <p:cNvPicPr>
            <a:picLocks noChangeAspect="1"/>
          </p:cNvPicPr>
          <p:nvPr/>
        </p:nvPicPr>
        <p:blipFill>
          <a:blip r:embed="rId6"/>
          <a:stretch>
            <a:fillRect/>
          </a:stretch>
        </p:blipFill>
        <p:spPr>
          <a:xfrm>
            <a:off x="795528" y="4069080"/>
            <a:ext cx="256032" cy="256032"/>
          </a:xfrm>
          <a:prstGeom prst="rect">
            <a:avLst/>
          </a:prstGeom>
        </p:spPr>
      </p:pic>
      <p:sp>
        <p:nvSpPr>
          <p:cNvPr id="26" name="Text 20"/>
          <p:cNvSpPr/>
          <p:nvPr/>
        </p:nvSpPr>
        <p:spPr>
          <a:xfrm>
            <a:off x="7973568" y="3913632"/>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04</a:t>
            </a:r>
            <a:endParaRPr lang="en-US" sz="1200" dirty="0"/>
          </a:p>
        </p:txBody>
      </p:sp>
      <p:sp>
        <p:nvSpPr>
          <p:cNvPr id="27" name="Text 21"/>
          <p:cNvSpPr/>
          <p:nvPr/>
        </p:nvSpPr>
        <p:spPr>
          <a:xfrm>
            <a:off x="1316736" y="3968496"/>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Impact &amp; Rekomendasi</a:t>
            </a:r>
            <a:endParaRPr lang="en-US" sz="1350" dirty="0"/>
          </a:p>
        </p:txBody>
      </p:sp>
      <p:sp>
        <p:nvSpPr>
          <p:cNvPr id="28" name="Text 22"/>
          <p:cNvSpPr/>
          <p:nvPr/>
        </p:nvSpPr>
        <p:spPr>
          <a:xfrm>
            <a:off x="4297680" y="4005072"/>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Dampak bisnis, limitasi, dan rencana perbaikan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01</a:t>
            </a:r>
            <a:endParaRPr lang="en-US" sz="5800" dirty="0"/>
          </a:p>
        </p:txBody>
      </p:sp>
      <p:pic>
        <p:nvPicPr>
          <p:cNvPr id="5" name="Image 0" descr="/home/claude/assets/ic_problem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Business Problem</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Konteks, stakeholder, goal, dan metrik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BACKGROUND</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Pembatalan yang tidak terdeteksi menggerus pendapatan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02920" y="1115568"/>
            <a:ext cx="3977640" cy="1600200"/>
          </a:xfrm>
          <a:prstGeom prst="roundRect">
            <a:avLst>
              <a:gd name="adj" fmla="val 342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hotel_navy.png"/>
          <p:cNvPicPr>
            <a:picLocks noChangeAspect="1"/>
          </p:cNvPicPr>
          <p:nvPr/>
        </p:nvPicPr>
        <p:blipFill>
          <a:blip r:embed="rId3"/>
          <a:stretch>
            <a:fillRect/>
          </a:stretch>
        </p:blipFill>
        <p:spPr>
          <a:xfrm>
            <a:off x="713232" y="1316736"/>
            <a:ext cx="292608" cy="292608"/>
          </a:xfrm>
          <a:prstGeom prst="rect">
            <a:avLst/>
          </a:prstGeom>
        </p:spPr>
      </p:pic>
      <p:sp>
        <p:nvSpPr>
          <p:cNvPr id="7" name="Text 4"/>
          <p:cNvSpPr/>
          <p:nvPr/>
        </p:nvSpPr>
        <p:spPr>
          <a:xfrm>
            <a:off x="1133856" y="1325880"/>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Model bisnis</a:t>
            </a:r>
            <a:endParaRPr lang="en-US" sz="1250" dirty="0"/>
          </a:p>
        </p:txBody>
      </p:sp>
      <p:sp>
        <p:nvSpPr>
          <p:cNvPr id="8" name="Text 5"/>
          <p:cNvSpPr/>
          <p:nvPr/>
        </p:nvSpPr>
        <p:spPr>
          <a:xfrm>
            <a:off x="713232" y="1700784"/>
            <a:ext cx="3566160" cy="9144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Jaringan hotel yang pendapatannya bergantung pada tingkat hunian dan penetapan harga kamar. Kamar adalah persediaan yang tidak bisa disimpan — kamar kosong malam ini tidak bisa dijual ulang besok.</a:t>
            </a:r>
            <a:endParaRPr lang="en-US" sz="1050" dirty="0"/>
          </a:p>
        </p:txBody>
      </p:sp>
      <p:sp>
        <p:nvSpPr>
          <p:cNvPr id="9" name="Shape 6"/>
          <p:cNvSpPr/>
          <p:nvPr/>
        </p:nvSpPr>
        <p:spPr>
          <a:xfrm>
            <a:off x="4663440" y="1115568"/>
            <a:ext cx="3977640" cy="1600200"/>
          </a:xfrm>
          <a:prstGeom prst="roundRect">
            <a:avLst>
              <a:gd name="adj" fmla="val 342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problem_orange.png"/>
          <p:cNvPicPr>
            <a:picLocks noChangeAspect="1"/>
          </p:cNvPicPr>
          <p:nvPr/>
        </p:nvPicPr>
        <p:blipFill>
          <a:blip r:embed="rId4"/>
          <a:stretch>
            <a:fillRect/>
          </a:stretch>
        </p:blipFill>
        <p:spPr>
          <a:xfrm>
            <a:off x="4873752" y="1316736"/>
            <a:ext cx="292608" cy="292608"/>
          </a:xfrm>
          <a:prstGeom prst="rect">
            <a:avLst/>
          </a:prstGeom>
        </p:spPr>
      </p:pic>
      <p:sp>
        <p:nvSpPr>
          <p:cNvPr id="11" name="Text 7"/>
          <p:cNvSpPr/>
          <p:nvPr/>
        </p:nvSpPr>
        <p:spPr>
          <a:xfrm>
            <a:off x="5294376" y="1325880"/>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Kondisi saat ini</a:t>
            </a:r>
            <a:endParaRPr lang="en-US" sz="1250" dirty="0"/>
          </a:p>
        </p:txBody>
      </p:sp>
      <p:sp>
        <p:nvSpPr>
          <p:cNvPr id="12" name="Text 8"/>
          <p:cNvSpPr/>
          <p:nvPr/>
        </p:nvSpPr>
        <p:spPr>
          <a:xfrm>
            <a:off x="4873752" y="1700784"/>
            <a:ext cx="3566160" cy="9144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Belum ada cara memilah booking mana yang berisiko batal. Semua pemesanan diperlakukan sama, upaya retensi tidak terarah, dan pembatalan baru diketahui setelah terjadi.</a:t>
            </a:r>
            <a:endParaRPr lang="en-US" sz="1050" dirty="0"/>
          </a:p>
        </p:txBody>
      </p:sp>
      <p:sp>
        <p:nvSpPr>
          <p:cNvPr id="13" name="Shape 9"/>
          <p:cNvSpPr/>
          <p:nvPr/>
        </p:nvSpPr>
        <p:spPr>
          <a:xfrm>
            <a:off x="502920" y="2889504"/>
            <a:ext cx="8138160" cy="932688"/>
          </a:xfrm>
          <a:prstGeom prst="roundRect">
            <a:avLst>
              <a:gd name="adj" fmla="val 588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search_orange.png"/>
          <p:cNvPicPr>
            <a:picLocks noChangeAspect="1"/>
          </p:cNvPicPr>
          <p:nvPr/>
        </p:nvPicPr>
        <p:blipFill>
          <a:blip r:embed="rId5"/>
          <a:stretch>
            <a:fillRect/>
          </a:stretch>
        </p:blipFill>
        <p:spPr>
          <a:xfrm>
            <a:off x="731520" y="3090672"/>
            <a:ext cx="274320" cy="274320"/>
          </a:xfrm>
          <a:prstGeom prst="rect">
            <a:avLst/>
          </a:prstGeom>
        </p:spPr>
      </p:pic>
      <p:sp>
        <p:nvSpPr>
          <p:cNvPr id="15" name="Text 10"/>
          <p:cNvSpPr/>
          <p:nvPr/>
        </p:nvSpPr>
        <p:spPr>
          <a:xfrm>
            <a:off x="1115568" y="3072384"/>
            <a:ext cx="27432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Skala masalah dari data</a:t>
            </a:r>
            <a:endParaRPr lang="en-US" sz="1250" dirty="0"/>
          </a:p>
        </p:txBody>
      </p:sp>
      <p:sp>
        <p:nvSpPr>
          <p:cNvPr id="16" name="Text 11"/>
          <p:cNvSpPr/>
          <p:nvPr/>
        </p:nvSpPr>
        <p:spPr>
          <a:xfrm>
            <a:off x="1115568" y="3328416"/>
            <a:ext cx="7269480" cy="4572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2.405 dari 10.097 pemesanan (23,8%) berakhir dibatalkan — sekitar 1 dari 4 kamar yang sudah "terjual" berpotensi kosong kembali tanpa peringatan.</a:t>
            </a:r>
            <a:endParaRPr lang="en-US" sz="1050" dirty="0"/>
          </a:p>
        </p:txBody>
      </p:sp>
      <p:sp>
        <p:nvSpPr>
          <p:cNvPr id="17" name="Shape 12"/>
          <p:cNvSpPr/>
          <p:nvPr/>
        </p:nvSpPr>
        <p:spPr>
          <a:xfrm>
            <a:off x="502920" y="3950208"/>
            <a:ext cx="8138160" cy="658368"/>
          </a:xfrm>
          <a:prstGeom prst="roundRect">
            <a:avLst>
              <a:gd name="adj" fmla="val 833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brain_navy.png"/>
          <p:cNvPicPr>
            <a:picLocks noChangeAspect="1"/>
          </p:cNvPicPr>
          <p:nvPr/>
        </p:nvPicPr>
        <p:blipFill>
          <a:blip r:embed="rId6"/>
          <a:stretch>
            <a:fillRect/>
          </a:stretch>
        </p:blipFill>
        <p:spPr>
          <a:xfrm>
            <a:off x="731520" y="4096512"/>
            <a:ext cx="237744" cy="237744"/>
          </a:xfrm>
          <a:prstGeom prst="rect">
            <a:avLst/>
          </a:prstGeom>
        </p:spPr>
      </p:pic>
      <p:sp>
        <p:nvSpPr>
          <p:cNvPr id="19" name="Text 13"/>
          <p:cNvSpPr/>
          <p:nvPr/>
        </p:nvSpPr>
        <p:spPr>
          <a:xfrm>
            <a:off x="1115568" y="4059936"/>
            <a:ext cx="7269480" cy="45720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Mengapa Machine Learning: pola pembatalan melibatkan interaksi banyak faktor (jenis deposit, kanal, profil tamu) yang sulit dirumuskan lewat aturan manual, dan volumenya terlalu besar untuk dinilai satu per satu oleh staf.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BUSINESS PROBLEM</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Dua jenis kesalahan model, dua bobot biaya yang berbeda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02920" y="1097280"/>
            <a:ext cx="3977640" cy="1874520"/>
          </a:xfrm>
          <a:prstGeom prst="roundRect">
            <a:avLst>
              <a:gd name="adj" fmla="val 292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31520" y="1280160"/>
            <a:ext cx="3566160" cy="256032"/>
          </a:xfrm>
          <a:prstGeom prst="rect">
            <a:avLst/>
          </a:prstGeom>
          <a:noFill/>
          <a:ln/>
        </p:spPr>
        <p:txBody>
          <a:bodyPr wrap="square" lIns="0" tIns="0" rIns="0" bIns="0" rtlCol="0" anchor="ctr"/>
          <a:lstStyle/>
          <a:p>
            <a:pPr marL="0" indent="0">
              <a:buNone/>
            </a:pPr>
            <a:r>
              <a:rPr lang="en-US" sz="1500" b="1" dirty="0">
                <a:solidFill>
                  <a:srgbClr val="B3392E"/>
                </a:solidFill>
                <a:latin typeface="Calibri" pitchFamily="34" charset="0"/>
                <a:ea typeface="Calibri" pitchFamily="34" charset="-122"/>
                <a:cs typeface="Calibri" pitchFamily="34" charset="-120"/>
              </a:rPr>
              <a:t>False Negative</a:t>
            </a:r>
            <a:endParaRPr lang="en-US" sz="1500" dirty="0"/>
          </a:p>
        </p:txBody>
      </p:sp>
      <p:sp>
        <p:nvSpPr>
          <p:cNvPr id="7" name="Text 5"/>
          <p:cNvSpPr/>
          <p:nvPr/>
        </p:nvSpPr>
        <p:spPr>
          <a:xfrm>
            <a:off x="731520" y="1572768"/>
            <a:ext cx="3566160" cy="219456"/>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Diprediksi aman, ternyata dibatalkan.</a:t>
            </a:r>
            <a:endParaRPr lang="en-US" sz="1050" dirty="0"/>
          </a:p>
        </p:txBody>
      </p:sp>
      <p:sp>
        <p:nvSpPr>
          <p:cNvPr id="8" name="Text 6"/>
          <p:cNvSpPr/>
          <p:nvPr/>
        </p:nvSpPr>
        <p:spPr>
          <a:xfrm>
            <a:off x="731520" y="1847088"/>
            <a:ext cx="3566160" cy="1152144"/>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Kamar kosong mendadak tanpa antisipasi</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Pendapatan hilang permanen — tidak bisa dijual ulang</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Staf dan persediaan sudah terlanjur dialokasikan</a:t>
            </a:r>
            <a:endParaRPr lang="en-US" sz="1000" dirty="0"/>
          </a:p>
        </p:txBody>
      </p:sp>
      <p:sp>
        <p:nvSpPr>
          <p:cNvPr id="9" name="Shape 7"/>
          <p:cNvSpPr/>
          <p:nvPr/>
        </p:nvSpPr>
        <p:spPr>
          <a:xfrm>
            <a:off x="4663440" y="1097280"/>
            <a:ext cx="3977640" cy="1874520"/>
          </a:xfrm>
          <a:prstGeom prst="roundRect">
            <a:avLst>
              <a:gd name="adj" fmla="val 292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92040" y="1280160"/>
            <a:ext cx="3566160" cy="256032"/>
          </a:xfrm>
          <a:prstGeom prst="rect">
            <a:avLst/>
          </a:prstGeom>
          <a:noFill/>
          <a:ln/>
        </p:spPr>
        <p:txBody>
          <a:bodyPr wrap="square" lIns="0" tIns="0" rIns="0" bIns="0" rtlCol="0" anchor="ctr"/>
          <a:lstStyle/>
          <a:p>
            <a:pPr marL="0" indent="0">
              <a:buNone/>
            </a:pPr>
            <a:r>
              <a:rPr lang="en-US" sz="1500" b="1" dirty="0">
                <a:solidFill>
                  <a:srgbClr val="123A5E"/>
                </a:solidFill>
                <a:latin typeface="Calibri" pitchFamily="34" charset="0"/>
                <a:ea typeface="Calibri" pitchFamily="34" charset="-122"/>
                <a:cs typeface="Calibri" pitchFamily="34" charset="-120"/>
              </a:rPr>
              <a:t>False Positive</a:t>
            </a:r>
            <a:endParaRPr lang="en-US" sz="1500" dirty="0"/>
          </a:p>
        </p:txBody>
      </p:sp>
      <p:sp>
        <p:nvSpPr>
          <p:cNvPr id="11" name="Text 9"/>
          <p:cNvSpPr/>
          <p:nvPr/>
        </p:nvSpPr>
        <p:spPr>
          <a:xfrm>
            <a:off x="4892040" y="1572768"/>
            <a:ext cx="3566160" cy="219456"/>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Diprediksi batal, ternyata tetap menginap.</a:t>
            </a:r>
            <a:endParaRPr lang="en-US" sz="1050" dirty="0"/>
          </a:p>
        </p:txBody>
      </p:sp>
      <p:sp>
        <p:nvSpPr>
          <p:cNvPr id="12" name="Text 10"/>
          <p:cNvSpPr/>
          <p:nvPr/>
        </p:nvSpPr>
        <p:spPr>
          <a:xfrm>
            <a:off x="4892040" y="1847088"/>
            <a:ext cx="3566160" cy="1152144"/>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Biaya satu telepon konfirmasi atau insentif ringan</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Risiko mengganggu tamu bila terlalu sering dihubungi</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Sebagian justru menaikkan kepuasan tamu</a:t>
            </a:r>
            <a:endParaRPr lang="en-US" sz="1000" dirty="0"/>
          </a:p>
        </p:txBody>
      </p:sp>
      <p:sp>
        <p:nvSpPr>
          <p:cNvPr id="13" name="Shape 11"/>
          <p:cNvSpPr/>
          <p:nvPr/>
        </p:nvSpPr>
        <p:spPr>
          <a:xfrm>
            <a:off x="502920" y="3145536"/>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0" descr="/home/claude/assets/ic_scale_navy.png"/>
          <p:cNvPicPr>
            <a:picLocks noChangeAspect="1"/>
          </p:cNvPicPr>
          <p:nvPr/>
        </p:nvPicPr>
        <p:blipFill>
          <a:blip r:embed="rId3"/>
          <a:stretch>
            <a:fillRect/>
          </a:stretch>
        </p:blipFill>
        <p:spPr>
          <a:xfrm>
            <a:off x="731520" y="3346704"/>
            <a:ext cx="274320" cy="274320"/>
          </a:xfrm>
          <a:prstGeom prst="rect">
            <a:avLst/>
          </a:prstGeom>
        </p:spPr>
      </p:pic>
      <p:sp>
        <p:nvSpPr>
          <p:cNvPr id="15" name="Text 12"/>
          <p:cNvSpPr/>
          <p:nvPr/>
        </p:nvSpPr>
        <p:spPr>
          <a:xfrm>
            <a:off x="1115568" y="3328416"/>
            <a:ext cx="36576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Konsekuensi untuk pemilihan metrik</a:t>
            </a:r>
            <a:endParaRPr lang="en-US" sz="1250" dirty="0"/>
          </a:p>
        </p:txBody>
      </p:sp>
      <p:sp>
        <p:nvSpPr>
          <p:cNvPr id="16" name="Text 13"/>
          <p:cNvSpPr/>
          <p:nvPr/>
        </p:nvSpPr>
        <p:spPr>
          <a:xfrm>
            <a:off x="1115568" y="3584448"/>
            <a:ext cx="7269480" cy="54864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Karena biaya False Negative jauh lebih besar daripada False Positive, model harus dioptimalkan untuk menangkap sebanyak mungkin pembatalan. Inilah alasan Recall dipilih sebagai metrik utama, bukan Accuracy. Namun Precision tetap dipantau karena kapasitas tim intervensi terbatas.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EXECUTIVE SUMMARY</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Goal, Stakeholder, dan Pendekatan Analitis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0292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target_navy.png"/>
          <p:cNvPicPr>
            <a:picLocks noChangeAspect="1"/>
          </p:cNvPicPr>
          <p:nvPr/>
        </p:nvPicPr>
        <p:blipFill>
          <a:blip r:embed="rId3"/>
          <a:stretch>
            <a:fillRect/>
          </a:stretch>
        </p:blipFill>
        <p:spPr>
          <a:xfrm>
            <a:off x="704088" y="1316736"/>
            <a:ext cx="292608" cy="292608"/>
          </a:xfrm>
          <a:prstGeom prst="rect">
            <a:avLst/>
          </a:prstGeom>
        </p:spPr>
      </p:pic>
      <p:sp>
        <p:nvSpPr>
          <p:cNvPr id="7" name="Text 4"/>
          <p:cNvSpPr/>
          <p:nvPr/>
        </p:nvSpPr>
        <p:spPr>
          <a:xfrm>
            <a:off x="1106424"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Goal</a:t>
            </a:r>
            <a:endParaRPr lang="en-US" sz="1250" dirty="0"/>
          </a:p>
        </p:txBody>
      </p:sp>
      <p:sp>
        <p:nvSpPr>
          <p:cNvPr id="8" name="Text 5"/>
          <p:cNvSpPr/>
          <p:nvPr/>
        </p:nvSpPr>
        <p:spPr>
          <a:xfrm>
            <a:off x="704088" y="1682496"/>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Mendeteksi booking berisiko batal sebelum tanggal menginap agar tim dapat melakukan intervensi proaktif — konfirmasi ulang, insentif, atau overbooking terukur.</a:t>
            </a:r>
            <a:endParaRPr lang="en-US" sz="1020" dirty="0"/>
          </a:p>
        </p:txBody>
      </p:sp>
      <p:sp>
        <p:nvSpPr>
          <p:cNvPr id="9" name="Shape 6"/>
          <p:cNvSpPr/>
          <p:nvPr/>
        </p:nvSpPr>
        <p:spPr>
          <a:xfrm>
            <a:off x="466344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users_navy.png"/>
          <p:cNvPicPr>
            <a:picLocks noChangeAspect="1"/>
          </p:cNvPicPr>
          <p:nvPr/>
        </p:nvPicPr>
        <p:blipFill>
          <a:blip r:embed="rId4"/>
          <a:stretch>
            <a:fillRect/>
          </a:stretch>
        </p:blipFill>
        <p:spPr>
          <a:xfrm>
            <a:off x="4864608" y="1316736"/>
            <a:ext cx="292608" cy="292608"/>
          </a:xfrm>
          <a:prstGeom prst="rect">
            <a:avLst/>
          </a:prstGeom>
        </p:spPr>
      </p:pic>
      <p:sp>
        <p:nvSpPr>
          <p:cNvPr id="11" name="Text 7"/>
          <p:cNvSpPr/>
          <p:nvPr/>
        </p:nvSpPr>
        <p:spPr>
          <a:xfrm>
            <a:off x="5266944"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Stakeholder</a:t>
            </a:r>
            <a:endParaRPr lang="en-US" sz="1250" dirty="0"/>
          </a:p>
        </p:txBody>
      </p:sp>
      <p:sp>
        <p:nvSpPr>
          <p:cNvPr id="12" name="Text 8"/>
          <p:cNvSpPr/>
          <p:nvPr/>
        </p:nvSpPr>
        <p:spPr>
          <a:xfrm>
            <a:off x="4864608" y="1682496"/>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Revenue Management (keputusan harga &amp; overbooking) dan Customer Service (eksekusi kontak ke tamu berisiko).</a:t>
            </a:r>
            <a:endParaRPr lang="en-US" sz="1020" dirty="0"/>
          </a:p>
        </p:txBody>
      </p:sp>
      <p:sp>
        <p:nvSpPr>
          <p:cNvPr id="13" name="Shape 9"/>
          <p:cNvSpPr/>
          <p:nvPr/>
        </p:nvSpPr>
        <p:spPr>
          <a:xfrm>
            <a:off x="50292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gear_navy.png"/>
          <p:cNvPicPr>
            <a:picLocks noChangeAspect="1"/>
          </p:cNvPicPr>
          <p:nvPr/>
        </p:nvPicPr>
        <p:blipFill>
          <a:blip r:embed="rId5"/>
          <a:stretch>
            <a:fillRect/>
          </a:stretch>
        </p:blipFill>
        <p:spPr>
          <a:xfrm>
            <a:off x="704088" y="2889504"/>
            <a:ext cx="292608" cy="292608"/>
          </a:xfrm>
          <a:prstGeom prst="rect">
            <a:avLst/>
          </a:prstGeom>
        </p:spPr>
      </p:pic>
      <p:sp>
        <p:nvSpPr>
          <p:cNvPr id="15" name="Text 10"/>
          <p:cNvSpPr/>
          <p:nvPr/>
        </p:nvSpPr>
        <p:spPr>
          <a:xfrm>
            <a:off x="1106424"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Analytical Approach</a:t>
            </a:r>
            <a:endParaRPr lang="en-US" sz="1250" dirty="0"/>
          </a:p>
        </p:txBody>
      </p:sp>
      <p:sp>
        <p:nvSpPr>
          <p:cNvPr id="16" name="Text 11"/>
          <p:cNvSpPr/>
          <p:nvPr/>
        </p:nvSpPr>
        <p:spPr>
          <a:xfrm>
            <a:off x="704088" y="3255264"/>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Supervised learning, klasifikasi biner. Target: is_canceled. Positive class = pembatalan (1), karena itu yang ingin dideteksi.</a:t>
            </a:r>
            <a:endParaRPr lang="en-US" sz="1020" dirty="0"/>
          </a:p>
        </p:txBody>
      </p:sp>
      <p:sp>
        <p:nvSpPr>
          <p:cNvPr id="17" name="Shape 12"/>
          <p:cNvSpPr/>
          <p:nvPr/>
        </p:nvSpPr>
        <p:spPr>
          <a:xfrm>
            <a:off x="466344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scale_navy.png"/>
          <p:cNvPicPr>
            <a:picLocks noChangeAspect="1"/>
          </p:cNvPicPr>
          <p:nvPr/>
        </p:nvPicPr>
        <p:blipFill>
          <a:blip r:embed="rId6"/>
          <a:stretch>
            <a:fillRect/>
          </a:stretch>
        </p:blipFill>
        <p:spPr>
          <a:xfrm>
            <a:off x="4864608" y="2889504"/>
            <a:ext cx="292608" cy="292608"/>
          </a:xfrm>
          <a:prstGeom prst="rect">
            <a:avLst/>
          </a:prstGeom>
        </p:spPr>
      </p:pic>
      <p:sp>
        <p:nvSpPr>
          <p:cNvPr id="19" name="Text 13"/>
          <p:cNvSpPr/>
          <p:nvPr/>
        </p:nvSpPr>
        <p:spPr>
          <a:xfrm>
            <a:off x="5266944"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Metrik Utama</a:t>
            </a:r>
            <a:endParaRPr lang="en-US" sz="1250" dirty="0"/>
          </a:p>
        </p:txBody>
      </p:sp>
      <p:sp>
        <p:nvSpPr>
          <p:cNvPr id="20" name="Text 14"/>
          <p:cNvSpPr/>
          <p:nvPr/>
        </p:nvSpPr>
        <p:spPr>
          <a:xfrm>
            <a:off x="4864608" y="3255264"/>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Recall untuk kelas positif, dengan Precision, F1-Score, dan AUC-ROC sebagai metrik pendamping.</a:t>
            </a:r>
            <a:endParaRPr lang="en-US" sz="1020" dirty="0"/>
          </a:p>
        </p:txBody>
      </p:sp>
      <p:sp>
        <p:nvSpPr>
          <p:cNvPr id="21" name="Shape 15"/>
          <p:cNvSpPr/>
          <p:nvPr/>
        </p:nvSpPr>
        <p:spPr>
          <a:xfrm>
            <a:off x="502920" y="4315968"/>
            <a:ext cx="8138160" cy="384048"/>
          </a:xfrm>
          <a:prstGeom prst="roundRect">
            <a:avLst>
              <a:gd name="adj" fmla="val 14286"/>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2" name="Text 16"/>
          <p:cNvSpPr/>
          <p:nvPr/>
        </p:nvSpPr>
        <p:spPr>
          <a:xfrm>
            <a:off x="713232" y="4407408"/>
            <a:ext cx="7772400" cy="256032"/>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Definisi target: kolom is_canceled sudah tersedia dalam dataset — 1 berarti pemesanan dibatalkan, 0 berarti tamu jadi menginap.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EVALUATION METRICS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Cara kerja metrik evaluasi yang dipakai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02920" y="1097280"/>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13232" y="1207008"/>
            <a:ext cx="1371600" cy="237744"/>
          </a:xfrm>
          <a:prstGeom prst="rect">
            <a:avLst/>
          </a:prstGeom>
          <a:noFill/>
          <a:ln/>
        </p:spPr>
        <p:txBody>
          <a:bodyPr wrap="square" lIns="0" tIns="0" rIns="0" bIns="0" rtlCol="0" anchor="ctr"/>
          <a:lstStyle/>
          <a:p>
            <a:pPr marL="0" indent="0">
              <a:buNone/>
            </a:pPr>
            <a:r>
              <a:rPr lang="en-US" sz="1300" b="1" dirty="0">
                <a:solidFill>
                  <a:srgbClr val="E2703A"/>
                </a:solidFill>
                <a:latin typeface="Calibri" pitchFamily="34" charset="0"/>
                <a:ea typeface="Calibri" pitchFamily="34" charset="-122"/>
                <a:cs typeface="Calibri" pitchFamily="34" charset="-120"/>
              </a:rPr>
              <a:t>Recall</a:t>
            </a:r>
            <a:endParaRPr lang="en-US" sz="1300" dirty="0"/>
          </a:p>
        </p:txBody>
      </p:sp>
      <p:sp>
        <p:nvSpPr>
          <p:cNvPr id="7" name="Text 5"/>
          <p:cNvSpPr/>
          <p:nvPr/>
        </p:nvSpPr>
        <p:spPr>
          <a:xfrm>
            <a:off x="713232" y="1481328"/>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TP / (TP + FN)</a:t>
            </a:r>
            <a:endParaRPr lang="en-US" sz="950" dirty="0"/>
          </a:p>
        </p:txBody>
      </p:sp>
      <p:sp>
        <p:nvSpPr>
          <p:cNvPr id="8" name="Shape 6"/>
          <p:cNvSpPr/>
          <p:nvPr/>
        </p:nvSpPr>
        <p:spPr>
          <a:xfrm>
            <a:off x="2615184" y="1280160"/>
            <a:ext cx="1783080" cy="384048"/>
          </a:xfrm>
          <a:prstGeom prst="roundRect">
            <a:avLst>
              <a:gd name="adj" fmla="val 11905"/>
            </a:avLst>
          </a:prstGeom>
          <a:solidFill>
            <a:srgbClr val="EEF3F8"/>
          </a:solidFill>
          <a:ln/>
        </p:spPr>
        <p:txBody>
          <a:bodyPr/>
          <a:lstStyle/>
          <a:p>
            <a:endParaRPr lang="en-ID"/>
          </a:p>
        </p:txBody>
      </p:sp>
      <p:sp>
        <p:nvSpPr>
          <p:cNvPr id="9" name="Text 7"/>
          <p:cNvSpPr/>
          <p:nvPr/>
        </p:nvSpPr>
        <p:spPr>
          <a:xfrm>
            <a:off x="2651760" y="1353312"/>
            <a:ext cx="1709928" cy="237744"/>
          </a:xfrm>
          <a:prstGeom prst="rect">
            <a:avLst/>
          </a:prstGeom>
          <a:noFill/>
          <a:ln/>
        </p:spPr>
        <p:txBody>
          <a:bodyPr wrap="square" lIns="0" tIns="0" rIns="0" bIns="0" rtlCol="0" anchor="ctr"/>
          <a:lstStyle/>
          <a:p>
            <a:pPr marL="0" indent="0" algn="ctr">
              <a:buNone/>
            </a:pPr>
            <a:r>
              <a:rPr lang="en-US" sz="1000" b="1" dirty="0">
                <a:solidFill>
                  <a:srgbClr val="16202B"/>
                </a:solidFill>
                <a:latin typeface="Consolas" pitchFamily="34" charset="0"/>
                <a:ea typeface="Consolas" pitchFamily="34" charset="-122"/>
                <a:cs typeface="Consolas" pitchFamily="34" charset="-120"/>
              </a:rPr>
              <a:t>415 / (415 + 66) = 0,863</a:t>
            </a:r>
            <a:endParaRPr lang="en-US" sz="1000" dirty="0"/>
          </a:p>
        </p:txBody>
      </p:sp>
      <p:sp>
        <p:nvSpPr>
          <p:cNvPr id="10" name="Text 8"/>
          <p:cNvSpPr/>
          <p:nvPr/>
        </p:nvSpPr>
        <p:spPr>
          <a:xfrm>
            <a:off x="4572000" y="1280160"/>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Dari seluruh pembatalan yang benar-benar terjadi, berapa persen berhasil ditangkap model.</a:t>
            </a:r>
            <a:endParaRPr lang="en-US" sz="980" dirty="0"/>
          </a:p>
        </p:txBody>
      </p:sp>
      <p:sp>
        <p:nvSpPr>
          <p:cNvPr id="11" name="Shape 9"/>
          <p:cNvSpPr/>
          <p:nvPr/>
        </p:nvSpPr>
        <p:spPr>
          <a:xfrm>
            <a:off x="502920" y="1956816"/>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10"/>
          <p:cNvSpPr/>
          <p:nvPr/>
        </p:nvSpPr>
        <p:spPr>
          <a:xfrm>
            <a:off x="713232" y="2066544"/>
            <a:ext cx="1371600" cy="237744"/>
          </a:xfrm>
          <a:prstGeom prst="rect">
            <a:avLst/>
          </a:prstGeom>
          <a:noFill/>
          <a:ln/>
        </p:spPr>
        <p:txBody>
          <a:bodyPr wrap="square" lIns="0" tIns="0" rIns="0" bIns="0" rtlCol="0" anchor="ctr"/>
          <a:lstStyle/>
          <a:p>
            <a:pPr marL="0" indent="0">
              <a:buNone/>
            </a:pPr>
            <a:r>
              <a:rPr lang="en-US" sz="1300" b="1" dirty="0">
                <a:solidFill>
                  <a:srgbClr val="123A5E"/>
                </a:solidFill>
                <a:latin typeface="Calibri" pitchFamily="34" charset="0"/>
                <a:ea typeface="Calibri" pitchFamily="34" charset="-122"/>
                <a:cs typeface="Calibri" pitchFamily="34" charset="-120"/>
              </a:rPr>
              <a:t>Precision</a:t>
            </a:r>
            <a:endParaRPr lang="en-US" sz="1300" dirty="0"/>
          </a:p>
        </p:txBody>
      </p:sp>
      <p:sp>
        <p:nvSpPr>
          <p:cNvPr id="13" name="Text 11"/>
          <p:cNvSpPr/>
          <p:nvPr/>
        </p:nvSpPr>
        <p:spPr>
          <a:xfrm>
            <a:off x="713232" y="2340864"/>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TP / (TP + FP)</a:t>
            </a:r>
            <a:endParaRPr lang="en-US" sz="950" dirty="0"/>
          </a:p>
        </p:txBody>
      </p:sp>
      <p:sp>
        <p:nvSpPr>
          <p:cNvPr id="14" name="Shape 12"/>
          <p:cNvSpPr/>
          <p:nvPr/>
        </p:nvSpPr>
        <p:spPr>
          <a:xfrm>
            <a:off x="2615184" y="2139696"/>
            <a:ext cx="1783080" cy="384048"/>
          </a:xfrm>
          <a:prstGeom prst="roundRect">
            <a:avLst>
              <a:gd name="adj" fmla="val 11905"/>
            </a:avLst>
          </a:prstGeom>
          <a:solidFill>
            <a:srgbClr val="EEF3F8"/>
          </a:solidFill>
          <a:ln/>
        </p:spPr>
        <p:txBody>
          <a:bodyPr/>
          <a:lstStyle/>
          <a:p>
            <a:endParaRPr lang="en-ID"/>
          </a:p>
        </p:txBody>
      </p:sp>
      <p:sp>
        <p:nvSpPr>
          <p:cNvPr id="15" name="Text 13"/>
          <p:cNvSpPr/>
          <p:nvPr/>
        </p:nvSpPr>
        <p:spPr>
          <a:xfrm>
            <a:off x="2651760" y="2212848"/>
            <a:ext cx="1709928" cy="237744"/>
          </a:xfrm>
          <a:prstGeom prst="rect">
            <a:avLst/>
          </a:prstGeom>
          <a:noFill/>
          <a:ln/>
        </p:spPr>
        <p:txBody>
          <a:bodyPr wrap="square" lIns="0" tIns="0" rIns="0" bIns="0" rtlCol="0" anchor="ctr"/>
          <a:lstStyle/>
          <a:p>
            <a:pPr marL="0" indent="0" algn="ctr">
              <a:buNone/>
            </a:pPr>
            <a:r>
              <a:rPr lang="en-US" sz="1000" b="1" dirty="0">
                <a:solidFill>
                  <a:srgbClr val="16202B"/>
                </a:solidFill>
                <a:latin typeface="Consolas" pitchFamily="34" charset="0"/>
                <a:ea typeface="Consolas" pitchFamily="34" charset="-122"/>
                <a:cs typeface="Consolas" pitchFamily="34" charset="-120"/>
              </a:rPr>
              <a:t>415 / (415 + 500) = 0,454</a:t>
            </a:r>
            <a:endParaRPr lang="en-US" sz="1000" dirty="0"/>
          </a:p>
        </p:txBody>
      </p:sp>
      <p:sp>
        <p:nvSpPr>
          <p:cNvPr id="16" name="Text 14"/>
          <p:cNvSpPr/>
          <p:nvPr/>
        </p:nvSpPr>
        <p:spPr>
          <a:xfrm>
            <a:off x="4572000" y="2139696"/>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Dari seluruh booking yang ditandai berisiko, berapa persen yang benar-benar batal.</a:t>
            </a:r>
            <a:endParaRPr lang="en-US" sz="980" dirty="0"/>
          </a:p>
        </p:txBody>
      </p:sp>
      <p:sp>
        <p:nvSpPr>
          <p:cNvPr id="17" name="Shape 15"/>
          <p:cNvSpPr/>
          <p:nvPr/>
        </p:nvSpPr>
        <p:spPr>
          <a:xfrm>
            <a:off x="502920" y="2816352"/>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Text 16"/>
          <p:cNvSpPr/>
          <p:nvPr/>
        </p:nvSpPr>
        <p:spPr>
          <a:xfrm>
            <a:off x="713232" y="2926080"/>
            <a:ext cx="1371600" cy="237744"/>
          </a:xfrm>
          <a:prstGeom prst="rect">
            <a:avLst/>
          </a:prstGeom>
          <a:noFill/>
          <a:ln/>
        </p:spPr>
        <p:txBody>
          <a:bodyPr wrap="square" lIns="0" tIns="0" rIns="0" bIns="0" rtlCol="0" anchor="ctr"/>
          <a:lstStyle/>
          <a:p>
            <a:pPr marL="0" indent="0">
              <a:buNone/>
            </a:pPr>
            <a:r>
              <a:rPr lang="en-US" sz="1300" b="1" dirty="0">
                <a:solidFill>
                  <a:srgbClr val="123A5E"/>
                </a:solidFill>
                <a:latin typeface="Calibri" pitchFamily="34" charset="0"/>
                <a:ea typeface="Calibri" pitchFamily="34" charset="-122"/>
                <a:cs typeface="Calibri" pitchFamily="34" charset="-120"/>
              </a:rPr>
              <a:t>F1-Score</a:t>
            </a:r>
            <a:endParaRPr lang="en-US" sz="1300" dirty="0"/>
          </a:p>
        </p:txBody>
      </p:sp>
      <p:sp>
        <p:nvSpPr>
          <p:cNvPr id="19" name="Text 17"/>
          <p:cNvSpPr/>
          <p:nvPr/>
        </p:nvSpPr>
        <p:spPr>
          <a:xfrm>
            <a:off x="713232" y="3200400"/>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2·(P·R) / (P + R)</a:t>
            </a:r>
            <a:endParaRPr lang="en-US" sz="950" dirty="0"/>
          </a:p>
        </p:txBody>
      </p:sp>
      <p:sp>
        <p:nvSpPr>
          <p:cNvPr id="20" name="Shape 18"/>
          <p:cNvSpPr/>
          <p:nvPr/>
        </p:nvSpPr>
        <p:spPr>
          <a:xfrm>
            <a:off x="2615184" y="2999232"/>
            <a:ext cx="1783080" cy="384048"/>
          </a:xfrm>
          <a:prstGeom prst="roundRect">
            <a:avLst>
              <a:gd name="adj" fmla="val 11905"/>
            </a:avLst>
          </a:prstGeom>
          <a:solidFill>
            <a:srgbClr val="EEF3F8"/>
          </a:solidFill>
          <a:ln/>
        </p:spPr>
        <p:txBody>
          <a:bodyPr/>
          <a:lstStyle/>
          <a:p>
            <a:endParaRPr lang="en-ID"/>
          </a:p>
        </p:txBody>
      </p:sp>
      <p:sp>
        <p:nvSpPr>
          <p:cNvPr id="21" name="Text 19"/>
          <p:cNvSpPr/>
          <p:nvPr/>
        </p:nvSpPr>
        <p:spPr>
          <a:xfrm>
            <a:off x="2651760" y="3072384"/>
            <a:ext cx="1709928" cy="237744"/>
          </a:xfrm>
          <a:prstGeom prst="rect">
            <a:avLst/>
          </a:prstGeom>
          <a:noFill/>
          <a:ln/>
        </p:spPr>
        <p:txBody>
          <a:bodyPr wrap="square" lIns="0" tIns="0" rIns="0" bIns="0" rtlCol="0" anchor="ctr"/>
          <a:lstStyle/>
          <a:p>
            <a:pPr marL="0" indent="0" algn="ctr">
              <a:buNone/>
            </a:pPr>
            <a:r>
              <a:rPr lang="en-US" sz="1000" b="1" dirty="0">
                <a:solidFill>
                  <a:srgbClr val="16202B"/>
                </a:solidFill>
                <a:latin typeface="Consolas" pitchFamily="34" charset="0"/>
                <a:ea typeface="Consolas" pitchFamily="34" charset="-122"/>
                <a:cs typeface="Consolas" pitchFamily="34" charset="-120"/>
              </a:rPr>
              <a:t>= 0,595</a:t>
            </a:r>
            <a:endParaRPr lang="en-US" sz="1000" dirty="0"/>
          </a:p>
        </p:txBody>
      </p:sp>
      <p:sp>
        <p:nvSpPr>
          <p:cNvPr id="22" name="Text 20"/>
          <p:cNvSpPr/>
          <p:nvPr/>
        </p:nvSpPr>
        <p:spPr>
          <a:xfrm>
            <a:off x="4572000" y="2999232"/>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Rata-rata harmonik keduanya. Dipakai memantau agar Recall tidak naik dengan mengorbankan Precision secara ekstrem.</a:t>
            </a:r>
            <a:endParaRPr lang="en-US" sz="980" dirty="0"/>
          </a:p>
        </p:txBody>
      </p:sp>
      <p:sp>
        <p:nvSpPr>
          <p:cNvPr id="23" name="Shape 21"/>
          <p:cNvSpPr/>
          <p:nvPr/>
        </p:nvSpPr>
        <p:spPr>
          <a:xfrm>
            <a:off x="502920" y="3675888"/>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Text 22"/>
          <p:cNvSpPr/>
          <p:nvPr/>
        </p:nvSpPr>
        <p:spPr>
          <a:xfrm>
            <a:off x="713232" y="3785616"/>
            <a:ext cx="1371600" cy="237744"/>
          </a:xfrm>
          <a:prstGeom prst="rect">
            <a:avLst/>
          </a:prstGeom>
          <a:noFill/>
          <a:ln/>
        </p:spPr>
        <p:txBody>
          <a:bodyPr wrap="square" lIns="0" tIns="0" rIns="0" bIns="0" rtlCol="0" anchor="ctr"/>
          <a:lstStyle/>
          <a:p>
            <a:pPr marL="0" indent="0">
              <a:buNone/>
            </a:pPr>
            <a:r>
              <a:rPr lang="en-US" sz="1300" b="1" dirty="0">
                <a:solidFill>
                  <a:srgbClr val="2F7D5E"/>
                </a:solidFill>
                <a:latin typeface="Calibri" pitchFamily="34" charset="0"/>
                <a:ea typeface="Calibri" pitchFamily="34" charset="-122"/>
                <a:cs typeface="Calibri" pitchFamily="34" charset="-120"/>
              </a:rPr>
              <a:t>AUC-ROC</a:t>
            </a:r>
            <a:endParaRPr lang="en-US" sz="1300" dirty="0"/>
          </a:p>
        </p:txBody>
      </p:sp>
      <p:sp>
        <p:nvSpPr>
          <p:cNvPr id="25" name="Text 23"/>
          <p:cNvSpPr/>
          <p:nvPr/>
        </p:nvSpPr>
        <p:spPr>
          <a:xfrm>
            <a:off x="713232" y="4059936"/>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Area di bawah kurva ROC</a:t>
            </a:r>
            <a:endParaRPr lang="en-US" sz="950" dirty="0"/>
          </a:p>
        </p:txBody>
      </p:sp>
      <p:sp>
        <p:nvSpPr>
          <p:cNvPr id="26" name="Shape 24"/>
          <p:cNvSpPr/>
          <p:nvPr/>
        </p:nvSpPr>
        <p:spPr>
          <a:xfrm>
            <a:off x="2615184" y="3858768"/>
            <a:ext cx="1783080" cy="384048"/>
          </a:xfrm>
          <a:prstGeom prst="roundRect">
            <a:avLst>
              <a:gd name="adj" fmla="val 11905"/>
            </a:avLst>
          </a:prstGeom>
          <a:solidFill>
            <a:srgbClr val="EEF3F8"/>
          </a:solidFill>
          <a:ln/>
        </p:spPr>
        <p:txBody>
          <a:bodyPr/>
          <a:lstStyle/>
          <a:p>
            <a:endParaRPr lang="en-ID"/>
          </a:p>
        </p:txBody>
      </p:sp>
      <p:sp>
        <p:nvSpPr>
          <p:cNvPr id="27" name="Text 25"/>
          <p:cNvSpPr/>
          <p:nvPr/>
        </p:nvSpPr>
        <p:spPr>
          <a:xfrm>
            <a:off x="2651760" y="3931920"/>
            <a:ext cx="1709928" cy="237744"/>
          </a:xfrm>
          <a:prstGeom prst="rect">
            <a:avLst/>
          </a:prstGeom>
          <a:noFill/>
          <a:ln/>
        </p:spPr>
        <p:txBody>
          <a:bodyPr wrap="square" lIns="0" tIns="0" rIns="0" bIns="0" rtlCol="0" anchor="ctr"/>
          <a:lstStyle/>
          <a:p>
            <a:pPr marL="0" indent="0" algn="ctr">
              <a:buNone/>
            </a:pPr>
            <a:r>
              <a:rPr lang="en-US" sz="1000" b="1" dirty="0">
                <a:solidFill>
                  <a:srgbClr val="16202B"/>
                </a:solidFill>
                <a:latin typeface="Consolas" pitchFamily="34" charset="0"/>
                <a:ea typeface="Consolas" pitchFamily="34" charset="-122"/>
                <a:cs typeface="Consolas" pitchFamily="34" charset="-120"/>
              </a:rPr>
              <a:t>= 0,846</a:t>
            </a:r>
            <a:endParaRPr lang="en-US" sz="1000" dirty="0"/>
          </a:p>
        </p:txBody>
      </p:sp>
      <p:sp>
        <p:nvSpPr>
          <p:cNvPr id="28" name="Text 26"/>
          <p:cNvSpPr/>
          <p:nvPr/>
        </p:nvSpPr>
        <p:spPr>
          <a:xfrm>
            <a:off x="4572000" y="3858768"/>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Kemampuan model memeringkat: peluang booking yang batal diberi skor lebih tinggi daripada yang tidak batal.</a:t>
            </a:r>
            <a:endParaRPr lang="en-US" sz="980" dirty="0"/>
          </a:p>
        </p:txBody>
      </p:sp>
      <p:sp>
        <p:nvSpPr>
          <p:cNvPr id="29" name="Text 27"/>
          <p:cNvSpPr/>
          <p:nvPr/>
        </p:nvSpPr>
        <p:spPr>
          <a:xfrm>
            <a:off x="502920" y="4480560"/>
            <a:ext cx="7635240" cy="365760"/>
          </a:xfrm>
          <a:prstGeom prst="rect">
            <a:avLst/>
          </a:prstGeom>
          <a:noFill/>
          <a:ln/>
        </p:spPr>
        <p:txBody>
          <a:bodyPr wrap="square" lIns="0" tIns="0" rIns="0" bIns="0" rtlCol="0" anchor="t"/>
          <a:lstStyle/>
          <a:p>
            <a:pPr marL="0" indent="0">
              <a:lnSpc>
                <a:spcPts val="1264"/>
              </a:lnSpc>
              <a:buNone/>
            </a:pPr>
            <a:r>
              <a:rPr lang="en-US" sz="950" dirty="0">
                <a:solidFill>
                  <a:srgbClr val="B3392E"/>
                </a:solidFill>
                <a:latin typeface="Calibri" pitchFamily="34" charset="0"/>
                <a:ea typeface="Calibri" pitchFamily="34" charset="-122"/>
                <a:cs typeface="Calibri" pitchFamily="34" charset="-120"/>
              </a:rPr>
              <a:t>Accuracy tidak dipakai sebagai metrik utama: karena 76,2% data berlabel "tidak dibatalkan", model yang selalu menebak "tidak batal" sudah otomatis mendapat akurasi 76% tanpa berguna sama sekali.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Kapan dan bagaimana model dipakai dalam operasional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0292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1078992" y="1353312"/>
            <a:ext cx="384048" cy="384048"/>
          </a:xfrm>
          <a:prstGeom prst="ellipse">
            <a:avLst/>
          </a:prstGeom>
          <a:solidFill>
            <a:srgbClr val="123A5E"/>
          </a:solidFill>
          <a:ln/>
        </p:spPr>
        <p:txBody>
          <a:bodyPr/>
          <a:lstStyle/>
          <a:p>
            <a:endParaRPr lang="en-ID"/>
          </a:p>
        </p:txBody>
      </p:sp>
      <p:sp>
        <p:nvSpPr>
          <p:cNvPr id="7" name="Text 5"/>
          <p:cNvSpPr/>
          <p:nvPr/>
        </p:nvSpPr>
        <p:spPr>
          <a:xfrm>
            <a:off x="107899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pic>
        <p:nvPicPr>
          <p:cNvPr id="8" name="Image 0" descr="/home/claude/assets/ic_data_navy.png"/>
          <p:cNvPicPr>
            <a:picLocks noChangeAspect="1"/>
          </p:cNvPicPr>
          <p:nvPr/>
        </p:nvPicPr>
        <p:blipFill>
          <a:blip r:embed="rId3"/>
          <a:stretch>
            <a:fillRect/>
          </a:stretch>
        </p:blipFill>
        <p:spPr>
          <a:xfrm>
            <a:off x="1124712" y="1883664"/>
            <a:ext cx="292608" cy="292608"/>
          </a:xfrm>
          <a:prstGeom prst="rect">
            <a:avLst/>
          </a:prstGeom>
        </p:spPr>
      </p:pic>
      <p:sp>
        <p:nvSpPr>
          <p:cNvPr id="9" name="Text 6"/>
          <p:cNvSpPr/>
          <p:nvPr/>
        </p:nvSpPr>
        <p:spPr>
          <a:xfrm>
            <a:off x="57607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Booking masuk</a:t>
            </a:r>
            <a:endParaRPr lang="en-US" sz="1050" dirty="0"/>
          </a:p>
        </p:txBody>
      </p:sp>
      <p:sp>
        <p:nvSpPr>
          <p:cNvPr id="10" name="Text 7"/>
          <p:cNvSpPr/>
          <p:nvPr/>
        </p:nvSpPr>
        <p:spPr>
          <a:xfrm>
            <a:off x="59436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Data pemesanan tercatat di sistem reservasi hotel.</a:t>
            </a:r>
            <a:endParaRPr lang="en-US" sz="850" dirty="0"/>
          </a:p>
        </p:txBody>
      </p:sp>
      <p:sp>
        <p:nvSpPr>
          <p:cNvPr id="11" name="Text 8"/>
          <p:cNvSpPr/>
          <p:nvPr/>
        </p:nvSpPr>
        <p:spPr>
          <a:xfrm>
            <a:off x="203911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12" name="Shape 9"/>
          <p:cNvSpPr/>
          <p:nvPr/>
        </p:nvSpPr>
        <p:spPr>
          <a:xfrm>
            <a:off x="214884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3" name="Shape 10"/>
          <p:cNvSpPr/>
          <p:nvPr/>
        </p:nvSpPr>
        <p:spPr>
          <a:xfrm>
            <a:off x="2724912" y="1353312"/>
            <a:ext cx="384048" cy="384048"/>
          </a:xfrm>
          <a:prstGeom prst="ellipse">
            <a:avLst/>
          </a:prstGeom>
          <a:solidFill>
            <a:srgbClr val="123A5E"/>
          </a:solidFill>
          <a:ln/>
        </p:spPr>
        <p:txBody>
          <a:bodyPr/>
          <a:lstStyle/>
          <a:p>
            <a:endParaRPr lang="en-ID"/>
          </a:p>
        </p:txBody>
      </p:sp>
      <p:sp>
        <p:nvSpPr>
          <p:cNvPr id="14" name="Text 11"/>
          <p:cNvSpPr/>
          <p:nvPr/>
        </p:nvSpPr>
        <p:spPr>
          <a:xfrm>
            <a:off x="272491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pic>
        <p:nvPicPr>
          <p:cNvPr id="15" name="Image 1" descr="/home/claude/assets/ic_brain_navy.png"/>
          <p:cNvPicPr>
            <a:picLocks noChangeAspect="1"/>
          </p:cNvPicPr>
          <p:nvPr/>
        </p:nvPicPr>
        <p:blipFill>
          <a:blip r:embed="rId4"/>
          <a:stretch>
            <a:fillRect/>
          </a:stretch>
        </p:blipFill>
        <p:spPr>
          <a:xfrm>
            <a:off x="2770632" y="1883664"/>
            <a:ext cx="292608" cy="292608"/>
          </a:xfrm>
          <a:prstGeom prst="rect">
            <a:avLst/>
          </a:prstGeom>
        </p:spPr>
      </p:pic>
      <p:sp>
        <p:nvSpPr>
          <p:cNvPr id="16" name="Text 12"/>
          <p:cNvSpPr/>
          <p:nvPr/>
        </p:nvSpPr>
        <p:spPr>
          <a:xfrm>
            <a:off x="222199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Model memberi skor</a:t>
            </a:r>
            <a:endParaRPr lang="en-US" sz="1050" dirty="0"/>
          </a:p>
        </p:txBody>
      </p:sp>
      <p:sp>
        <p:nvSpPr>
          <p:cNvPr id="17" name="Text 13"/>
          <p:cNvSpPr/>
          <p:nvPr/>
        </p:nvSpPr>
        <p:spPr>
          <a:xfrm>
            <a:off x="224028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Pipeline menghasilkan probabilitas pembatalan 0–1 untuk booking tersebut.</a:t>
            </a:r>
            <a:endParaRPr lang="en-US" sz="850" dirty="0"/>
          </a:p>
        </p:txBody>
      </p:sp>
      <p:sp>
        <p:nvSpPr>
          <p:cNvPr id="18" name="Text 14"/>
          <p:cNvSpPr/>
          <p:nvPr/>
        </p:nvSpPr>
        <p:spPr>
          <a:xfrm>
            <a:off x="368503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19" name="Shape 15"/>
          <p:cNvSpPr/>
          <p:nvPr/>
        </p:nvSpPr>
        <p:spPr>
          <a:xfrm>
            <a:off x="379476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0" name="Shape 16"/>
          <p:cNvSpPr/>
          <p:nvPr/>
        </p:nvSpPr>
        <p:spPr>
          <a:xfrm>
            <a:off x="4370832" y="1353312"/>
            <a:ext cx="384048" cy="384048"/>
          </a:xfrm>
          <a:prstGeom prst="ellipse">
            <a:avLst/>
          </a:prstGeom>
          <a:solidFill>
            <a:srgbClr val="E2703A"/>
          </a:solidFill>
          <a:ln/>
        </p:spPr>
        <p:txBody>
          <a:bodyPr/>
          <a:lstStyle/>
          <a:p>
            <a:endParaRPr lang="en-ID"/>
          </a:p>
        </p:txBody>
      </p:sp>
      <p:sp>
        <p:nvSpPr>
          <p:cNvPr id="21" name="Text 17"/>
          <p:cNvSpPr/>
          <p:nvPr/>
        </p:nvSpPr>
        <p:spPr>
          <a:xfrm>
            <a:off x="437083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pic>
        <p:nvPicPr>
          <p:cNvPr id="22" name="Image 2" descr="/home/claude/assets/ic_list_navy.png"/>
          <p:cNvPicPr>
            <a:picLocks noChangeAspect="1"/>
          </p:cNvPicPr>
          <p:nvPr/>
        </p:nvPicPr>
        <p:blipFill>
          <a:blip r:embed="rId5"/>
          <a:stretch>
            <a:fillRect/>
          </a:stretch>
        </p:blipFill>
        <p:spPr>
          <a:xfrm>
            <a:off x="4416552" y="1883664"/>
            <a:ext cx="292608" cy="292608"/>
          </a:xfrm>
          <a:prstGeom prst="rect">
            <a:avLst/>
          </a:prstGeom>
        </p:spPr>
      </p:pic>
      <p:sp>
        <p:nvSpPr>
          <p:cNvPr id="23" name="Text 18"/>
          <p:cNvSpPr/>
          <p:nvPr/>
        </p:nvSpPr>
        <p:spPr>
          <a:xfrm>
            <a:off x="386791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Booking diperingkat</a:t>
            </a:r>
            <a:endParaRPr lang="en-US" sz="1050" dirty="0"/>
          </a:p>
        </p:txBody>
      </p:sp>
      <p:sp>
        <p:nvSpPr>
          <p:cNvPr id="24" name="Text 19"/>
          <p:cNvSpPr/>
          <p:nvPr/>
        </p:nvSpPr>
        <p:spPr>
          <a:xfrm>
            <a:off x="388620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Daftar harian disusun dari probabilitas tertinggi ke terendah.</a:t>
            </a:r>
            <a:endParaRPr lang="en-US" sz="850" dirty="0"/>
          </a:p>
        </p:txBody>
      </p:sp>
      <p:sp>
        <p:nvSpPr>
          <p:cNvPr id="25" name="Text 20"/>
          <p:cNvSpPr/>
          <p:nvPr/>
        </p:nvSpPr>
        <p:spPr>
          <a:xfrm>
            <a:off x="533095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26" name="Shape 21"/>
          <p:cNvSpPr/>
          <p:nvPr/>
        </p:nvSpPr>
        <p:spPr>
          <a:xfrm>
            <a:off x="544068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7" name="Shape 22"/>
          <p:cNvSpPr/>
          <p:nvPr/>
        </p:nvSpPr>
        <p:spPr>
          <a:xfrm>
            <a:off x="6016752" y="1353312"/>
            <a:ext cx="384048" cy="384048"/>
          </a:xfrm>
          <a:prstGeom prst="ellipse">
            <a:avLst/>
          </a:prstGeom>
          <a:solidFill>
            <a:srgbClr val="E2703A"/>
          </a:solidFill>
          <a:ln/>
        </p:spPr>
        <p:txBody>
          <a:bodyPr/>
          <a:lstStyle/>
          <a:p>
            <a:endParaRPr lang="en-ID"/>
          </a:p>
        </p:txBody>
      </p:sp>
      <p:sp>
        <p:nvSpPr>
          <p:cNvPr id="28" name="Text 23"/>
          <p:cNvSpPr/>
          <p:nvPr/>
        </p:nvSpPr>
        <p:spPr>
          <a:xfrm>
            <a:off x="601675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pic>
        <p:nvPicPr>
          <p:cNvPr id="29" name="Image 3" descr="/home/claude/assets/ic_phone_navy.png"/>
          <p:cNvPicPr>
            <a:picLocks noChangeAspect="1"/>
          </p:cNvPicPr>
          <p:nvPr/>
        </p:nvPicPr>
        <p:blipFill>
          <a:blip r:embed="rId6"/>
          <a:stretch>
            <a:fillRect/>
          </a:stretch>
        </p:blipFill>
        <p:spPr>
          <a:xfrm>
            <a:off x="6062472" y="1883664"/>
            <a:ext cx="292608" cy="292608"/>
          </a:xfrm>
          <a:prstGeom prst="rect">
            <a:avLst/>
          </a:prstGeom>
        </p:spPr>
      </p:pic>
      <p:sp>
        <p:nvSpPr>
          <p:cNvPr id="30" name="Text 24"/>
          <p:cNvSpPr/>
          <p:nvPr/>
        </p:nvSpPr>
        <p:spPr>
          <a:xfrm>
            <a:off x="551383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Tim melakukan intervensi</a:t>
            </a:r>
            <a:endParaRPr lang="en-US" sz="1050" dirty="0"/>
          </a:p>
        </p:txBody>
      </p:sp>
      <p:sp>
        <p:nvSpPr>
          <p:cNvPr id="31" name="Text 25"/>
          <p:cNvSpPr/>
          <p:nvPr/>
        </p:nvSpPr>
        <p:spPr>
          <a:xfrm>
            <a:off x="553212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Customer Service menghubungi sesuai kapasitas harian, dimulai dari peringkat teratas.</a:t>
            </a:r>
            <a:endParaRPr lang="en-US" sz="850" dirty="0"/>
          </a:p>
        </p:txBody>
      </p:sp>
      <p:sp>
        <p:nvSpPr>
          <p:cNvPr id="32" name="Text 26"/>
          <p:cNvSpPr/>
          <p:nvPr/>
        </p:nvSpPr>
        <p:spPr>
          <a:xfrm>
            <a:off x="697687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33" name="Shape 27"/>
          <p:cNvSpPr/>
          <p:nvPr/>
        </p:nvSpPr>
        <p:spPr>
          <a:xfrm>
            <a:off x="708660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34" name="Shape 28"/>
          <p:cNvSpPr/>
          <p:nvPr/>
        </p:nvSpPr>
        <p:spPr>
          <a:xfrm>
            <a:off x="7662672" y="1353312"/>
            <a:ext cx="384048" cy="384048"/>
          </a:xfrm>
          <a:prstGeom prst="ellipse">
            <a:avLst/>
          </a:prstGeom>
          <a:solidFill>
            <a:srgbClr val="E2703A"/>
          </a:solidFill>
          <a:ln/>
        </p:spPr>
        <p:txBody>
          <a:bodyPr/>
          <a:lstStyle/>
          <a:p>
            <a:endParaRPr lang="en-ID"/>
          </a:p>
        </p:txBody>
      </p:sp>
      <p:sp>
        <p:nvSpPr>
          <p:cNvPr id="35" name="Text 29"/>
          <p:cNvSpPr/>
          <p:nvPr/>
        </p:nvSpPr>
        <p:spPr>
          <a:xfrm>
            <a:off x="766267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pic>
        <p:nvPicPr>
          <p:cNvPr id="36" name="Image 4" descr="/home/claude/assets/ic_check_navy.png"/>
          <p:cNvPicPr>
            <a:picLocks noChangeAspect="1"/>
          </p:cNvPicPr>
          <p:nvPr/>
        </p:nvPicPr>
        <p:blipFill>
          <a:blip r:embed="rId7"/>
          <a:stretch>
            <a:fillRect/>
          </a:stretch>
        </p:blipFill>
        <p:spPr>
          <a:xfrm>
            <a:off x="7708392" y="1883664"/>
            <a:ext cx="292608" cy="292608"/>
          </a:xfrm>
          <a:prstGeom prst="rect">
            <a:avLst/>
          </a:prstGeom>
        </p:spPr>
      </p:pic>
      <p:sp>
        <p:nvSpPr>
          <p:cNvPr id="37" name="Text 30"/>
          <p:cNvSpPr/>
          <p:nvPr/>
        </p:nvSpPr>
        <p:spPr>
          <a:xfrm>
            <a:off x="715975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Hasil dicatat kembali</a:t>
            </a:r>
            <a:endParaRPr lang="en-US" sz="1050" dirty="0"/>
          </a:p>
        </p:txBody>
      </p:sp>
      <p:sp>
        <p:nvSpPr>
          <p:cNvPr id="38" name="Text 31"/>
          <p:cNvSpPr/>
          <p:nvPr/>
        </p:nvSpPr>
        <p:spPr>
          <a:xfrm>
            <a:off x="717804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Respons tamu menjadi data untuk evaluasi dan pelatihan ulang model.</a:t>
            </a:r>
            <a:endParaRPr lang="en-US" sz="850" dirty="0"/>
          </a:p>
        </p:txBody>
      </p:sp>
      <p:sp>
        <p:nvSpPr>
          <p:cNvPr id="39" name="Shape 32"/>
          <p:cNvSpPr/>
          <p:nvPr/>
        </p:nvSpPr>
        <p:spPr>
          <a:xfrm>
            <a:off x="502920" y="3456432"/>
            <a:ext cx="8138160" cy="969264"/>
          </a:xfrm>
          <a:prstGeom prst="roundRect">
            <a:avLst>
              <a:gd name="adj" fmla="val 5660"/>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40" name="Image 5" descr="/home/claude/assets/ic_clock_orange.png"/>
          <p:cNvPicPr>
            <a:picLocks noChangeAspect="1"/>
          </p:cNvPicPr>
          <p:nvPr/>
        </p:nvPicPr>
        <p:blipFill>
          <a:blip r:embed="rId8"/>
          <a:stretch>
            <a:fillRect/>
          </a:stretch>
        </p:blipFill>
        <p:spPr>
          <a:xfrm>
            <a:off x="731520" y="3657600"/>
            <a:ext cx="256032" cy="256032"/>
          </a:xfrm>
          <a:prstGeom prst="rect">
            <a:avLst/>
          </a:prstGeom>
        </p:spPr>
      </p:pic>
      <p:sp>
        <p:nvSpPr>
          <p:cNvPr id="41" name="Text 33"/>
          <p:cNvSpPr/>
          <p:nvPr/>
        </p:nvSpPr>
        <p:spPr>
          <a:xfrm>
            <a:off x="1115568" y="363931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Kapan skor paling berguna</a:t>
            </a:r>
            <a:endParaRPr lang="en-US" sz="1250" dirty="0"/>
          </a:p>
        </p:txBody>
      </p:sp>
      <p:sp>
        <p:nvSpPr>
          <p:cNvPr id="42" name="Text 34"/>
          <p:cNvSpPr/>
          <p:nvPr/>
        </p:nvSpPr>
        <p:spPr>
          <a:xfrm>
            <a:off x="1115568" y="3895344"/>
            <a:ext cx="7269480" cy="50292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Model ini tidak punya dimensi waktu di dalam data, sehingga skor sebaiknya dihitung ulang secara berkala (misalnya harian) dan intervensi dilakukan jauh sebelum tanggal check-in. Semakin dekat ke tanggal menginap, semakin kecil ruang hotel untuk menjual ulang kamar yang batal.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02</a:t>
            </a:r>
            <a:endParaRPr lang="en-US" sz="5800" dirty="0"/>
          </a:p>
        </p:txBody>
      </p:sp>
      <p:pic>
        <p:nvPicPr>
          <p:cNvPr id="5" name="Image 0" descr="/home/claude/assets/ic_data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Data &amp; EDA</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Pemahaman data, cleaning, dan pola yang ditemukan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Satu baris = satu pemesanan hotel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10</a:t>
            </a:r>
            <a:endParaRPr lang="en-US" sz="900" dirty="0"/>
          </a:p>
        </p:txBody>
      </p:sp>
      <p:sp>
        <p:nvSpPr>
          <p:cNvPr id="5" name="Text 3"/>
          <p:cNvSpPr/>
          <p:nvPr/>
        </p:nvSpPr>
        <p:spPr>
          <a:xfrm>
            <a:off x="502920" y="969264"/>
            <a:ext cx="8138160" cy="274320"/>
          </a:xfrm>
          <a:prstGeom prst="rect">
            <a:avLst/>
          </a:prstGeom>
          <a:noFill/>
          <a:ln/>
        </p:spPr>
        <p:txBody>
          <a:bodyPr wrap="square" lIns="0" tIns="0" rIns="0" bIns="0" rtlCol="0" anchor="t"/>
          <a:lstStyle/>
          <a:p>
            <a:pPr marL="0" indent="0">
              <a:lnSpc>
                <a:spcPts val="1463"/>
              </a:lnSpc>
              <a:buNone/>
            </a:pPr>
            <a:r>
              <a:rPr lang="en-US" sz="1100" dirty="0">
                <a:solidFill>
                  <a:srgbClr val="6B7885"/>
                </a:solidFill>
                <a:latin typeface="Calibri" pitchFamily="34" charset="0"/>
                <a:ea typeface="Calibri" pitchFamily="34" charset="-122"/>
                <a:cs typeface="Calibri" pitchFamily="34" charset="-120"/>
              </a:rPr>
              <a:t>Setiap observasi mewakili satu entri pemesanan. Tidak ada kolom identitas tamu, sehingga satu tamu yang memesan dua kali tercatat sebagai dua baris terpisah.</a:t>
            </a:r>
            <a:endParaRPr lang="en-US" sz="1100" dirty="0"/>
          </a:p>
        </p:txBody>
      </p:sp>
      <p:sp>
        <p:nvSpPr>
          <p:cNvPr id="6" name="Shape 4"/>
          <p:cNvSpPr/>
          <p:nvPr/>
        </p:nvSpPr>
        <p:spPr>
          <a:xfrm>
            <a:off x="502920"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0" descr="/home/claude/assets/ic_data_navy.png"/>
          <p:cNvPicPr>
            <a:picLocks noChangeAspect="1"/>
          </p:cNvPicPr>
          <p:nvPr/>
        </p:nvPicPr>
        <p:blipFill>
          <a:blip r:embed="rId3"/>
          <a:stretch>
            <a:fillRect/>
          </a:stretch>
        </p:blipFill>
        <p:spPr>
          <a:xfrm>
            <a:off x="1289304" y="1481328"/>
            <a:ext cx="329184" cy="329184"/>
          </a:xfrm>
          <a:prstGeom prst="rect">
            <a:avLst/>
          </a:prstGeom>
        </p:spPr>
      </p:pic>
      <p:sp>
        <p:nvSpPr>
          <p:cNvPr id="8" name="Text 5"/>
          <p:cNvSpPr/>
          <p:nvPr/>
        </p:nvSpPr>
        <p:spPr>
          <a:xfrm>
            <a:off x="594360"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10.097</a:t>
            </a:r>
            <a:endParaRPr lang="en-US" sz="2600" dirty="0"/>
          </a:p>
        </p:txBody>
      </p:sp>
      <p:sp>
        <p:nvSpPr>
          <p:cNvPr id="9" name="Text 6"/>
          <p:cNvSpPr/>
          <p:nvPr/>
        </p:nvSpPr>
        <p:spPr>
          <a:xfrm>
            <a:off x="612648"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baris setelah cleaning</a:t>
            </a:r>
            <a:endParaRPr lang="en-US" sz="950" dirty="0"/>
          </a:p>
        </p:txBody>
      </p:sp>
      <p:sp>
        <p:nvSpPr>
          <p:cNvPr id="10" name="Shape 7"/>
          <p:cNvSpPr/>
          <p:nvPr/>
        </p:nvSpPr>
        <p:spPr>
          <a:xfrm>
            <a:off x="2569464"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1" descr="/home/claude/assets/ic_list_navy.png"/>
          <p:cNvPicPr>
            <a:picLocks noChangeAspect="1"/>
          </p:cNvPicPr>
          <p:nvPr/>
        </p:nvPicPr>
        <p:blipFill>
          <a:blip r:embed="rId4"/>
          <a:stretch>
            <a:fillRect/>
          </a:stretch>
        </p:blipFill>
        <p:spPr>
          <a:xfrm>
            <a:off x="3355848" y="1481328"/>
            <a:ext cx="329184" cy="329184"/>
          </a:xfrm>
          <a:prstGeom prst="rect">
            <a:avLst/>
          </a:prstGeom>
        </p:spPr>
      </p:pic>
      <p:sp>
        <p:nvSpPr>
          <p:cNvPr id="12" name="Text 8"/>
          <p:cNvSpPr/>
          <p:nvPr/>
        </p:nvSpPr>
        <p:spPr>
          <a:xfrm>
            <a:off x="2660904"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5</a:t>
            </a:r>
            <a:endParaRPr lang="en-US" sz="2600" dirty="0"/>
          </a:p>
        </p:txBody>
      </p:sp>
      <p:sp>
        <p:nvSpPr>
          <p:cNvPr id="13" name="Text 9"/>
          <p:cNvSpPr/>
          <p:nvPr/>
        </p:nvSpPr>
        <p:spPr>
          <a:xfrm>
            <a:off x="2679192"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fitur kategorik</a:t>
            </a:r>
            <a:endParaRPr lang="en-US" sz="950" dirty="0"/>
          </a:p>
        </p:txBody>
      </p:sp>
      <p:sp>
        <p:nvSpPr>
          <p:cNvPr id="14" name="Shape 10"/>
          <p:cNvSpPr/>
          <p:nvPr/>
        </p:nvSpPr>
        <p:spPr>
          <a:xfrm>
            <a:off x="4636008"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2" descr="/home/claude/assets/ic_chart_navy.png"/>
          <p:cNvPicPr>
            <a:picLocks noChangeAspect="1"/>
          </p:cNvPicPr>
          <p:nvPr/>
        </p:nvPicPr>
        <p:blipFill>
          <a:blip r:embed="rId5"/>
          <a:stretch>
            <a:fillRect/>
          </a:stretch>
        </p:blipFill>
        <p:spPr>
          <a:xfrm>
            <a:off x="5422392" y="1481328"/>
            <a:ext cx="329184" cy="329184"/>
          </a:xfrm>
          <a:prstGeom prst="rect">
            <a:avLst/>
          </a:prstGeom>
        </p:spPr>
      </p:pic>
      <p:sp>
        <p:nvSpPr>
          <p:cNvPr id="16" name="Text 11"/>
          <p:cNvSpPr/>
          <p:nvPr/>
        </p:nvSpPr>
        <p:spPr>
          <a:xfrm>
            <a:off x="4727448"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5</a:t>
            </a:r>
            <a:endParaRPr lang="en-US" sz="2600" dirty="0"/>
          </a:p>
        </p:txBody>
      </p:sp>
      <p:sp>
        <p:nvSpPr>
          <p:cNvPr id="17" name="Text 12"/>
          <p:cNvSpPr/>
          <p:nvPr/>
        </p:nvSpPr>
        <p:spPr>
          <a:xfrm>
            <a:off x="4745736"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fitur numerik</a:t>
            </a:r>
            <a:endParaRPr lang="en-US" sz="950" dirty="0"/>
          </a:p>
        </p:txBody>
      </p:sp>
      <p:sp>
        <p:nvSpPr>
          <p:cNvPr id="18" name="Shape 13"/>
          <p:cNvSpPr/>
          <p:nvPr/>
        </p:nvSpPr>
        <p:spPr>
          <a:xfrm>
            <a:off x="6702552"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9" name="Image 3" descr="/home/claude/assets/ic_target_navy.png"/>
          <p:cNvPicPr>
            <a:picLocks noChangeAspect="1"/>
          </p:cNvPicPr>
          <p:nvPr/>
        </p:nvPicPr>
        <p:blipFill>
          <a:blip r:embed="rId6"/>
          <a:stretch>
            <a:fillRect/>
          </a:stretch>
        </p:blipFill>
        <p:spPr>
          <a:xfrm>
            <a:off x="7488936" y="1481328"/>
            <a:ext cx="329184" cy="329184"/>
          </a:xfrm>
          <a:prstGeom prst="rect">
            <a:avLst/>
          </a:prstGeom>
        </p:spPr>
      </p:pic>
      <p:sp>
        <p:nvSpPr>
          <p:cNvPr id="20" name="Text 14"/>
          <p:cNvSpPr/>
          <p:nvPr/>
        </p:nvSpPr>
        <p:spPr>
          <a:xfrm>
            <a:off x="6793992" y="1901952"/>
            <a:ext cx="1737360" cy="402336"/>
          </a:xfrm>
          <a:prstGeom prst="rect">
            <a:avLst/>
          </a:prstGeom>
          <a:noFill/>
          <a:ln/>
        </p:spPr>
        <p:txBody>
          <a:bodyPr wrap="square" lIns="0" tIns="0" rIns="0" bIns="0" rtlCol="0" anchor="ctr"/>
          <a:lstStyle/>
          <a:p>
            <a:pPr marL="0" indent="0" algn="ctr">
              <a:buNone/>
            </a:pPr>
            <a:r>
              <a:rPr lang="en-US" sz="2600" b="1" dirty="0">
                <a:solidFill>
                  <a:srgbClr val="E2703A"/>
                </a:solidFill>
                <a:latin typeface="Calibri" pitchFamily="34" charset="0"/>
                <a:ea typeface="Calibri" pitchFamily="34" charset="-122"/>
                <a:cs typeface="Calibri" pitchFamily="34" charset="-120"/>
              </a:rPr>
              <a:t>1</a:t>
            </a:r>
            <a:endParaRPr lang="en-US" sz="2600" dirty="0"/>
          </a:p>
        </p:txBody>
      </p:sp>
      <p:sp>
        <p:nvSpPr>
          <p:cNvPr id="21" name="Text 15"/>
          <p:cNvSpPr/>
          <p:nvPr/>
        </p:nvSpPr>
        <p:spPr>
          <a:xfrm>
            <a:off x="6812280"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kolom target (is_canceled)</a:t>
            </a:r>
            <a:endParaRPr lang="en-US" sz="950" dirty="0"/>
          </a:p>
        </p:txBody>
      </p:sp>
      <p:sp>
        <p:nvSpPr>
          <p:cNvPr id="22" name="Shape 16"/>
          <p:cNvSpPr/>
          <p:nvPr/>
        </p:nvSpPr>
        <p:spPr>
          <a:xfrm>
            <a:off x="502920" y="2926080"/>
            <a:ext cx="3977640" cy="932688"/>
          </a:xfrm>
          <a:prstGeom prst="roundRect">
            <a:avLst>
              <a:gd name="adj" fmla="val 588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3" name="Image 4" descr="/home/claude/assets/ic_check_navy.png"/>
          <p:cNvPicPr>
            <a:picLocks noChangeAspect="1"/>
          </p:cNvPicPr>
          <p:nvPr/>
        </p:nvPicPr>
        <p:blipFill>
          <a:blip r:embed="rId7"/>
          <a:stretch>
            <a:fillRect/>
          </a:stretch>
        </p:blipFill>
        <p:spPr>
          <a:xfrm>
            <a:off x="713232" y="3108960"/>
            <a:ext cx="256032" cy="256032"/>
          </a:xfrm>
          <a:prstGeom prst="rect">
            <a:avLst/>
          </a:prstGeom>
        </p:spPr>
      </p:pic>
      <p:sp>
        <p:nvSpPr>
          <p:cNvPr id="24" name="Text 17"/>
          <p:cNvSpPr/>
          <p:nvPr/>
        </p:nvSpPr>
        <p:spPr>
          <a:xfrm>
            <a:off x="1097280" y="3090672"/>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Kondisi data</a:t>
            </a:r>
            <a:endParaRPr lang="en-US" sz="1250" dirty="0"/>
          </a:p>
        </p:txBody>
      </p:sp>
      <p:sp>
        <p:nvSpPr>
          <p:cNvPr id="25" name="Text 18"/>
          <p:cNvSpPr/>
          <p:nvPr/>
        </p:nvSpPr>
        <p:spPr>
          <a:xfrm>
            <a:off x="1097280" y="3346704"/>
            <a:ext cx="3200400" cy="45720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Tidak ada missing value tersisa, tidak ada duplikat, dan seluruh tipe data sudah sesuai peruntukannya.</a:t>
            </a:r>
            <a:endParaRPr lang="en-US" sz="980" dirty="0"/>
          </a:p>
        </p:txBody>
      </p:sp>
      <p:sp>
        <p:nvSpPr>
          <p:cNvPr id="26" name="Shape 19"/>
          <p:cNvSpPr/>
          <p:nvPr/>
        </p:nvSpPr>
        <p:spPr>
          <a:xfrm>
            <a:off x="4663440" y="2926080"/>
            <a:ext cx="3977640" cy="932688"/>
          </a:xfrm>
          <a:prstGeom prst="roundRect">
            <a:avLst>
              <a:gd name="adj" fmla="val 5882"/>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7" name="Image 5" descr="/home/claude/assets/ic_warn_orange.png"/>
          <p:cNvPicPr>
            <a:picLocks noChangeAspect="1"/>
          </p:cNvPicPr>
          <p:nvPr/>
        </p:nvPicPr>
        <p:blipFill>
          <a:blip r:embed="rId8"/>
          <a:stretch>
            <a:fillRect/>
          </a:stretch>
        </p:blipFill>
        <p:spPr>
          <a:xfrm>
            <a:off x="4873752" y="3108960"/>
            <a:ext cx="256032" cy="256032"/>
          </a:xfrm>
          <a:prstGeom prst="rect">
            <a:avLst/>
          </a:prstGeom>
        </p:spPr>
      </p:pic>
      <p:sp>
        <p:nvSpPr>
          <p:cNvPr id="28" name="Text 20"/>
          <p:cNvSpPr/>
          <p:nvPr/>
        </p:nvSpPr>
        <p:spPr>
          <a:xfrm>
            <a:off x="5257800" y="3090672"/>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Kolom yang tidak tersedia</a:t>
            </a:r>
            <a:endParaRPr lang="en-US" sz="1250" dirty="0"/>
          </a:p>
        </p:txBody>
      </p:sp>
      <p:sp>
        <p:nvSpPr>
          <p:cNvPr id="29" name="Text 21"/>
          <p:cNvSpPr/>
          <p:nvPr/>
        </p:nvSpPr>
        <p:spPr>
          <a:xfrm>
            <a:off x="5257800" y="3346704"/>
            <a:ext cx="3200400" cy="45720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lead_time, tanggal menginap, harga kamar (ADR), dan identitas tamu — semuanya prediktor kuat di literatur perhotelan.</a:t>
            </a:r>
            <a:endParaRPr lang="en-US" sz="980" dirty="0"/>
          </a:p>
        </p:txBody>
      </p:sp>
      <p:sp>
        <p:nvSpPr>
          <p:cNvPr id="30" name="Shape 22"/>
          <p:cNvSpPr/>
          <p:nvPr/>
        </p:nvSpPr>
        <p:spPr>
          <a:xfrm>
            <a:off x="502920" y="4005072"/>
            <a:ext cx="8138160" cy="658368"/>
          </a:xfrm>
          <a:prstGeom prst="roundRect">
            <a:avLst>
              <a:gd name="adj" fmla="val 833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31" name="Text 23"/>
          <p:cNvSpPr/>
          <p:nvPr/>
        </p:nvSpPr>
        <p:spPr>
          <a:xfrm>
            <a:off x="713232" y="4133088"/>
            <a:ext cx="7726680" cy="45720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Konsekuensi: model hanya bisa belajar dari karakteristik pemesanan itu sendiri (deposit, kanal, tipe tamu, permintaan khusus), bukan dari dinamika waktu maupun harga. Ini membatasi seberapa tinggi performa yang realistis dicapai.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Lima fitur kategorik dan sebaran nilainya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1865376"/>
        </p:xfrm>
        <a:graphic>
          <a:graphicData uri="http://schemas.openxmlformats.org/drawingml/2006/table">
            <a:tbl>
              <a:tblPr/>
              <a:tblGrid>
                <a:gridCol w="16002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310896">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Kolom</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Nilai unik</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Nilai dominan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Arti dalam konteks bisnis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country</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162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PRT — 2.006 (19,9%)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Negara asal tamu. Ekor panjang: 157 negara berbagi 5.672 booking</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market_segment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Online TA — 4.924 (48,8%)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Kanal pemesanan. Satu baris berlabel "Undefined"</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deposit_type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No Deposit — 9.856 (97,6%)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Jaminan finansial. Non Refund 194, Refundable 47</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customer_type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4</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Transient — 6.825 (67,6%)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Tipe pemesan: individual, rombongan, atau kontrak</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reserved_room_type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10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A — 4.566 (45,2%)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Kode tipe kamar. Tipe P dan L masing-masing &lt; 5 baris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3310128"/>
            <a:ext cx="8138160" cy="914400"/>
          </a:xfrm>
          <a:prstGeom prst="roundRect">
            <a:avLst>
              <a:gd name="adj" fmla="val 600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Text 7"/>
          <p:cNvSpPr/>
          <p:nvPr/>
        </p:nvSpPr>
        <p:spPr>
          <a:xfrm>
            <a:off x="502920" y="4370832"/>
            <a:ext cx="7635240" cy="23774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Sumber angka: output df[kolom].value_counts() pada notebook setelah data cleaning.</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Lima fitur numerik: hampir semuanya bernilai nol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12</a:t>
            </a:r>
            <a:endParaRPr lang="en-US" sz="900" dirty="0"/>
          </a:p>
        </p:txBody>
      </p:sp>
      <p:sp>
        <p:nvSpPr>
          <p:cNvPr id="5" name="Text 3"/>
          <p:cNvSpPr/>
          <p:nvPr/>
        </p:nvSpPr>
        <p:spPr>
          <a:xfrm>
            <a:off x="502920" y="969264"/>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Statistik deskriptif dari df.describe() setelah cleaning, n = 10.097.</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2048256"/>
        </p:xfrm>
        <a:graphic>
          <a:graphicData uri="http://schemas.openxmlformats.org/drawingml/2006/table">
            <a:tbl>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29260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Kolom</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Mean</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Std</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Median</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Max</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previous_cancellations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0,089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0,832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booking_changes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0,799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1,297</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days_in_waiting_list</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3,597</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22,309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391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required_car_parking_spaces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0,165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0,392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total_of_special_requests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0,942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1,039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is_canceled  (target)</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0,238</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0,426</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3529584"/>
            <a:ext cx="3977640" cy="896112"/>
          </a:xfrm>
          <a:prstGeom prst="roundRect">
            <a:avLst>
              <a:gd name="adj" fmla="val 6122"/>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0" descr="/home/claude/assets/ic_search_navy.png"/>
          <p:cNvPicPr>
            <a:picLocks noChangeAspect="1"/>
          </p:cNvPicPr>
          <p:nvPr/>
        </p:nvPicPr>
        <p:blipFill>
          <a:blip r:embed="rId3"/>
          <a:stretch>
            <a:fillRect/>
          </a:stretch>
        </p:blipFill>
        <p:spPr>
          <a:xfrm>
            <a:off x="694944" y="3694176"/>
            <a:ext cx="237744" cy="237744"/>
          </a:xfrm>
          <a:prstGeom prst="rect">
            <a:avLst/>
          </a:prstGeom>
        </p:spPr>
      </p:pic>
      <p:sp>
        <p:nvSpPr>
          <p:cNvPr id="9" name="Text 5"/>
          <p:cNvSpPr/>
          <p:nvPr/>
        </p:nvSpPr>
        <p:spPr>
          <a:xfrm>
            <a:off x="1024128" y="3675888"/>
            <a:ext cx="32004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Distribusi sangat miring</a:t>
            </a:r>
            <a:endParaRPr lang="en-US" sz="1250" dirty="0"/>
          </a:p>
        </p:txBody>
      </p:sp>
      <p:sp>
        <p:nvSpPr>
          <p:cNvPr id="10" name="Text 6"/>
          <p:cNvSpPr/>
          <p:nvPr/>
        </p:nvSpPr>
        <p:spPr>
          <a:xfrm>
            <a:off x="1024128" y="3931920"/>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Median 0 pada empat dari lima fitur. Contoh ekstrem: days_in_waiting_list punya mean 3,6 tapi maksimum 391 hari.</a:t>
            </a:r>
            <a:endParaRPr lang="en-US" sz="930" dirty="0"/>
          </a:p>
        </p:txBody>
      </p:sp>
      <p:sp>
        <p:nvSpPr>
          <p:cNvPr id="11" name="Shape 7"/>
          <p:cNvSpPr/>
          <p:nvPr/>
        </p:nvSpPr>
        <p:spPr>
          <a:xfrm>
            <a:off x="4663440" y="3529584"/>
            <a:ext cx="3977640" cy="896112"/>
          </a:xfrm>
          <a:prstGeom prst="roundRect">
            <a:avLst>
              <a:gd name="adj" fmla="val 612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1" descr="/home/claude/assets/ic_check_navy.png"/>
          <p:cNvPicPr>
            <a:picLocks noChangeAspect="1"/>
          </p:cNvPicPr>
          <p:nvPr/>
        </p:nvPicPr>
        <p:blipFill>
          <a:blip r:embed="rId4"/>
          <a:stretch>
            <a:fillRect/>
          </a:stretch>
        </p:blipFill>
        <p:spPr>
          <a:xfrm>
            <a:off x="4855464" y="3694176"/>
            <a:ext cx="237744" cy="237744"/>
          </a:xfrm>
          <a:prstGeom prst="rect">
            <a:avLst/>
          </a:prstGeom>
        </p:spPr>
      </p:pic>
      <p:sp>
        <p:nvSpPr>
          <p:cNvPr id="6" name="Text 8"/>
          <p:cNvSpPr/>
          <p:nvPr/>
        </p:nvSpPr>
        <p:spPr>
          <a:xfrm>
            <a:off x="5184648" y="367588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Implikasi preprocessing</a:t>
            </a:r>
            <a:endParaRPr lang="en-US" sz="1250" dirty="0"/>
          </a:p>
        </p:txBody>
      </p:sp>
      <p:sp>
        <p:nvSpPr>
          <p:cNvPr id="14" name="Text 9"/>
          <p:cNvSpPr/>
          <p:nvPr/>
        </p:nvSpPr>
        <p:spPr>
          <a:xfrm>
            <a:off x="5184648" y="3931920"/>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Karena itu imputasi memakai median (bukan mean) dan scaling memakai StandardScaler yang diterapkan seragam ke semua fitur numerik.</a:t>
            </a:r>
            <a:endParaRPr lang="en-US" sz="930" dirty="0"/>
          </a:p>
        </p:txBody>
      </p:sp>
      <p:sp>
        <p:nvSpPr>
          <p:cNvPr id="15" name="Text 10"/>
          <p:cNvSpPr/>
          <p:nvPr/>
        </p:nvSpPr>
        <p:spPr>
          <a:xfrm>
            <a:off x="502920" y="4517136"/>
            <a:ext cx="7635240" cy="274320"/>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Catatan: outlier tidak dibuang karena nilai seperti 26 kali pembatalan atau 391 hari waiting list masih mungkin terjadi secara operasional dan justru membawa sinyal.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CLEANING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Proses pembersihan data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13</a:t>
            </a:r>
            <a:endParaRPr lang="en-US" sz="900" dirty="0"/>
          </a:p>
        </p:txBody>
      </p:sp>
      <p:pic>
        <p:nvPicPr>
          <p:cNvPr id="5" name="Image 0" descr="/home/claude/assets/funnel.png"/>
          <p:cNvPicPr>
            <a:picLocks noChangeAspect="1"/>
          </p:cNvPicPr>
          <p:nvPr/>
        </p:nvPicPr>
        <p:blipFill>
          <a:blip r:embed="rId3"/>
          <a:stretch>
            <a:fillRect/>
          </a:stretch>
        </p:blipFill>
        <p:spPr>
          <a:xfrm>
            <a:off x="566928" y="1042416"/>
            <a:ext cx="5623560" cy="2157984"/>
          </a:xfrm>
          <a:prstGeom prst="rect">
            <a:avLst/>
          </a:prstGeom>
        </p:spPr>
      </p:pic>
      <p:sp>
        <p:nvSpPr>
          <p:cNvPr id="6" name="Shape 3"/>
          <p:cNvSpPr/>
          <p:nvPr/>
        </p:nvSpPr>
        <p:spPr>
          <a:xfrm>
            <a:off x="6446520" y="1042416"/>
            <a:ext cx="2194560" cy="2157984"/>
          </a:xfrm>
          <a:prstGeom prst="roundRect">
            <a:avLst>
              <a:gd name="adj" fmla="val 254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broom_navy.png"/>
          <p:cNvPicPr>
            <a:picLocks noChangeAspect="1"/>
          </p:cNvPicPr>
          <p:nvPr/>
        </p:nvPicPr>
        <p:blipFill>
          <a:blip r:embed="rId4"/>
          <a:stretch>
            <a:fillRect/>
          </a:stretch>
        </p:blipFill>
        <p:spPr>
          <a:xfrm>
            <a:off x="6620256" y="1207008"/>
            <a:ext cx="256032" cy="256032"/>
          </a:xfrm>
          <a:prstGeom prst="rect">
            <a:avLst/>
          </a:prstGeom>
        </p:spPr>
      </p:pic>
      <p:sp>
        <p:nvSpPr>
          <p:cNvPr id="8" name="Text 4"/>
          <p:cNvSpPr/>
          <p:nvPr/>
        </p:nvSpPr>
        <p:spPr>
          <a:xfrm>
            <a:off x="6949440" y="1216152"/>
            <a:ext cx="14630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Tiga langkah</a:t>
            </a:r>
            <a:endParaRPr lang="en-US" sz="1250" dirty="0"/>
          </a:p>
        </p:txBody>
      </p:sp>
      <p:sp>
        <p:nvSpPr>
          <p:cNvPr id="9" name="Text 5"/>
          <p:cNvSpPr/>
          <p:nvPr/>
        </p:nvSpPr>
        <p:spPr>
          <a:xfrm>
            <a:off x="6601968" y="1536192"/>
            <a:ext cx="1874520" cy="1064362"/>
          </a:xfrm>
          <a:prstGeom prst="rect">
            <a:avLst/>
          </a:prstGeom>
          <a:noFill/>
          <a:ln/>
        </p:spPr>
        <p:txBody>
          <a:bodyPr wrap="square" lIns="0" tIns="0" rIns="0" bIns="0" rtlCol="0" anchor="t"/>
          <a:lstStyle/>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Missing value: country 351 null (0,42%), diimputasi dengan modus PRT</a:t>
            </a:r>
            <a:endParaRPr lang="en-US" sz="900" dirty="0"/>
          </a:p>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Duplikat: 73.476 baris identik dihapus</a:t>
            </a:r>
            <a:endParaRPr lang="en-US" sz="900" dirty="0"/>
          </a:p>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Outlier: dipertahankan karena nilai ekstrem masih masuk akal secara operasional</a:t>
            </a:r>
            <a:endParaRPr lang="en-US" sz="900" dirty="0"/>
          </a:p>
        </p:txBody>
      </p:sp>
      <p:sp>
        <p:nvSpPr>
          <p:cNvPr id="10" name="Shape 6"/>
          <p:cNvSpPr/>
          <p:nvPr/>
        </p:nvSpPr>
        <p:spPr>
          <a:xfrm>
            <a:off x="502920" y="3346704"/>
            <a:ext cx="3977640" cy="859536"/>
          </a:xfrm>
          <a:prstGeom prst="roundRect">
            <a:avLst>
              <a:gd name="adj" fmla="val 6383"/>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check_navy.png"/>
          <p:cNvPicPr>
            <a:picLocks noChangeAspect="1"/>
          </p:cNvPicPr>
          <p:nvPr/>
        </p:nvPicPr>
        <p:blipFill>
          <a:blip r:embed="rId5"/>
          <a:stretch>
            <a:fillRect/>
          </a:stretch>
        </p:blipFill>
        <p:spPr>
          <a:xfrm>
            <a:off x="694944" y="3511296"/>
            <a:ext cx="237744" cy="237744"/>
          </a:xfrm>
          <a:prstGeom prst="rect">
            <a:avLst/>
          </a:prstGeom>
        </p:spPr>
      </p:pic>
      <p:sp>
        <p:nvSpPr>
          <p:cNvPr id="12" name="Text 7"/>
          <p:cNvSpPr/>
          <p:nvPr/>
        </p:nvSpPr>
        <p:spPr>
          <a:xfrm>
            <a:off x="1024128" y="349300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Alasan imputasi modus</a:t>
            </a:r>
            <a:endParaRPr lang="en-US" sz="1250" dirty="0"/>
          </a:p>
        </p:txBody>
      </p:sp>
      <p:sp>
        <p:nvSpPr>
          <p:cNvPr id="13" name="Text 8"/>
          <p:cNvSpPr/>
          <p:nvPr/>
        </p:nvSpPr>
        <p:spPr>
          <a:xfrm>
            <a:off x="1024128" y="3730752"/>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Hanya 0,42% data yang hilang dan country bersifat kategorik, sehingga modus adalah pilihan paling sederhana tanpa mengubah distribusi secara berarti.</a:t>
            </a:r>
            <a:endParaRPr lang="en-US" sz="930" dirty="0"/>
          </a:p>
        </p:txBody>
      </p:sp>
      <p:sp>
        <p:nvSpPr>
          <p:cNvPr id="14" name="Shape 9"/>
          <p:cNvSpPr/>
          <p:nvPr/>
        </p:nvSpPr>
        <p:spPr>
          <a:xfrm>
            <a:off x="4663440" y="3346704"/>
            <a:ext cx="3977640" cy="859536"/>
          </a:xfrm>
          <a:prstGeom prst="roundRect">
            <a:avLst>
              <a:gd name="adj" fmla="val 638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3" descr="/home/claude/assets/ic_search_navy.png"/>
          <p:cNvPicPr>
            <a:picLocks noChangeAspect="1"/>
          </p:cNvPicPr>
          <p:nvPr/>
        </p:nvPicPr>
        <p:blipFill>
          <a:blip r:embed="rId6"/>
          <a:stretch>
            <a:fillRect/>
          </a:stretch>
        </p:blipFill>
        <p:spPr>
          <a:xfrm>
            <a:off x="4855464" y="3511296"/>
            <a:ext cx="237744" cy="237744"/>
          </a:xfrm>
          <a:prstGeom prst="rect">
            <a:avLst/>
          </a:prstGeom>
        </p:spPr>
      </p:pic>
      <p:sp>
        <p:nvSpPr>
          <p:cNvPr id="16" name="Text 10"/>
          <p:cNvSpPr/>
          <p:nvPr/>
        </p:nvSpPr>
        <p:spPr>
          <a:xfrm>
            <a:off x="5184648" y="3493008"/>
            <a:ext cx="32004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Alasan outlier dipertahankan</a:t>
            </a:r>
            <a:endParaRPr lang="en-US" sz="1250" dirty="0"/>
          </a:p>
        </p:txBody>
      </p:sp>
      <p:sp>
        <p:nvSpPr>
          <p:cNvPr id="17" name="Text 11"/>
          <p:cNvSpPr/>
          <p:nvPr/>
        </p:nvSpPr>
        <p:spPr>
          <a:xfrm>
            <a:off x="5184648" y="3730752"/>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Tamu dengan 26 kali riwayat pembatalan atau 391 hari waiting list memang ada, dan justru membawa sinyal risiko yang ingin ditangkap model.</a:t>
            </a:r>
            <a:endParaRPr lang="en-US" sz="930" dirty="0"/>
          </a:p>
        </p:txBody>
      </p:sp>
      <p:sp>
        <p:nvSpPr>
          <p:cNvPr id="18" name="Text 12"/>
          <p:cNvSpPr/>
          <p:nvPr/>
        </p:nvSpPr>
        <p:spPr>
          <a:xfrm>
            <a:off x="502920" y="4334256"/>
            <a:ext cx="7635240" cy="274320"/>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Alternatif imputasi yang bisa diuji: membuat kategori khusus "Unknown" agar informasi "negara tidak tercatat" tidak hilang.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CLEANING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Penghapusan duplikat: keputusan yang perlu diuji ulang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14</a:t>
            </a:r>
            <a:endParaRPr lang="en-US" sz="900" dirty="0"/>
          </a:p>
        </p:txBody>
      </p:sp>
      <p:sp>
        <p:nvSpPr>
          <p:cNvPr id="5" name="Text 3"/>
          <p:cNvSpPr/>
          <p:nvPr/>
        </p:nvSpPr>
        <p:spPr>
          <a:xfrm>
            <a:off x="502920" y="969264"/>
            <a:ext cx="8138160" cy="274320"/>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Ini keputusan tunggal dengan dampak terbesar pada seluruh hasil project. Dataset menyusut dari 83.573 menjadi 10.097 baris — hanya 12,1% yang tersisa.</a:t>
            </a:r>
            <a:endParaRPr lang="en-US" sz="1050" dirty="0"/>
          </a:p>
        </p:txBody>
      </p:sp>
      <p:sp>
        <p:nvSpPr>
          <p:cNvPr id="6" name="Shape 4"/>
          <p:cNvSpPr/>
          <p:nvPr/>
        </p:nvSpPr>
        <p:spPr>
          <a:xfrm>
            <a:off x="502920" y="1335024"/>
            <a:ext cx="3977640" cy="2048256"/>
          </a:xfrm>
          <a:prstGeom prst="roundRect">
            <a:avLst>
              <a:gd name="adj" fmla="val 2679"/>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7" name="Text 5"/>
          <p:cNvSpPr/>
          <p:nvPr/>
        </p:nvSpPr>
        <p:spPr>
          <a:xfrm>
            <a:off x="713232" y="1517904"/>
            <a:ext cx="3566160" cy="237744"/>
          </a:xfrm>
          <a:prstGeom prst="rect">
            <a:avLst/>
          </a:prstGeom>
          <a:noFill/>
          <a:ln/>
        </p:spPr>
        <p:txBody>
          <a:bodyPr wrap="square" lIns="0" tIns="0" rIns="0" bIns="0" rtlCol="0" anchor="ctr"/>
          <a:lstStyle/>
          <a:p>
            <a:pPr marL="0" indent="0">
              <a:buNone/>
            </a:pPr>
            <a:r>
              <a:rPr lang="en-US" sz="1200" b="1" dirty="0">
                <a:solidFill>
                  <a:srgbClr val="2F7D5E"/>
                </a:solidFill>
                <a:latin typeface="Calibri" pitchFamily="34" charset="0"/>
                <a:ea typeface="Calibri" pitchFamily="34" charset="-122"/>
                <a:cs typeface="Calibri" pitchFamily="34" charset="-120"/>
              </a:rPr>
              <a:t>Argumen mendukung penghapusan</a:t>
            </a:r>
            <a:endParaRPr lang="en-US" sz="1200" dirty="0"/>
          </a:p>
        </p:txBody>
      </p:sp>
      <p:sp>
        <p:nvSpPr>
          <p:cNvPr id="8" name="Text 6"/>
          <p:cNvSpPr/>
          <p:nvPr/>
        </p:nvSpPr>
        <p:spPr>
          <a:xfrm>
            <a:off x="713232" y="1828800"/>
            <a:ext cx="356616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Baris identik berulang membuat model memberi bobot berlebih pada pola yang sama</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Berpotensi menyebabkan kebocoran antara train dan test bila baris kembar terpisah ke dua set</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Metrik evaluasi jadi terlalu optimistis</a:t>
            </a:r>
            <a:endParaRPr lang="en-US" sz="940" dirty="0"/>
          </a:p>
        </p:txBody>
      </p:sp>
      <p:sp>
        <p:nvSpPr>
          <p:cNvPr id="9" name="Shape 7"/>
          <p:cNvSpPr/>
          <p:nvPr/>
        </p:nvSpPr>
        <p:spPr>
          <a:xfrm>
            <a:off x="4663440" y="1335024"/>
            <a:ext cx="3977640" cy="2048256"/>
          </a:xfrm>
          <a:prstGeom prst="roundRect">
            <a:avLst>
              <a:gd name="adj" fmla="val 2679"/>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73752" y="1517904"/>
            <a:ext cx="3566160" cy="237744"/>
          </a:xfrm>
          <a:prstGeom prst="rect">
            <a:avLst/>
          </a:prstGeom>
          <a:noFill/>
          <a:ln/>
        </p:spPr>
        <p:txBody>
          <a:bodyPr wrap="square" lIns="0" tIns="0" rIns="0" bIns="0" rtlCol="0" anchor="ctr"/>
          <a:lstStyle/>
          <a:p>
            <a:pPr marL="0" indent="0">
              <a:buNone/>
            </a:pPr>
            <a:r>
              <a:rPr lang="en-US" sz="1200" b="1" dirty="0">
                <a:solidFill>
                  <a:srgbClr val="B3392E"/>
                </a:solidFill>
                <a:latin typeface="Calibri" pitchFamily="34" charset="0"/>
                <a:ea typeface="Calibri" pitchFamily="34" charset="-122"/>
                <a:cs typeface="Calibri" pitchFamily="34" charset="-120"/>
              </a:rPr>
              <a:t>Argumen menolak penghapusan</a:t>
            </a:r>
            <a:endParaRPr lang="en-US" sz="1200" dirty="0"/>
          </a:p>
        </p:txBody>
      </p:sp>
      <p:sp>
        <p:nvSpPr>
          <p:cNvPr id="11" name="Text 9"/>
          <p:cNvSpPr/>
          <p:nvPr/>
        </p:nvSpPr>
        <p:spPr>
          <a:xfrm>
            <a:off x="4873752" y="1828800"/>
            <a:ext cx="356616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Hanya ada 10 kolom berkardinalitas rendah, sehingga dua booking berbeda sangat mungkin identik</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Tanpa ID tamu atau tanggal, "duplikat" tidak bisa dibedakan dari kebetulan</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88% data hilang, termasuk informasi frekuensi pola yang sebenarnya nyata</a:t>
            </a:r>
            <a:endParaRPr lang="en-US" sz="940" dirty="0"/>
          </a:p>
        </p:txBody>
      </p:sp>
      <p:sp>
        <p:nvSpPr>
          <p:cNvPr id="12" name="Shape 10"/>
          <p:cNvSpPr/>
          <p:nvPr/>
        </p:nvSpPr>
        <p:spPr>
          <a:xfrm>
            <a:off x="502920" y="3529584"/>
            <a:ext cx="8138160" cy="1097280"/>
          </a:xfrm>
          <a:prstGeom prst="roundRect">
            <a:avLst>
              <a:gd name="adj" fmla="val 5000"/>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3" name="Image 0" descr="/home/claude/assets/ic_gear_navy.png"/>
          <p:cNvPicPr>
            <a:picLocks noChangeAspect="1"/>
          </p:cNvPicPr>
          <p:nvPr/>
        </p:nvPicPr>
        <p:blipFill>
          <a:blip r:embed="rId3"/>
          <a:stretch>
            <a:fillRect/>
          </a:stretch>
        </p:blipFill>
        <p:spPr>
          <a:xfrm>
            <a:off x="713232" y="3712464"/>
            <a:ext cx="274320" cy="274320"/>
          </a:xfrm>
          <a:prstGeom prst="rect">
            <a:avLst/>
          </a:prstGeom>
        </p:spPr>
      </p:pic>
      <p:sp>
        <p:nvSpPr>
          <p:cNvPr id="14" name="Text 11"/>
          <p:cNvSpPr/>
          <p:nvPr/>
        </p:nvSpPr>
        <p:spPr>
          <a:xfrm>
            <a:off x="1115568" y="3694176"/>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Cara menyelesaikan perdebatan ini</a:t>
            </a:r>
            <a:endParaRPr lang="en-US" sz="1250" dirty="0"/>
          </a:p>
        </p:txBody>
      </p:sp>
      <p:sp>
        <p:nvSpPr>
          <p:cNvPr id="15" name="Text 12"/>
          <p:cNvSpPr/>
          <p:nvPr/>
        </p:nvSpPr>
        <p:spPr>
          <a:xfrm>
            <a:off x="1115568" y="3950208"/>
            <a:ext cx="7360920" cy="60350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Jangan diputuskan lewat argumen, tapi lewat eksperimen: latih dua versi model dengan pipeline yang persis sama — satu memakai data penuh 83.573 baris, satu memakai 10.097 baris — lalu bandingkan Recall, Precision, dan AUC-ROC pada test set masing-masing. Versi mana pun yang dipakai, keputusannya jadi punya dasar bukti, bukan asumsi.</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1 dari 4 pemesanan berakhir dibatalkan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15</a:t>
            </a:r>
            <a:endParaRPr lang="en-US" sz="900" dirty="0"/>
          </a:p>
        </p:txBody>
      </p:sp>
      <p:pic>
        <p:nvPicPr>
          <p:cNvPr id="5" name="Image 0" descr="/home/claude/assets/target_dist.png"/>
          <p:cNvPicPr>
            <a:picLocks noChangeAspect="1"/>
          </p:cNvPicPr>
          <p:nvPr/>
        </p:nvPicPr>
        <p:blipFill>
          <a:blip r:embed="rId3"/>
          <a:stretch>
            <a:fillRect/>
          </a:stretch>
        </p:blipFill>
        <p:spPr>
          <a:xfrm>
            <a:off x="548640" y="1115568"/>
            <a:ext cx="4617720" cy="2450592"/>
          </a:xfrm>
          <a:prstGeom prst="rect">
            <a:avLst/>
          </a:prstGeom>
        </p:spPr>
      </p:pic>
      <p:sp>
        <p:nvSpPr>
          <p:cNvPr id="6" name="Shape 3"/>
          <p:cNvSpPr/>
          <p:nvPr/>
        </p:nvSpPr>
        <p:spPr>
          <a:xfrm>
            <a:off x="5440680" y="1115568"/>
            <a:ext cx="3200400" cy="2450592"/>
          </a:xfrm>
          <a:prstGeom prst="roundRect">
            <a:avLst>
              <a:gd name="adj" fmla="val 223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chart_navy.png"/>
          <p:cNvPicPr>
            <a:picLocks noChangeAspect="1"/>
          </p:cNvPicPr>
          <p:nvPr/>
        </p:nvPicPr>
        <p:blipFill>
          <a:blip r:embed="rId4"/>
          <a:stretch>
            <a:fillRect/>
          </a:stretch>
        </p:blipFill>
        <p:spPr>
          <a:xfrm>
            <a:off x="5650992" y="1298448"/>
            <a:ext cx="274320" cy="274320"/>
          </a:xfrm>
          <a:prstGeom prst="rect">
            <a:avLst/>
          </a:prstGeom>
        </p:spPr>
      </p:pic>
      <p:sp>
        <p:nvSpPr>
          <p:cNvPr id="8" name="Text 4"/>
          <p:cNvSpPr/>
          <p:nvPr/>
        </p:nvSpPr>
        <p:spPr>
          <a:xfrm>
            <a:off x="6035040" y="1307592"/>
            <a:ext cx="246888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Implikasi ke modeling</a:t>
            </a:r>
            <a:endParaRPr lang="en-US" sz="1250" dirty="0"/>
          </a:p>
        </p:txBody>
      </p:sp>
      <p:sp>
        <p:nvSpPr>
          <p:cNvPr id="9" name="Text 5"/>
          <p:cNvSpPr/>
          <p:nvPr/>
        </p:nvSpPr>
        <p:spPr>
          <a:xfrm>
            <a:off x="5632704" y="1645920"/>
            <a:ext cx="2798064" cy="1454262"/>
          </a:xfrm>
          <a:prstGeom prst="rect">
            <a:avLst/>
          </a:prstGeom>
          <a:noFill/>
          <a:ln/>
        </p:spPr>
        <p:txBody>
          <a:bodyPr wrap="square" lIns="0" tIns="0" rIns="0" bIns="0" rtlCol="0" anchor="t"/>
          <a:lstStyle/>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Kelas tidak seimbang: 76,2% vs 23,8% (rasio ± 3:1)</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Model yang selalu menebak "tidak batal" langsung dapat akurasi 76%</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Karena itu accuracy tidak dipakai sebagai metrik utama</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Train–test split memakai stratify=y agar proporsi terjaga</a:t>
            </a:r>
            <a:endParaRPr lang="en-US" sz="930" dirty="0"/>
          </a:p>
        </p:txBody>
      </p:sp>
      <p:sp>
        <p:nvSpPr>
          <p:cNvPr id="10" name="Text 6"/>
          <p:cNvSpPr/>
          <p:nvPr/>
        </p:nvSpPr>
        <p:spPr>
          <a:xfrm>
            <a:off x="548640" y="3767328"/>
            <a:ext cx="8092440" cy="219456"/>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Total 10.097 pemesanan  •  2.405 dibatalkan  •  7.692 tidak dibatalkan</a:t>
            </a:r>
            <a:endParaRPr lang="en-US" sz="1000" dirty="0"/>
          </a:p>
        </p:txBody>
      </p:sp>
      <p:sp>
        <p:nvSpPr>
          <p:cNvPr id="11" name="Shape 7"/>
          <p:cNvSpPr/>
          <p:nvPr/>
        </p:nvSpPr>
        <p:spPr>
          <a:xfrm>
            <a:off x="502920" y="4078224"/>
            <a:ext cx="8138160" cy="566928"/>
          </a:xfrm>
          <a:prstGeom prst="roundRect">
            <a:avLst>
              <a:gd name="adj" fmla="val 967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8"/>
          <p:cNvSpPr/>
          <p:nvPr/>
        </p:nvSpPr>
        <p:spPr>
          <a:xfrm>
            <a:off x="713232" y="4187952"/>
            <a:ext cx="7680960" cy="36576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Ketidakseimbangan ini ditangani lewat pembobotan kelas saat pelatihan (class_weight=balanced pada model final), bukan lewat resampling seperti SMOTE.</a:t>
            </a:r>
            <a:endParaRPr lang="en-US" sz="9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Hampir semua tamu memesan tanpa jaminan finansial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16</a:t>
            </a:r>
            <a:endParaRPr lang="en-US" sz="900" dirty="0"/>
          </a:p>
        </p:txBody>
      </p:sp>
      <p:pic>
        <p:nvPicPr>
          <p:cNvPr id="5" name="Image 0" descr="/home/claude/assets/cat_dist.png"/>
          <p:cNvPicPr>
            <a:picLocks noChangeAspect="1"/>
          </p:cNvPicPr>
          <p:nvPr/>
        </p:nvPicPr>
        <p:blipFill>
          <a:blip r:embed="rId3"/>
          <a:stretch>
            <a:fillRect/>
          </a:stretch>
        </p:blipFill>
        <p:spPr>
          <a:xfrm>
            <a:off x="502920" y="1078992"/>
            <a:ext cx="8138160" cy="2542032"/>
          </a:xfrm>
          <a:prstGeom prst="rect">
            <a:avLst/>
          </a:prstGeom>
        </p:spPr>
      </p:pic>
      <p:sp>
        <p:nvSpPr>
          <p:cNvPr id="6" name="Shape 3"/>
          <p:cNvSpPr/>
          <p:nvPr/>
        </p:nvSpPr>
        <p:spPr>
          <a:xfrm>
            <a:off x="502920" y="3712464"/>
            <a:ext cx="3977640" cy="896112"/>
          </a:xfrm>
          <a:prstGeom prst="roundRect">
            <a:avLst>
              <a:gd name="adj" fmla="val 61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orange.png"/>
          <p:cNvPicPr>
            <a:picLocks noChangeAspect="1"/>
          </p:cNvPicPr>
          <p:nvPr/>
        </p:nvPicPr>
        <p:blipFill>
          <a:blip r:embed="rId4"/>
          <a:stretch>
            <a:fillRect/>
          </a:stretch>
        </p:blipFill>
        <p:spPr>
          <a:xfrm>
            <a:off x="694944" y="3877056"/>
            <a:ext cx="237744" cy="237744"/>
          </a:xfrm>
          <a:prstGeom prst="rect">
            <a:avLst/>
          </a:prstGeom>
        </p:spPr>
      </p:pic>
      <p:sp>
        <p:nvSpPr>
          <p:cNvPr id="8" name="Text 4"/>
          <p:cNvSpPr/>
          <p:nvPr/>
        </p:nvSpPr>
        <p:spPr>
          <a:xfrm>
            <a:off x="1024128" y="3840480"/>
            <a:ext cx="3337560" cy="60350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97,6% booking berstatus No Deposit — hotel praktis tidak memegang jaminan apa pun. Non Refund hanya 194 booking (1,9%).</a:t>
            </a:r>
            <a:endParaRPr lang="en-US" sz="950" dirty="0"/>
          </a:p>
        </p:txBody>
      </p:sp>
      <p:sp>
        <p:nvSpPr>
          <p:cNvPr id="9" name="Shape 5"/>
          <p:cNvSpPr/>
          <p:nvPr/>
        </p:nvSpPr>
        <p:spPr>
          <a:xfrm>
            <a:off x="4663440" y="3712464"/>
            <a:ext cx="3977640" cy="896112"/>
          </a:xfrm>
          <a:prstGeom prst="roundRect">
            <a:avLst>
              <a:gd name="adj" fmla="val 61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2" descr="/home/claude/assets/ic_search_orange.png"/>
          <p:cNvPicPr>
            <a:picLocks noChangeAspect="1"/>
          </p:cNvPicPr>
          <p:nvPr/>
        </p:nvPicPr>
        <p:blipFill>
          <a:blip r:embed="rId4"/>
          <a:stretch>
            <a:fillRect/>
          </a:stretch>
        </p:blipFill>
        <p:spPr>
          <a:xfrm>
            <a:off x="4855464" y="3877056"/>
            <a:ext cx="237744" cy="237744"/>
          </a:xfrm>
          <a:prstGeom prst="rect">
            <a:avLst/>
          </a:prstGeom>
        </p:spPr>
      </p:pic>
      <p:sp>
        <p:nvSpPr>
          <p:cNvPr id="11" name="Text 6"/>
          <p:cNvSpPr/>
          <p:nvPr/>
        </p:nvSpPr>
        <p:spPr>
          <a:xfrm>
            <a:off x="5184648" y="3840480"/>
            <a:ext cx="3337560" cy="60350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67,6% tamu bertipe Transient (pemesan individual, bukan bagian grup atau kontrak) — segmen yang paling fleksibel membatalkan.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Kanal pemesanan dan sebaran fitur numerik</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17</a:t>
            </a:r>
            <a:endParaRPr lang="en-US" sz="900" dirty="0"/>
          </a:p>
        </p:txBody>
      </p:sp>
      <p:pic>
        <p:nvPicPr>
          <p:cNvPr id="5" name="Image 0" descr="/home/claude/assets/market_seg.png"/>
          <p:cNvPicPr>
            <a:picLocks noChangeAspect="1"/>
          </p:cNvPicPr>
          <p:nvPr/>
        </p:nvPicPr>
        <p:blipFill>
          <a:blip r:embed="rId3"/>
          <a:stretch>
            <a:fillRect/>
          </a:stretch>
        </p:blipFill>
        <p:spPr>
          <a:xfrm>
            <a:off x="502920" y="1078992"/>
            <a:ext cx="3977640" cy="2148840"/>
          </a:xfrm>
          <a:prstGeom prst="rect">
            <a:avLst/>
          </a:prstGeom>
        </p:spPr>
      </p:pic>
      <p:pic>
        <p:nvPicPr>
          <p:cNvPr id="6" name="Image 1" descr="/home/claude/assets/boxplots.png"/>
          <p:cNvPicPr>
            <a:picLocks noChangeAspect="1"/>
          </p:cNvPicPr>
          <p:nvPr/>
        </p:nvPicPr>
        <p:blipFill>
          <a:blip r:embed="rId4"/>
          <a:stretch>
            <a:fillRect/>
          </a:stretch>
        </p:blipFill>
        <p:spPr>
          <a:xfrm>
            <a:off x="4681728" y="1078992"/>
            <a:ext cx="3959352" cy="2624328"/>
          </a:xfrm>
          <a:prstGeom prst="rect">
            <a:avLst/>
          </a:prstGeom>
        </p:spPr>
      </p:pic>
      <p:sp>
        <p:nvSpPr>
          <p:cNvPr id="7" name="Text 3"/>
          <p:cNvSpPr/>
          <p:nvPr/>
        </p:nvSpPr>
        <p:spPr>
          <a:xfrm>
            <a:off x="502920" y="3273552"/>
            <a:ext cx="39776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market_segment</a:t>
            </a:r>
            <a:endParaRPr lang="en-US" sz="1250" dirty="0"/>
          </a:p>
        </p:txBody>
      </p:sp>
      <p:sp>
        <p:nvSpPr>
          <p:cNvPr id="8" name="Text 4"/>
          <p:cNvSpPr/>
          <p:nvPr/>
        </p:nvSpPr>
        <p:spPr>
          <a:xfrm>
            <a:off x="502920" y="3493008"/>
            <a:ext cx="3977640" cy="56692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Online TA mendominasi dengan 4.924 booking (48,8%). Groups hanya 845 booking, tetapi secara operasional punya karakter pembatalan yang berbeda dari tamu individual.</a:t>
            </a:r>
            <a:endParaRPr lang="en-US" sz="950" dirty="0"/>
          </a:p>
        </p:txBody>
      </p:sp>
      <p:sp>
        <p:nvSpPr>
          <p:cNvPr id="9" name="Text 5"/>
          <p:cNvSpPr/>
          <p:nvPr/>
        </p:nvSpPr>
        <p:spPr>
          <a:xfrm>
            <a:off x="4681728" y="3767328"/>
            <a:ext cx="3959352"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Boxplot fitur numerik (output notebook)</a:t>
            </a:r>
            <a:endParaRPr lang="en-US" sz="1250" dirty="0"/>
          </a:p>
        </p:txBody>
      </p:sp>
      <p:sp>
        <p:nvSpPr>
          <p:cNvPr id="10" name="Text 6"/>
          <p:cNvSpPr/>
          <p:nvPr/>
        </p:nvSpPr>
        <p:spPr>
          <a:xfrm>
            <a:off x="4681728" y="3986784"/>
            <a:ext cx="3959352" cy="56692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previous_cancellations dan days_in_waiting_list sangat miring: median 0, maksimum 26 dan 391. Mayoritas tamu tidak pernah membatalkan dan tidak pernah masuk daftar tunggu.</a:t>
            </a:r>
            <a:endParaRPr lang="en-US" sz="950" dirty="0"/>
          </a:p>
        </p:txBody>
      </p:sp>
      <p:sp>
        <p:nvSpPr>
          <p:cNvPr id="11" name="Shape 7"/>
          <p:cNvSpPr/>
          <p:nvPr/>
        </p:nvSpPr>
        <p:spPr>
          <a:xfrm>
            <a:off x="502920" y="4169664"/>
            <a:ext cx="3977640" cy="475488"/>
          </a:xfrm>
          <a:prstGeom prst="roundRect">
            <a:avLst>
              <a:gd name="adj" fmla="val 1153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8"/>
          <p:cNvSpPr/>
          <p:nvPr/>
        </p:nvSpPr>
        <p:spPr>
          <a:xfrm>
            <a:off x="658368" y="4261104"/>
            <a:ext cx="3703320" cy="292608"/>
          </a:xfrm>
          <a:prstGeom prst="rect">
            <a:avLst/>
          </a:prstGeom>
          <a:noFill/>
          <a:ln/>
        </p:spPr>
        <p:txBody>
          <a:bodyPr wrap="square" lIns="0" tIns="0" rIns="0" bIns="0" rtlCol="0" anchor="t"/>
          <a:lstStyle/>
          <a:p>
            <a:pPr marL="0" indent="0">
              <a:lnSpc>
                <a:spcPts val="1197"/>
              </a:lnSpc>
              <a:buNone/>
            </a:pPr>
            <a:r>
              <a:rPr lang="en-US" sz="900" dirty="0">
                <a:solidFill>
                  <a:srgbClr val="B3392E"/>
                </a:solidFill>
                <a:latin typeface="Calibri" pitchFamily="34" charset="0"/>
                <a:ea typeface="Calibri" pitchFamily="34" charset="-122"/>
                <a:cs typeface="Calibri" pitchFamily="34" charset="-120"/>
              </a:rPr>
              <a:t>Belum ada analisis bivariat (cancellation rate per kategori) — lihat slide rekomendasi.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Tipe kamar dan konsentrasi pada kelas 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18</a:t>
            </a:r>
            <a:endParaRPr lang="en-US" sz="900" dirty="0"/>
          </a:p>
        </p:txBody>
      </p:sp>
      <p:pic>
        <p:nvPicPr>
          <p:cNvPr id="5" name="Image 0" descr="/home/claude/assets/room_type.png"/>
          <p:cNvPicPr>
            <a:picLocks noChangeAspect="1"/>
          </p:cNvPicPr>
          <p:nvPr/>
        </p:nvPicPr>
        <p:blipFill>
          <a:blip r:embed="rId3"/>
          <a:stretch>
            <a:fillRect/>
          </a:stretch>
        </p:blipFill>
        <p:spPr>
          <a:xfrm>
            <a:off x="502920" y="1097280"/>
            <a:ext cx="5074920" cy="2340864"/>
          </a:xfrm>
          <a:prstGeom prst="rect">
            <a:avLst/>
          </a:prstGeom>
        </p:spPr>
      </p:pic>
      <p:sp>
        <p:nvSpPr>
          <p:cNvPr id="6" name="Shape 3"/>
          <p:cNvSpPr/>
          <p:nvPr/>
        </p:nvSpPr>
        <p:spPr>
          <a:xfrm>
            <a:off x="5760720" y="1097280"/>
            <a:ext cx="2880360" cy="2340864"/>
          </a:xfrm>
          <a:prstGeom prst="roundRect">
            <a:avLst>
              <a:gd name="adj" fmla="val 234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navy.png"/>
          <p:cNvPicPr>
            <a:picLocks noChangeAspect="1"/>
          </p:cNvPicPr>
          <p:nvPr/>
        </p:nvPicPr>
        <p:blipFill>
          <a:blip r:embed="rId4"/>
          <a:stretch>
            <a:fillRect/>
          </a:stretch>
        </p:blipFill>
        <p:spPr>
          <a:xfrm>
            <a:off x="5961888" y="1261872"/>
            <a:ext cx="256032" cy="256032"/>
          </a:xfrm>
          <a:prstGeom prst="rect">
            <a:avLst/>
          </a:prstGeom>
        </p:spPr>
      </p:pic>
      <p:sp>
        <p:nvSpPr>
          <p:cNvPr id="8" name="Text 4"/>
          <p:cNvSpPr/>
          <p:nvPr/>
        </p:nvSpPr>
        <p:spPr>
          <a:xfrm>
            <a:off x="5961888" y="1591056"/>
            <a:ext cx="256032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Yang perlu diperhatikan</a:t>
            </a:r>
            <a:endParaRPr lang="en-US" sz="1250" dirty="0"/>
          </a:p>
        </p:txBody>
      </p:sp>
      <p:sp>
        <p:nvSpPr>
          <p:cNvPr id="9" name="Text 5"/>
          <p:cNvSpPr/>
          <p:nvPr/>
        </p:nvSpPr>
        <p:spPr>
          <a:xfrm>
            <a:off x="5943600" y="1883664"/>
            <a:ext cx="2514600" cy="1395740"/>
          </a:xfrm>
          <a:prstGeom prst="rect">
            <a:avLst/>
          </a:prstGeom>
          <a:noFill/>
          <a:ln/>
        </p:spPr>
        <p:txBody>
          <a:bodyPr wrap="square" lIns="0" tIns="0" rIns="0" bIns="0" rtlCol="0" anchor="t"/>
          <a:lstStyle/>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Tipe A mendominasi dengan 4.566 booking (45,2%)</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Tiga tipe teratas (A, D, E) mencakup 77,7% seluruh pemesanan</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Tipe P hanya 4 baris dan tipe L hanya 2 baris</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Kategori sekecil itu tidak cukup untuk dipelajari model</a:t>
            </a:r>
            <a:endParaRPr lang="en-US" sz="880" dirty="0"/>
          </a:p>
        </p:txBody>
      </p:sp>
      <p:sp>
        <p:nvSpPr>
          <p:cNvPr id="10" name="Shape 6"/>
          <p:cNvSpPr/>
          <p:nvPr/>
        </p:nvSpPr>
        <p:spPr>
          <a:xfrm>
            <a:off x="502920" y="3602736"/>
            <a:ext cx="8138160" cy="969264"/>
          </a:xfrm>
          <a:prstGeom prst="roundRect">
            <a:avLst>
              <a:gd name="adj" fmla="val 566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warn_orange.png"/>
          <p:cNvPicPr>
            <a:picLocks noChangeAspect="1"/>
          </p:cNvPicPr>
          <p:nvPr/>
        </p:nvPicPr>
        <p:blipFill>
          <a:blip r:embed="rId5"/>
          <a:stretch>
            <a:fillRect/>
          </a:stretch>
        </p:blipFill>
        <p:spPr>
          <a:xfrm>
            <a:off x="713232" y="3785616"/>
            <a:ext cx="256032" cy="256032"/>
          </a:xfrm>
          <a:prstGeom prst="rect">
            <a:avLst/>
          </a:prstGeom>
        </p:spPr>
      </p:pic>
      <p:sp>
        <p:nvSpPr>
          <p:cNvPr id="12" name="Text 7"/>
          <p:cNvSpPr/>
          <p:nvPr/>
        </p:nvSpPr>
        <p:spPr>
          <a:xfrm>
            <a:off x="1097280" y="3767328"/>
            <a:ext cx="45720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Konsekuensi untuk keandalan prediksi</a:t>
            </a:r>
            <a:endParaRPr lang="en-US" sz="1250" dirty="0"/>
          </a:p>
        </p:txBody>
      </p:sp>
      <p:sp>
        <p:nvSpPr>
          <p:cNvPr id="13" name="Text 8"/>
          <p:cNvSpPr/>
          <p:nvPr/>
        </p:nvSpPr>
        <p:spPr>
          <a:xfrm>
            <a:off x="1097280" y="4023360"/>
            <a:ext cx="7360920" cy="50292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Setelah train–test split 80:20, tipe kamar P dan L kemungkinan besar hanya muncul di salah satu set. Prediksi model untuk booking dengan tipe kamar langka ini praktis tidak bisa dipercaya. Solusinya: gabungkan tipe kamar berfrekuensi rendah ke satu kategori "Lainnya" sebelum encoding.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Asal tamu terpusat di Eropa dengan ekor panjang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19</a:t>
            </a:r>
            <a:endParaRPr lang="en-US" sz="900" dirty="0"/>
          </a:p>
        </p:txBody>
      </p:sp>
      <p:pic>
        <p:nvPicPr>
          <p:cNvPr id="5" name="Image 0" descr="/home/claude/assets/country_dist.png"/>
          <p:cNvPicPr>
            <a:picLocks noChangeAspect="1"/>
          </p:cNvPicPr>
          <p:nvPr/>
        </p:nvPicPr>
        <p:blipFill>
          <a:blip r:embed="rId3"/>
          <a:stretch>
            <a:fillRect/>
          </a:stretch>
        </p:blipFill>
        <p:spPr>
          <a:xfrm>
            <a:off x="502920" y="1097280"/>
            <a:ext cx="4846320" cy="2240280"/>
          </a:xfrm>
          <a:prstGeom prst="rect">
            <a:avLst/>
          </a:prstGeom>
        </p:spPr>
      </p:pic>
      <p:sp>
        <p:nvSpPr>
          <p:cNvPr id="6" name="Shape 3"/>
          <p:cNvSpPr/>
          <p:nvPr/>
        </p:nvSpPr>
        <p:spPr>
          <a:xfrm>
            <a:off x="5532120" y="1097280"/>
            <a:ext cx="3108960" cy="2240280"/>
          </a:xfrm>
          <a:prstGeom prst="roundRect">
            <a:avLst>
              <a:gd name="adj" fmla="val 244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navy.png"/>
          <p:cNvPicPr>
            <a:picLocks noChangeAspect="1"/>
          </p:cNvPicPr>
          <p:nvPr/>
        </p:nvPicPr>
        <p:blipFill>
          <a:blip r:embed="rId4"/>
          <a:stretch>
            <a:fillRect/>
          </a:stretch>
        </p:blipFill>
        <p:spPr>
          <a:xfrm>
            <a:off x="5733288" y="1261872"/>
            <a:ext cx="256032" cy="256032"/>
          </a:xfrm>
          <a:prstGeom prst="rect">
            <a:avLst/>
          </a:prstGeom>
        </p:spPr>
      </p:pic>
      <p:sp>
        <p:nvSpPr>
          <p:cNvPr id="8" name="Text 4"/>
          <p:cNvSpPr/>
          <p:nvPr/>
        </p:nvSpPr>
        <p:spPr>
          <a:xfrm>
            <a:off x="5733288" y="1591056"/>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Struktur distribusi</a:t>
            </a:r>
            <a:endParaRPr lang="en-US" sz="1250" dirty="0"/>
          </a:p>
        </p:txBody>
      </p:sp>
      <p:sp>
        <p:nvSpPr>
          <p:cNvPr id="9" name="Text 5"/>
          <p:cNvSpPr/>
          <p:nvPr/>
        </p:nvSpPr>
        <p:spPr>
          <a:xfrm>
            <a:off x="5715000" y="1883664"/>
            <a:ext cx="2743200" cy="1395740"/>
          </a:xfrm>
          <a:prstGeom prst="rect">
            <a:avLst/>
          </a:prstGeom>
          <a:noFill/>
          <a:ln/>
        </p:spPr>
        <p:txBody>
          <a:bodyPr wrap="square" lIns="0" tIns="0" rIns="0" bIns="0" rtlCol="0" anchor="t"/>
          <a:lstStyle/>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Portugal (PRT) menyumbang 19,9% booking — lokasi hotel kemungkinan di Portugal</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Lima negara teratas mencakup 43,8% data</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157 negara sisanya berbagi 5.672 booking</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Banyak negara hanya punya 1 baris (DMA, KIR, MYT, KNA, AIA)</a:t>
            </a:r>
            <a:endParaRPr lang="en-US" sz="880" dirty="0"/>
          </a:p>
        </p:txBody>
      </p:sp>
      <p:pic>
        <p:nvPicPr>
          <p:cNvPr id="10" name="Image 2" descr="/home/claude/assets/boxplots.png"/>
          <p:cNvPicPr>
            <a:picLocks noChangeAspect="1"/>
          </p:cNvPicPr>
          <p:nvPr/>
        </p:nvPicPr>
        <p:blipFill>
          <a:blip r:embed="rId5"/>
          <a:stretch>
            <a:fillRect/>
          </a:stretch>
        </p:blipFill>
        <p:spPr>
          <a:xfrm>
            <a:off x="502920" y="3456432"/>
            <a:ext cx="3931920" cy="1188720"/>
          </a:xfrm>
          <a:prstGeom prst="rect">
            <a:avLst/>
          </a:prstGeom>
        </p:spPr>
      </p:pic>
      <p:sp>
        <p:nvSpPr>
          <p:cNvPr id="11" name="Text 6"/>
          <p:cNvSpPr/>
          <p:nvPr/>
        </p:nvSpPr>
        <p:spPr>
          <a:xfrm>
            <a:off x="4617720" y="3493008"/>
            <a:ext cx="40233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Sebaran fitur numerik (output notebook)</a:t>
            </a:r>
            <a:endParaRPr lang="en-US" sz="1250" dirty="0"/>
          </a:p>
        </p:txBody>
      </p:sp>
      <p:sp>
        <p:nvSpPr>
          <p:cNvPr id="12" name="Text 7"/>
          <p:cNvSpPr/>
          <p:nvPr/>
        </p:nvSpPr>
        <p:spPr>
          <a:xfrm>
            <a:off x="4617720" y="3730752"/>
            <a:ext cx="4023360" cy="91440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Boxplot menegaskan temuan dari statistik deskriptif: previous_cancellations, days_in_waiting_list, dan required_car_parking_spaces sangat terpusat di nol dengan sedikit nilai ekstrem. Pola seperti ini membuat fitur tersebut hanya membedakan minoritas booking — tetapi justru minoritas itulah yang paling relevan untuk prediksi pembatalan.</a:t>
            </a:r>
            <a:endParaRPr lang="en-US" sz="9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ANALISIS BIVARIAT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Non Refund justru paling sering dibatalkan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20</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Cancellation rate per kategori deposit. Garis putus-putus adalah rata-rata keseluruhan 23,8%.</a:t>
            </a:r>
            <a:endParaRPr lang="en-US" sz="1050" dirty="0"/>
          </a:p>
        </p:txBody>
      </p:sp>
      <p:pic>
        <p:nvPicPr>
          <p:cNvPr id="6" name="Image 0" descr="/home/claude/assets/biv_deposit.png"/>
          <p:cNvPicPr>
            <a:picLocks noChangeAspect="1"/>
          </p:cNvPicPr>
          <p:nvPr/>
        </p:nvPicPr>
        <p:blipFill>
          <a:blip r:embed="rId3"/>
          <a:stretch>
            <a:fillRect/>
          </a:stretch>
        </p:blipFill>
        <p:spPr>
          <a:xfrm>
            <a:off x="502920" y="1243584"/>
            <a:ext cx="5440680" cy="2139696"/>
          </a:xfrm>
          <a:prstGeom prst="rect">
            <a:avLst/>
          </a:prstGeom>
        </p:spPr>
      </p:pic>
      <p:sp>
        <p:nvSpPr>
          <p:cNvPr id="7" name="Shape 4"/>
          <p:cNvSpPr/>
          <p:nvPr/>
        </p:nvSpPr>
        <p:spPr>
          <a:xfrm>
            <a:off x="6080760" y="1243584"/>
            <a:ext cx="2560320" cy="2139696"/>
          </a:xfrm>
          <a:prstGeom prst="roundRect">
            <a:avLst>
              <a:gd name="adj" fmla="val 2564"/>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warn_orange.png"/>
          <p:cNvPicPr>
            <a:picLocks noChangeAspect="1"/>
          </p:cNvPicPr>
          <p:nvPr/>
        </p:nvPicPr>
        <p:blipFill>
          <a:blip r:embed="rId4"/>
          <a:stretch>
            <a:fillRect/>
          </a:stretch>
        </p:blipFill>
        <p:spPr>
          <a:xfrm>
            <a:off x="6263640" y="1408176"/>
            <a:ext cx="256032" cy="256032"/>
          </a:xfrm>
          <a:prstGeom prst="rect">
            <a:avLst/>
          </a:prstGeom>
        </p:spPr>
      </p:pic>
      <p:sp>
        <p:nvSpPr>
          <p:cNvPr id="9" name="Text 5"/>
          <p:cNvSpPr/>
          <p:nvPr/>
        </p:nvSpPr>
        <p:spPr>
          <a:xfrm>
            <a:off x="6263640" y="1737360"/>
            <a:ext cx="22860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Berlawanan dugaan</a:t>
            </a:r>
            <a:endParaRPr lang="en-US" sz="1250" dirty="0"/>
          </a:p>
        </p:txBody>
      </p:sp>
      <p:sp>
        <p:nvSpPr>
          <p:cNvPr id="10" name="Text 6"/>
          <p:cNvSpPr/>
          <p:nvPr/>
        </p:nvSpPr>
        <p:spPr>
          <a:xfrm>
            <a:off x="6245352" y="2029968"/>
            <a:ext cx="224028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89,2% booking Non Refund berakhir dibatalkan — hampir 4x rata-rata</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No Deposit justru paling aman: 22,5%</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Deposit bukan pencegah pembatalan, melainkan penanda booking yang sudah berisiko</a:t>
            </a:r>
            <a:endParaRPr lang="en-US" sz="860" dirty="0"/>
          </a:p>
        </p:txBody>
      </p:sp>
      <p:sp>
        <p:nvSpPr>
          <p:cNvPr id="11" name="Shape 7"/>
          <p:cNvSpPr/>
          <p:nvPr/>
        </p:nvSpPr>
        <p:spPr>
          <a:xfrm>
            <a:off x="502920" y="3511296"/>
            <a:ext cx="8138160" cy="1115568"/>
          </a:xfrm>
          <a:prstGeom prst="roundRect">
            <a:avLst>
              <a:gd name="adj" fmla="val 4918"/>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search_navy.png"/>
          <p:cNvPicPr>
            <a:picLocks noChangeAspect="1"/>
          </p:cNvPicPr>
          <p:nvPr/>
        </p:nvPicPr>
        <p:blipFill>
          <a:blip r:embed="rId5"/>
          <a:stretch>
            <a:fillRect/>
          </a:stretch>
        </p:blipFill>
        <p:spPr>
          <a:xfrm>
            <a:off x="713232" y="3694176"/>
            <a:ext cx="274320" cy="274320"/>
          </a:xfrm>
          <a:prstGeom prst="rect">
            <a:avLst/>
          </a:prstGeom>
        </p:spPr>
      </p:pic>
      <p:sp>
        <p:nvSpPr>
          <p:cNvPr id="13" name="Text 8"/>
          <p:cNvSpPr/>
          <p:nvPr/>
        </p:nvSpPr>
        <p:spPr>
          <a:xfrm>
            <a:off x="1115568" y="3675888"/>
            <a:ext cx="4572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Kemungkinan penjelasannya</a:t>
            </a:r>
            <a:endParaRPr lang="en-US" sz="1250" dirty="0"/>
          </a:p>
        </p:txBody>
      </p:sp>
      <p:sp>
        <p:nvSpPr>
          <p:cNvPr id="14" name="Text 9"/>
          <p:cNvSpPr/>
          <p:nvPr/>
        </p:nvSpPr>
        <p:spPr>
          <a:xfrm>
            <a:off x="1115568" y="3931920"/>
            <a:ext cx="7360920" cy="64008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Tarif Non Refund biasanya dijual lebih murah, sehingga menarik tamu yang memesan spekulatif dan rela kehilangan uangnya bila rencana berubah. Bisa juga hotel menerapkan syarat Non Refund pada segmen yang sudah diketahui berisiko. Yang perlu ditekankan: ini pola asosiasi dalam data, penyebab pastinya hanya bisa dipastikan lewat konfirmasi ke tim operasional hotel.</a:t>
            </a:r>
            <a:endParaRPr lang="en-US" sz="980" dirty="0"/>
          </a:p>
          <a:p>
            <a:pPr marL="0" indent="0">
              <a:lnSpc>
                <a:spcPts val="1303"/>
              </a:lnSpc>
              <a:buNone/>
            </a:pPr>
            <a:endParaRPr lang="en-US" sz="980" dirty="0"/>
          </a:p>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Konsekuensi praktis: rekomendasi "perluas tarif Non Refund" tidak didukung data ini dan sebaiknya tidak diajukan.</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ANALISIS BIVARIAT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Online TA dan tamu Transient paling berisiko</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21</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Cancellation rate per kanal pemesanan dan tipe tamu. Garis putus-putus adalah rata-rata 23,8%.</a:t>
            </a:r>
            <a:endParaRPr lang="en-US" sz="1050" dirty="0"/>
          </a:p>
        </p:txBody>
      </p:sp>
      <p:pic>
        <p:nvPicPr>
          <p:cNvPr id="6" name="Image 0" descr="/home/claude/assets/biv_segment.png"/>
          <p:cNvPicPr>
            <a:picLocks noChangeAspect="1"/>
          </p:cNvPicPr>
          <p:nvPr/>
        </p:nvPicPr>
        <p:blipFill>
          <a:blip r:embed="rId3"/>
          <a:stretch>
            <a:fillRect/>
          </a:stretch>
        </p:blipFill>
        <p:spPr>
          <a:xfrm>
            <a:off x="502920" y="1243584"/>
            <a:ext cx="8138160" cy="2468880"/>
          </a:xfrm>
          <a:prstGeom prst="rect">
            <a:avLst/>
          </a:prstGeom>
        </p:spPr>
      </p:pic>
      <p:sp>
        <p:nvSpPr>
          <p:cNvPr id="7" name="Shape 4"/>
          <p:cNvSpPr/>
          <p:nvPr/>
        </p:nvSpPr>
        <p:spPr>
          <a:xfrm>
            <a:off x="502920" y="3803904"/>
            <a:ext cx="3977640" cy="841248"/>
          </a:xfrm>
          <a:prstGeom prst="roundRect">
            <a:avLst>
              <a:gd name="adj" fmla="val 65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earch_orange.png"/>
          <p:cNvPicPr>
            <a:picLocks noChangeAspect="1"/>
          </p:cNvPicPr>
          <p:nvPr/>
        </p:nvPicPr>
        <p:blipFill>
          <a:blip r:embed="rId4"/>
          <a:stretch>
            <a:fillRect/>
          </a:stretch>
        </p:blipFill>
        <p:spPr>
          <a:xfrm>
            <a:off x="694944" y="3968496"/>
            <a:ext cx="237744" cy="237744"/>
          </a:xfrm>
          <a:prstGeom prst="rect">
            <a:avLst/>
          </a:prstGeom>
        </p:spPr>
      </p:pic>
      <p:sp>
        <p:nvSpPr>
          <p:cNvPr id="9" name="Text 5"/>
          <p:cNvSpPr/>
          <p:nvPr/>
        </p:nvSpPr>
        <p:spPr>
          <a:xfrm>
            <a:off x="1024128" y="3931920"/>
            <a:ext cx="3337560" cy="566928"/>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Online TA: 31,2% dari 4.924 booking. Kanal terbesar sekaligus paling berisiko — inilah gabungan volume dan risiko yang paling layak diintervensi.</a:t>
            </a:r>
            <a:endParaRPr lang="en-US" sz="950" dirty="0"/>
          </a:p>
        </p:txBody>
      </p:sp>
      <p:sp>
        <p:nvSpPr>
          <p:cNvPr id="10" name="Shape 6"/>
          <p:cNvSpPr/>
          <p:nvPr/>
        </p:nvSpPr>
        <p:spPr>
          <a:xfrm>
            <a:off x="4663440" y="3803904"/>
            <a:ext cx="3977640" cy="841248"/>
          </a:xfrm>
          <a:prstGeom prst="roundRect">
            <a:avLst>
              <a:gd name="adj" fmla="val 65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search_orange.png"/>
          <p:cNvPicPr>
            <a:picLocks noChangeAspect="1"/>
          </p:cNvPicPr>
          <p:nvPr/>
        </p:nvPicPr>
        <p:blipFill>
          <a:blip r:embed="rId4"/>
          <a:stretch>
            <a:fillRect/>
          </a:stretch>
        </p:blipFill>
        <p:spPr>
          <a:xfrm>
            <a:off x="4855464" y="3968496"/>
            <a:ext cx="237744" cy="237744"/>
          </a:xfrm>
          <a:prstGeom prst="rect">
            <a:avLst/>
          </a:prstGeom>
        </p:spPr>
      </p:pic>
      <p:sp>
        <p:nvSpPr>
          <p:cNvPr id="12" name="Text 7"/>
          <p:cNvSpPr/>
          <p:nvPr/>
        </p:nvSpPr>
        <p:spPr>
          <a:xfrm>
            <a:off x="5184648" y="3931920"/>
            <a:ext cx="3337560" cy="566928"/>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Transient: 29,0% dari 6.825 booking, lebih dari dua kali lipat Transient-Party (13,4%). Tamu individual jauh lebih mudah berubah rencana.</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03</a:t>
            </a:r>
            <a:endParaRPr lang="en-US" sz="5800" dirty="0"/>
          </a:p>
        </p:txBody>
      </p:sp>
      <p:pic>
        <p:nvPicPr>
          <p:cNvPr id="5" name="Image 0" descr="/home/claude/assets/ic_brain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Preprocessing &amp; Modeling</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Pipeline, benchmark algoritma, dan evaluasi</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PERSIAPAN DATA</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Feature Selection, Engineering, dan Pipeline</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502920"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1216152" y="1316736"/>
            <a:ext cx="502920" cy="502920"/>
          </a:xfrm>
          <a:prstGeom prst="roundRect">
            <a:avLst>
              <a:gd name="adj" fmla="val 18182"/>
            </a:avLst>
          </a:prstGeom>
          <a:solidFill>
            <a:srgbClr val="123A5E"/>
          </a:solidFill>
          <a:ln/>
        </p:spPr>
        <p:txBody>
          <a:bodyPr/>
          <a:lstStyle/>
          <a:p>
            <a:endParaRPr lang="en-ID"/>
          </a:p>
        </p:txBody>
      </p:sp>
      <p:pic>
        <p:nvPicPr>
          <p:cNvPr id="7" name="Image 0" descr="/home/claude/assets/ic_gear_white.png"/>
          <p:cNvPicPr>
            <a:picLocks noChangeAspect="1"/>
          </p:cNvPicPr>
          <p:nvPr/>
        </p:nvPicPr>
        <p:blipFill>
          <a:blip r:embed="rId3"/>
          <a:stretch>
            <a:fillRect/>
          </a:stretch>
        </p:blipFill>
        <p:spPr>
          <a:xfrm>
            <a:off x="1344168" y="1444752"/>
            <a:ext cx="256032" cy="256032"/>
          </a:xfrm>
          <a:prstGeom prst="rect">
            <a:avLst/>
          </a:prstGeom>
        </p:spPr>
      </p:pic>
      <p:sp>
        <p:nvSpPr>
          <p:cNvPr id="8" name="Text 5"/>
          <p:cNvSpPr/>
          <p:nvPr/>
        </p:nvSpPr>
        <p:spPr>
          <a:xfrm>
            <a:off x="612648"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Fitur Baru</a:t>
            </a:r>
            <a:endParaRPr lang="en-US" sz="1150" dirty="0"/>
          </a:p>
        </p:txBody>
      </p:sp>
      <p:sp>
        <p:nvSpPr>
          <p:cNvPr id="9" name="Text 6"/>
          <p:cNvSpPr/>
          <p:nvPr/>
        </p:nvSpPr>
        <p:spPr>
          <a:xfrm>
            <a:off x="630936"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has_previous_cancellations, is_domestic (country == PRT), dan has_high_booking_changes — tiga fitur turunan dari kolom asli.</a:t>
            </a:r>
            <a:endParaRPr lang="en-US" sz="880" dirty="0"/>
          </a:p>
        </p:txBody>
      </p:sp>
      <p:sp>
        <p:nvSpPr>
          <p:cNvPr id="10" name="Text 7"/>
          <p:cNvSpPr/>
          <p:nvPr/>
        </p:nvSpPr>
        <p:spPr>
          <a:xfrm>
            <a:off x="2441448"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2569464"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3282696" y="1316736"/>
            <a:ext cx="502920" cy="502920"/>
          </a:xfrm>
          <a:prstGeom prst="roundRect">
            <a:avLst>
              <a:gd name="adj" fmla="val 18182"/>
            </a:avLst>
          </a:prstGeom>
          <a:solidFill>
            <a:srgbClr val="123A5E"/>
          </a:solidFill>
          <a:ln/>
        </p:spPr>
        <p:txBody>
          <a:bodyPr/>
          <a:lstStyle/>
          <a:p>
            <a:endParaRPr lang="en-ID"/>
          </a:p>
        </p:txBody>
      </p:sp>
      <p:pic>
        <p:nvPicPr>
          <p:cNvPr id="13" name="Image 1" descr="/home/claude/assets/ic_data_white.png"/>
          <p:cNvPicPr>
            <a:picLocks noChangeAspect="1"/>
          </p:cNvPicPr>
          <p:nvPr/>
        </p:nvPicPr>
        <p:blipFill>
          <a:blip r:embed="rId4"/>
          <a:stretch>
            <a:fillRect/>
          </a:stretch>
        </p:blipFill>
        <p:spPr>
          <a:xfrm>
            <a:off x="3410712" y="1444752"/>
            <a:ext cx="256032" cy="256032"/>
          </a:xfrm>
          <a:prstGeom prst="rect">
            <a:avLst/>
          </a:prstGeom>
        </p:spPr>
      </p:pic>
      <p:sp>
        <p:nvSpPr>
          <p:cNvPr id="14" name="Text 10"/>
          <p:cNvSpPr/>
          <p:nvPr/>
        </p:nvSpPr>
        <p:spPr>
          <a:xfrm>
            <a:off x="2679192"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Numerik — 6 fitur</a:t>
            </a:r>
            <a:endParaRPr lang="en-US" sz="1150" dirty="0"/>
          </a:p>
        </p:txBody>
      </p:sp>
      <p:sp>
        <p:nvSpPr>
          <p:cNvPr id="15" name="Text 11"/>
          <p:cNvSpPr/>
          <p:nvPr/>
        </p:nvSpPr>
        <p:spPr>
          <a:xfrm>
            <a:off x="2697480"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SimpleImputer(median) lalu StandardScaler, termasuk is_domestic yang kini berupa 0/1.</a:t>
            </a:r>
            <a:endParaRPr lang="en-US" sz="880" dirty="0"/>
          </a:p>
        </p:txBody>
      </p:sp>
      <p:sp>
        <p:nvSpPr>
          <p:cNvPr id="16" name="Text 12"/>
          <p:cNvSpPr/>
          <p:nvPr/>
        </p:nvSpPr>
        <p:spPr>
          <a:xfrm>
            <a:off x="4507992"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17" name="Shape 13"/>
          <p:cNvSpPr/>
          <p:nvPr/>
        </p:nvSpPr>
        <p:spPr>
          <a:xfrm>
            <a:off x="4636008"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5349240" y="1316736"/>
            <a:ext cx="502920" cy="502920"/>
          </a:xfrm>
          <a:prstGeom prst="roundRect">
            <a:avLst>
              <a:gd name="adj" fmla="val 18182"/>
            </a:avLst>
          </a:prstGeom>
          <a:solidFill>
            <a:srgbClr val="123A5E"/>
          </a:solidFill>
          <a:ln/>
        </p:spPr>
        <p:txBody>
          <a:bodyPr/>
          <a:lstStyle/>
          <a:p>
            <a:endParaRPr lang="en-ID"/>
          </a:p>
        </p:txBody>
      </p:sp>
      <p:pic>
        <p:nvPicPr>
          <p:cNvPr id="19" name="Image 2" descr="/home/claude/assets/ic_warn_white.png"/>
          <p:cNvPicPr>
            <a:picLocks noChangeAspect="1"/>
          </p:cNvPicPr>
          <p:nvPr/>
        </p:nvPicPr>
        <p:blipFill>
          <a:blip r:embed="rId5"/>
          <a:stretch>
            <a:fillRect/>
          </a:stretch>
        </p:blipFill>
        <p:spPr>
          <a:xfrm>
            <a:off x="5477256" y="1444752"/>
            <a:ext cx="256032" cy="256032"/>
          </a:xfrm>
          <a:prstGeom prst="rect">
            <a:avLst/>
          </a:prstGeom>
        </p:spPr>
      </p:pic>
      <p:sp>
        <p:nvSpPr>
          <p:cNvPr id="20" name="Text 15"/>
          <p:cNvSpPr/>
          <p:nvPr/>
        </p:nvSpPr>
        <p:spPr>
          <a:xfrm>
            <a:off x="4745736"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2 kolom dibuang total</a:t>
            </a:r>
            <a:endParaRPr lang="en-US" sz="1150" dirty="0"/>
          </a:p>
        </p:txBody>
      </p:sp>
      <p:sp>
        <p:nvSpPr>
          <p:cNvPr id="21" name="Text 16"/>
          <p:cNvSpPr/>
          <p:nvPr/>
        </p:nvSpPr>
        <p:spPr>
          <a:xfrm>
            <a:off x="4764024"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country (162 kategori) dan reserved_room_type dihapus sepenuhnya — bukan digabung, tapi dikeluarkan dari model.</a:t>
            </a:r>
            <a:endParaRPr lang="en-US" sz="880" dirty="0"/>
          </a:p>
        </p:txBody>
      </p:sp>
      <p:sp>
        <p:nvSpPr>
          <p:cNvPr id="22" name="Text 17"/>
          <p:cNvSpPr/>
          <p:nvPr/>
        </p:nvSpPr>
        <p:spPr>
          <a:xfrm>
            <a:off x="6574536"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23" name="Shape 18"/>
          <p:cNvSpPr/>
          <p:nvPr/>
        </p:nvSpPr>
        <p:spPr>
          <a:xfrm>
            <a:off x="6702552"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7415784" y="1316736"/>
            <a:ext cx="502920" cy="502920"/>
          </a:xfrm>
          <a:prstGeom prst="roundRect">
            <a:avLst>
              <a:gd name="adj" fmla="val 18182"/>
            </a:avLst>
          </a:prstGeom>
          <a:solidFill>
            <a:srgbClr val="123A5E"/>
          </a:solidFill>
          <a:ln/>
        </p:spPr>
        <p:txBody>
          <a:bodyPr/>
          <a:lstStyle/>
          <a:p>
            <a:endParaRPr lang="en-ID"/>
          </a:p>
        </p:txBody>
      </p:sp>
      <p:pic>
        <p:nvPicPr>
          <p:cNvPr id="25" name="Image 3" descr="/home/claude/assets/ic_list_white.png"/>
          <p:cNvPicPr>
            <a:picLocks noChangeAspect="1"/>
          </p:cNvPicPr>
          <p:nvPr/>
        </p:nvPicPr>
        <p:blipFill>
          <a:blip r:embed="rId6"/>
          <a:stretch>
            <a:fillRect/>
          </a:stretch>
        </p:blipFill>
        <p:spPr>
          <a:xfrm>
            <a:off x="7543800" y="1444752"/>
            <a:ext cx="256032" cy="256032"/>
          </a:xfrm>
          <a:prstGeom prst="rect">
            <a:avLst/>
          </a:prstGeom>
        </p:spPr>
      </p:pic>
      <p:sp>
        <p:nvSpPr>
          <p:cNvPr id="26" name="Text 20"/>
          <p:cNvSpPr/>
          <p:nvPr/>
        </p:nvSpPr>
        <p:spPr>
          <a:xfrm>
            <a:off x="6812280"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Kategorik lain — 3 fitur</a:t>
            </a:r>
            <a:endParaRPr lang="en-US" sz="1150" dirty="0"/>
          </a:p>
        </p:txBody>
      </p:sp>
      <p:sp>
        <p:nvSpPr>
          <p:cNvPr id="27" name="Text 21"/>
          <p:cNvSpPr/>
          <p:nvPr/>
        </p:nvSpPr>
        <p:spPr>
          <a:xfrm>
            <a:off x="6830568"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market_segment, deposit_type, customer_type diproses dengan OneHotEncoder.</a:t>
            </a:r>
            <a:endParaRPr lang="en-US" sz="880" dirty="0"/>
          </a:p>
        </p:txBody>
      </p:sp>
      <p:sp>
        <p:nvSpPr>
          <p:cNvPr id="28" name="Shape 22"/>
          <p:cNvSpPr/>
          <p:nvPr/>
        </p:nvSpPr>
        <p:spPr>
          <a:xfrm>
            <a:off x="502920" y="3474720"/>
            <a:ext cx="8138160" cy="932688"/>
          </a:xfrm>
          <a:prstGeom prst="roundRect">
            <a:avLst>
              <a:gd name="adj" fmla="val 588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9" name="Image 4" descr="/home/claude/assets/ic_check_navy.png"/>
          <p:cNvPicPr>
            <a:picLocks noChangeAspect="1"/>
          </p:cNvPicPr>
          <p:nvPr/>
        </p:nvPicPr>
        <p:blipFill>
          <a:blip r:embed="rId7"/>
          <a:stretch>
            <a:fillRect/>
          </a:stretch>
        </p:blipFill>
        <p:spPr>
          <a:xfrm>
            <a:off x="713232" y="3657600"/>
            <a:ext cx="256032" cy="256032"/>
          </a:xfrm>
          <a:prstGeom prst="rect">
            <a:avLst/>
          </a:prstGeom>
        </p:spPr>
      </p:pic>
      <p:sp>
        <p:nvSpPr>
          <p:cNvPr id="30" name="Text 23"/>
          <p:cNvSpPr/>
          <p:nvPr/>
        </p:nvSpPr>
        <p:spPr>
          <a:xfrm>
            <a:off x="1097280" y="3639312"/>
            <a:ext cx="2286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Train–Test Split</a:t>
            </a:r>
            <a:endParaRPr lang="en-US" sz="1250" dirty="0"/>
          </a:p>
        </p:txBody>
      </p:sp>
      <p:sp>
        <p:nvSpPr>
          <p:cNvPr id="31" name="Text 24"/>
          <p:cNvSpPr/>
          <p:nvPr/>
        </p:nvSpPr>
        <p:spPr>
          <a:xfrm>
            <a:off x="1097280" y="3895344"/>
            <a:ext cx="7360920" cy="502920"/>
          </a:xfrm>
          <a:prstGeom prst="rect">
            <a:avLst/>
          </a:prstGeom>
          <a:noFill/>
          <a:ln/>
        </p:spPr>
        <p:txBody>
          <a:bodyPr wrap="square" lIns="0" tIns="0" rIns="0" bIns="0" rtlCol="0" anchor="t"/>
          <a:lstStyle/>
          <a:p>
            <a:pPr marL="0" indent="0">
              <a:lnSpc>
                <a:spcPts val="1277"/>
              </a:lnSpc>
              <a:buNone/>
            </a:pPr>
            <a:r>
              <a:rPr lang="en-US" sz="960" dirty="0">
                <a:solidFill>
                  <a:srgbClr val="16202B"/>
                </a:solidFill>
                <a:latin typeface="Calibri" pitchFamily="34" charset="0"/>
                <a:ea typeface="Calibri" pitchFamily="34" charset="-122"/>
                <a:cs typeface="Calibri" pitchFamily="34" charset="-120"/>
              </a:rPr>
              <a:t>80 : 20 dengan stratify=y dan random_state=42 → 8.077 baris latih dan 2.020 baris uji. Setelah preprocessing, dimensi input turun tajam dari 32 menjadi 21 kolom — TargetEncoder tidak lagi diperlukan karena country sudah disederhanakan sebelum masuk pipeline. Seluruh langkah dibungkus Pipeline + ColumnTransformer, di-fit ulang pada tiap fold saat cross-validation.</a:t>
            </a:r>
            <a:endParaRPr lang="en-US" sz="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Benchmark 7 algoritma dengan Stratified 5-Fold CV</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24</a:t>
            </a:r>
            <a:endParaRPr lang="en-US" sz="900" dirty="0"/>
          </a:p>
        </p:txBody>
      </p:sp>
      <p:sp>
        <p:nvSpPr>
          <p:cNvPr id="5" name="Text 3"/>
          <p:cNvSpPr/>
          <p:nvPr/>
        </p:nvSpPr>
        <p:spPr>
          <a:xfrm>
            <a:off x="502920" y="950976"/>
            <a:ext cx="8138160" cy="274320"/>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Setiap model dilatih 5 kali pada pembagian data berbeda; skor adalah rata-rata kelima fold.</a:t>
            </a:r>
            <a:endParaRPr lang="en-US" sz="1050" dirty="0"/>
          </a:p>
        </p:txBody>
      </p:sp>
      <p:pic>
        <p:nvPicPr>
          <p:cNvPr id="6" name="Image 0" descr="/home/claude/assets/bench_v2.png"/>
          <p:cNvPicPr>
            <a:picLocks noChangeAspect="1"/>
          </p:cNvPicPr>
          <p:nvPr/>
        </p:nvPicPr>
        <p:blipFill>
          <a:blip r:embed="rId3"/>
          <a:stretch>
            <a:fillRect/>
          </a:stretch>
        </p:blipFill>
        <p:spPr>
          <a:xfrm>
            <a:off x="502920" y="1261872"/>
            <a:ext cx="5349240" cy="2212848"/>
          </a:xfrm>
          <a:prstGeom prst="rect">
            <a:avLst/>
          </a:prstGeom>
        </p:spPr>
      </p:pic>
      <p:sp>
        <p:nvSpPr>
          <p:cNvPr id="7" name="Shape 4"/>
          <p:cNvSpPr/>
          <p:nvPr/>
        </p:nvSpPr>
        <p:spPr>
          <a:xfrm>
            <a:off x="6035040" y="1261872"/>
            <a:ext cx="2606040" cy="2212848"/>
          </a:xfrm>
          <a:prstGeom prst="roundRect">
            <a:avLst>
              <a:gd name="adj" fmla="val 247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gear_navy.png"/>
          <p:cNvPicPr>
            <a:picLocks noChangeAspect="1"/>
          </p:cNvPicPr>
          <p:nvPr/>
        </p:nvPicPr>
        <p:blipFill>
          <a:blip r:embed="rId4"/>
          <a:stretch>
            <a:fillRect/>
          </a:stretch>
        </p:blipFill>
        <p:spPr>
          <a:xfrm>
            <a:off x="6217920" y="1426464"/>
            <a:ext cx="256032" cy="256032"/>
          </a:xfrm>
          <a:prstGeom prst="rect">
            <a:avLst/>
          </a:prstGeom>
        </p:spPr>
      </p:pic>
      <p:sp>
        <p:nvSpPr>
          <p:cNvPr id="9" name="Text 5"/>
          <p:cNvSpPr/>
          <p:nvPr/>
        </p:nvSpPr>
        <p:spPr>
          <a:xfrm>
            <a:off x="6217920" y="1755648"/>
            <a:ext cx="2286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Aturan pemilihan</a:t>
            </a:r>
            <a:endParaRPr lang="en-US" sz="1250" dirty="0"/>
          </a:p>
        </p:txBody>
      </p:sp>
      <p:sp>
        <p:nvSpPr>
          <p:cNvPr id="10" name="Text 6"/>
          <p:cNvSpPr/>
          <p:nvPr/>
        </p:nvSpPr>
        <p:spPr>
          <a:xfrm>
            <a:off x="6199632" y="2029968"/>
            <a:ext cx="2240280" cy="1348923"/>
          </a:xfrm>
          <a:prstGeom prst="rect">
            <a:avLst/>
          </a:prstGeom>
          <a:noFill/>
          <a:ln/>
        </p:spPr>
        <p:txBody>
          <a:bodyPr wrap="square" lIns="0" tIns="0" rIns="0" bIns="0" rtlCol="0" anchor="t"/>
          <a:lstStyle/>
          <a:p>
            <a:pPr marL="342900" indent="-342900">
              <a:lnSpc>
                <a:spcPts val="1092"/>
              </a:lnSpc>
              <a:spcAft>
                <a:spcPts val="500"/>
              </a:spcAft>
              <a:buSzPct val="100000"/>
              <a:buChar char="•"/>
            </a:pPr>
            <a:r>
              <a:rPr lang="en-US" sz="840" dirty="0">
                <a:solidFill>
                  <a:srgbClr val="16202B"/>
                </a:solidFill>
                <a:latin typeface="Calibri" pitchFamily="34" charset="0"/>
                <a:ea typeface="Calibri" pitchFamily="34" charset="-122"/>
                <a:cs typeface="Calibri" pitchFamily="34" charset="-120"/>
              </a:rPr>
              <a:t>Saring dulu model dengan Avg Precision minimal 0,40</a:t>
            </a:r>
            <a:endParaRPr lang="en-US" sz="840" dirty="0"/>
          </a:p>
          <a:p>
            <a:pPr marL="342900" indent="-342900">
              <a:lnSpc>
                <a:spcPts val="1092"/>
              </a:lnSpc>
              <a:spcAft>
                <a:spcPts val="500"/>
              </a:spcAft>
              <a:buSzPct val="100000"/>
              <a:buChar char="•"/>
            </a:pPr>
            <a:r>
              <a:rPr lang="en-US" sz="840" dirty="0">
                <a:solidFill>
                  <a:srgbClr val="16202B"/>
                </a:solidFill>
                <a:latin typeface="Calibri" pitchFamily="34" charset="0"/>
                <a:ea typeface="Calibri" pitchFamily="34" charset="-122"/>
                <a:cs typeface="Calibri" pitchFamily="34" charset="-120"/>
              </a:rPr>
              <a:t>Dari kandidat itu, ambil Avg Recall tertinggi</a:t>
            </a:r>
            <a:endParaRPr lang="en-US" sz="840" dirty="0"/>
          </a:p>
          <a:p>
            <a:pPr marL="342900" indent="-342900">
              <a:lnSpc>
                <a:spcPts val="1092"/>
              </a:lnSpc>
              <a:spcAft>
                <a:spcPts val="500"/>
              </a:spcAft>
              <a:buSzPct val="100000"/>
              <a:buChar char="•"/>
            </a:pPr>
            <a:r>
              <a:rPr lang="en-US" sz="840" dirty="0">
                <a:solidFill>
                  <a:srgbClr val="16202B"/>
                </a:solidFill>
                <a:latin typeface="Calibri" pitchFamily="34" charset="0"/>
                <a:ea typeface="Calibri" pitchFamily="34" charset="-122"/>
                <a:cs typeface="Calibri" pitchFamily="34" charset="-120"/>
              </a:rPr>
              <a:t>Hasilnya: XGBoost (Recall 0,863; Precision 0,446)</a:t>
            </a:r>
            <a:endParaRPr lang="en-US" sz="840" dirty="0"/>
          </a:p>
          <a:p>
            <a:pPr marL="342900" indent="-342900">
              <a:lnSpc>
                <a:spcPts val="1092"/>
              </a:lnSpc>
              <a:spcAft>
                <a:spcPts val="500"/>
              </a:spcAft>
              <a:buSzPct val="100000"/>
              <a:buChar char="•"/>
            </a:pPr>
            <a:r>
              <a:rPr lang="en-US" sz="840" dirty="0">
                <a:solidFill>
                  <a:srgbClr val="16202B"/>
                </a:solidFill>
                <a:latin typeface="Calibri" pitchFamily="34" charset="0"/>
                <a:ea typeface="Calibri" pitchFamily="34" charset="-122"/>
                <a:cs typeface="Calibri" pitchFamily="34" charset="-120"/>
              </a:rPr>
              <a:t>Aturan ini ditulis sebagai kode, bukan dipilih manual</a:t>
            </a:r>
            <a:endParaRPr lang="en-US" sz="840" dirty="0"/>
          </a:p>
        </p:txBody>
      </p:sp>
      <p:sp>
        <p:nvSpPr>
          <p:cNvPr id="11" name="Shape 7"/>
          <p:cNvSpPr/>
          <p:nvPr/>
        </p:nvSpPr>
        <p:spPr>
          <a:xfrm>
            <a:off x="502920" y="3621024"/>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5"/>
          <a:stretch>
            <a:fillRect/>
          </a:stretch>
        </p:blipFill>
        <p:spPr>
          <a:xfrm>
            <a:off x="713232" y="3803904"/>
            <a:ext cx="256032" cy="256032"/>
          </a:xfrm>
          <a:prstGeom prst="rect">
            <a:avLst/>
          </a:prstGeom>
        </p:spPr>
      </p:pic>
      <p:sp>
        <p:nvSpPr>
          <p:cNvPr id="13" name="Text 8"/>
          <p:cNvSpPr/>
          <p:nvPr/>
        </p:nvSpPr>
        <p:spPr>
          <a:xfrm>
            <a:off x="1097280" y="3785616"/>
            <a:ext cx="4572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Mengapa syarat Precision perlu ada</a:t>
            </a:r>
            <a:endParaRPr lang="en-US" sz="1250" dirty="0"/>
          </a:p>
        </p:txBody>
      </p:sp>
      <p:sp>
        <p:nvSpPr>
          <p:cNvPr id="14" name="Text 9"/>
          <p:cNvSpPr/>
          <p:nvPr/>
        </p:nvSpPr>
        <p:spPr>
          <a:xfrm>
            <a:off x="1097280" y="4041648"/>
            <a:ext cx="7360920" cy="530352"/>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Tanpa ambang Precision, model dengan Recall tinggi tetapi Precision rendah akan selalu menang meski tidak berguna secara operasional. Ambang 0,40 memastikan minimal 4 dari 10 booking yang ditandai memang benar berisiko. XGBoost kini unggul telak — Recall-nya 0,863, lebih tinggi 0,038 dari kandidat terdekat (Decision Tree, 0,856), dan 0,015 di atas Precision minimum yang disyaratkan.</a:t>
            </a:r>
            <a:endParaRPr lang="en-US" sz="9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Rata-rata metrik lintas lima fold</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25</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Nilai rata-rata dari Stratified 5-Fold Cross-Validation pada data latih (8.077 baris). Diurutkan berdasarkan Avg Recall kelas positif.</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138160" cy="2267712"/>
        </p:xfrm>
        <a:graphic>
          <a:graphicData uri="http://schemas.openxmlformats.org/drawingml/2006/table">
            <a:tbl>
              <a:tblPr/>
              <a:tblGrid>
                <a:gridCol w="1874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880360">
                  <a:extLst>
                    <a:ext uri="{9D8B030D-6E8A-4147-A177-3AD203B41FA5}">
                      <a16:colId xmlns:a16="http://schemas.microsoft.com/office/drawing/2014/main" val="20005"/>
                    </a:ext>
                  </a:extLst>
                </a:gridCol>
              </a:tblGrid>
              <a:tr h="283464">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Algoritma</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Avg Recall</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Avg Precision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Avg F1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Avg AUC</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Catatan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XGBoost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0,863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0,446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0,588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0,832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Terpilih — Recall tertinggi yang lolos syarat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Decision Tree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0,856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0,442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0,583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0,806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Recall dekat, tapi AUC jauh lebih 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Random Forest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0,825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0,446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0,579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0,819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Setara Logistic Regression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Logistic Regression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0,825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0,452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0,584</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0,826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Precision &amp; F1 tertinggi kedua</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Gaussian Naive Bayes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0,809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0,406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0,535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0,796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Tetap lolos syarat, tapi F1 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K-Nearest Neighbors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0,534</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0,510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0,521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0,789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Turun tajam dibanding model lain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464">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Gradient Boosting</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0,304</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0,650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0,413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0,839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AUC tertinggi, Recall terendah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502920" y="3675888"/>
            <a:ext cx="8138160" cy="969264"/>
          </a:xfrm>
          <a:prstGeom prst="roundRect">
            <a:avLst>
              <a:gd name="adj" fmla="val 566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0" descr="/home/claude/assets/ic_warn_orange.png"/>
          <p:cNvPicPr>
            <a:picLocks noChangeAspect="1"/>
          </p:cNvPicPr>
          <p:nvPr/>
        </p:nvPicPr>
        <p:blipFill>
          <a:blip r:embed="rId3"/>
          <a:stretch>
            <a:fillRect/>
          </a:stretch>
        </p:blipFill>
        <p:spPr>
          <a:xfrm>
            <a:off x="713232" y="3858768"/>
            <a:ext cx="256032" cy="256032"/>
          </a:xfrm>
          <a:prstGeom prst="rect">
            <a:avLst/>
          </a:prstGeom>
        </p:spPr>
      </p:pic>
      <p:sp>
        <p:nvSpPr>
          <p:cNvPr id="9" name="Text 5"/>
          <p:cNvSpPr/>
          <p:nvPr/>
        </p:nvSpPr>
        <p:spPr>
          <a:xfrm>
            <a:off x="1097280" y="3840480"/>
            <a:ext cx="50292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Perubahan besar: semua model naik setelah country disederhanakan</a:t>
            </a:r>
            <a:endParaRPr lang="en-US" sz="1250" dirty="0"/>
          </a:p>
        </p:txBody>
      </p:sp>
      <p:sp>
        <p:nvSpPr>
          <p:cNvPr id="10" name="Text 6"/>
          <p:cNvSpPr/>
          <p:nvPr/>
        </p:nvSpPr>
        <p:spPr>
          <a:xfrm>
            <a:off x="1097280" y="4096512"/>
            <a:ext cx="7360920" cy="50292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Recall XGBoost naik dari 0,745 menjadi 0,863 hanya dengan mengganti country (162 kategori TargetEncoded) menjadi is_domestic (1 kolom biner). Pola serupa terjadi di semua model. Ini bukti bahwa 161 kategori negara bersampel kecil sebelumnya menambah derau, bukan sinyal — menyederhanakannya justru membantu semua algoritma, bukan cuma satu.</a:t>
            </a:r>
            <a:endParaRPr lang="en-US" sz="9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Ada sedikit kesenjangan train-test, wajar untuk XGBoost</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26</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Perbandingan metrik XGBoost pada data latih dan data uji.</a:t>
            </a:r>
            <a:endParaRPr lang="en-US" sz="1050" dirty="0"/>
          </a:p>
        </p:txBody>
      </p:sp>
      <p:pic>
        <p:nvPicPr>
          <p:cNvPr id="6" name="Image 0" descr="/home/claude/assets/traintest_v2.png"/>
          <p:cNvPicPr>
            <a:picLocks noChangeAspect="1"/>
          </p:cNvPicPr>
          <p:nvPr/>
        </p:nvPicPr>
        <p:blipFill>
          <a:blip r:embed="rId3"/>
          <a:stretch>
            <a:fillRect/>
          </a:stretch>
        </p:blipFill>
        <p:spPr>
          <a:xfrm>
            <a:off x="502920" y="1243584"/>
            <a:ext cx="5120640" cy="2002536"/>
          </a:xfrm>
          <a:prstGeom prst="rect">
            <a:avLst/>
          </a:prstGeom>
        </p:spPr>
      </p:pic>
      <p:sp>
        <p:nvSpPr>
          <p:cNvPr id="7" name="Shape 4"/>
          <p:cNvSpPr/>
          <p:nvPr/>
        </p:nvSpPr>
        <p:spPr>
          <a:xfrm>
            <a:off x="5806440" y="1243584"/>
            <a:ext cx="2834640" cy="2002536"/>
          </a:xfrm>
          <a:prstGeom prst="roundRect">
            <a:avLst>
              <a:gd name="adj" fmla="val 2740"/>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check_navy.png"/>
          <p:cNvPicPr>
            <a:picLocks noChangeAspect="1"/>
          </p:cNvPicPr>
          <p:nvPr/>
        </p:nvPicPr>
        <p:blipFill>
          <a:blip r:embed="rId4"/>
          <a:stretch>
            <a:fillRect/>
          </a:stretch>
        </p:blipFill>
        <p:spPr>
          <a:xfrm>
            <a:off x="5998464" y="1408176"/>
            <a:ext cx="256032" cy="256032"/>
          </a:xfrm>
          <a:prstGeom prst="rect">
            <a:avLst/>
          </a:prstGeom>
        </p:spPr>
      </p:pic>
      <p:sp>
        <p:nvSpPr>
          <p:cNvPr id="9" name="Text 5"/>
          <p:cNvSpPr/>
          <p:nvPr/>
        </p:nvSpPr>
        <p:spPr>
          <a:xfrm>
            <a:off x="5998464" y="1737360"/>
            <a:ext cx="256032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Pembacaan</a:t>
            </a:r>
            <a:endParaRPr lang="en-US" sz="1250" dirty="0"/>
          </a:p>
        </p:txBody>
      </p:sp>
      <p:sp>
        <p:nvSpPr>
          <p:cNvPr id="10" name="Text 6"/>
          <p:cNvSpPr/>
          <p:nvPr/>
        </p:nvSpPr>
        <p:spPr>
          <a:xfrm>
            <a:off x="5980176" y="2029968"/>
            <a:ext cx="251460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Selisih Recall 0,041 dan Precision 0,013</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Skor latih lebih tinggi dari uji — arah yang wajar, bukan tanda bahaya</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Avg Recall lintas 5 fold (0,863) dekat dengan skor test (0,863)</a:t>
            </a:r>
            <a:endParaRPr lang="en-US" sz="860" dirty="0"/>
          </a:p>
        </p:txBody>
      </p:sp>
      <p:sp>
        <p:nvSpPr>
          <p:cNvPr id="11" name="Shape 7"/>
          <p:cNvSpPr/>
          <p:nvPr/>
        </p:nvSpPr>
        <p:spPr>
          <a:xfrm>
            <a:off x="502920" y="3383280"/>
            <a:ext cx="8138160" cy="1225296"/>
          </a:xfrm>
          <a:prstGeom prst="roundRect">
            <a:avLst>
              <a:gd name="adj" fmla="val 4478"/>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search_navy.png"/>
          <p:cNvPicPr>
            <a:picLocks noChangeAspect="1"/>
          </p:cNvPicPr>
          <p:nvPr/>
        </p:nvPicPr>
        <p:blipFill>
          <a:blip r:embed="rId5"/>
          <a:stretch>
            <a:fillRect/>
          </a:stretch>
        </p:blipFill>
        <p:spPr>
          <a:xfrm>
            <a:off x="713232" y="3566160"/>
            <a:ext cx="274320" cy="274320"/>
          </a:xfrm>
          <a:prstGeom prst="rect">
            <a:avLst/>
          </a:prstGeom>
        </p:spPr>
      </p:pic>
      <p:sp>
        <p:nvSpPr>
          <p:cNvPr id="13" name="Text 8"/>
          <p:cNvSpPr/>
          <p:nvPr/>
        </p:nvSpPr>
        <p:spPr>
          <a:xfrm>
            <a:off x="1115568" y="3547872"/>
            <a:ext cx="4572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Kenapa kesenjangannya masih wajar</a:t>
            </a:r>
            <a:endParaRPr lang="en-US" sz="1250" dirty="0"/>
          </a:p>
        </p:txBody>
      </p:sp>
      <p:sp>
        <p:nvSpPr>
          <p:cNvPr id="14" name="Text 9"/>
          <p:cNvSpPr/>
          <p:nvPr/>
        </p:nvSpPr>
        <p:spPr>
          <a:xfrm>
            <a:off x="1115568" y="3803904"/>
            <a:ext cx="7360920" cy="731520"/>
          </a:xfrm>
          <a:prstGeom prst="rect">
            <a:avLst/>
          </a:prstGeom>
          <a:noFill/>
          <a:ln/>
        </p:spPr>
        <p:txBody>
          <a:bodyPr wrap="square" lIns="0" tIns="0" rIns="0" bIns="0" rtlCol="0" anchor="t"/>
          <a:lstStyle/>
          <a:p>
            <a:pPr marL="0" indent="0">
              <a:lnSpc>
                <a:spcPts val="1277"/>
              </a:lnSpc>
              <a:buNone/>
            </a:pPr>
            <a:r>
              <a:rPr lang="en-US" sz="960" dirty="0">
                <a:solidFill>
                  <a:srgbClr val="16202B"/>
                </a:solidFill>
                <a:latin typeface="Calibri" pitchFamily="34" charset="0"/>
                <a:ea typeface="Calibri" pitchFamily="34" charset="-122"/>
                <a:cs typeface="Calibri" pitchFamily="34" charset="-120"/>
              </a:rPr>
              <a:t>XGBoost membangun banyak pohon keputusan yang secara alami lebih mudah menghafal pola spesifik data latih dibanding model linear seperti Logistic Regression — sehingga gap 0,04 antara train dan test adalah karakteristik normal algoritma ini, bukan tanda kesalahan. Skor test yang stabil dekat dengan Avg Recall cross-validation (0,863 vs 0,863) menunjukkan performa ini konsisten, bukan kebetulan satu pembagian data. Jika gap-nya melebar di masa depan (misalnya setelah data baru masuk), itu baru sinyal untuk melakukan regularisasi tambahan (menurunkan max_depth atau menaikkan reg_lambda).</a:t>
            </a:r>
            <a:endParaRPr lang="en-US" sz="9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XGBoost unggul telak setelah penyederhanaan country</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502920" y="1060704"/>
            <a:ext cx="3977640" cy="1920240"/>
          </a:xfrm>
          <a:prstGeom prst="roundRect">
            <a:avLst>
              <a:gd name="adj" fmla="val 2857"/>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13232" y="1225296"/>
            <a:ext cx="3566160" cy="237744"/>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XGBoost  (terpilih)</a:t>
            </a:r>
            <a:endParaRPr lang="en-US" sz="1250" dirty="0"/>
          </a:p>
        </p:txBody>
      </p:sp>
      <p:sp>
        <p:nvSpPr>
          <p:cNvPr id="7" name="Text 5"/>
          <p:cNvSpPr/>
          <p:nvPr/>
        </p:nvSpPr>
        <p:spPr>
          <a:xfrm>
            <a:off x="713232" y="1517904"/>
            <a:ext cx="3566160" cy="786384"/>
          </a:xfrm>
          <a:prstGeom prst="rect">
            <a:avLst/>
          </a:prstGeom>
          <a:noFill/>
          <a:ln/>
        </p:spPr>
        <p:txBody>
          <a:bodyPr wrap="square" lIns="0" tIns="0" rIns="0" bIns="0" rtlCol="0" anchor="ctr"/>
          <a:lstStyle/>
          <a:p>
            <a:pPr marL="0" indent="0">
              <a:lnSpc>
                <a:spcPts val="2000"/>
              </a:lnSpc>
              <a:buNone/>
            </a:pPr>
            <a:r>
              <a:rPr lang="en-US" sz="1500" b="1" dirty="0">
                <a:solidFill>
                  <a:srgbClr val="2F7D5E"/>
                </a:solidFill>
                <a:latin typeface="Calibri" pitchFamily="34" charset="0"/>
                <a:ea typeface="Calibri" pitchFamily="34" charset="-122"/>
                <a:cs typeface="Calibri" pitchFamily="34" charset="-120"/>
              </a:rPr>
              <a:t>Avg Recall  0,863</a:t>
            </a:r>
            <a:endParaRPr lang="en-US" sz="1500" dirty="0"/>
          </a:p>
          <a:p>
            <a:pPr marL="0" indent="0">
              <a:lnSpc>
                <a:spcPts val="2000"/>
              </a:lnSpc>
              <a:buNone/>
            </a:pPr>
            <a:r>
              <a:rPr lang="en-US" sz="1500" b="1" dirty="0">
                <a:solidFill>
                  <a:srgbClr val="2F7D5E"/>
                </a:solidFill>
                <a:latin typeface="Calibri" pitchFamily="34" charset="0"/>
                <a:ea typeface="Calibri" pitchFamily="34" charset="-122"/>
                <a:cs typeface="Calibri" pitchFamily="34" charset="-120"/>
              </a:rPr>
              <a:t>Avg Precision  0,446</a:t>
            </a:r>
            <a:endParaRPr lang="en-US" sz="1500" dirty="0"/>
          </a:p>
          <a:p>
            <a:pPr marL="0" indent="0">
              <a:lnSpc>
                <a:spcPts val="2000"/>
              </a:lnSpc>
              <a:buNone/>
            </a:pPr>
            <a:r>
              <a:rPr lang="en-US" sz="1200" dirty="0">
                <a:solidFill>
                  <a:srgbClr val="6B7885"/>
                </a:solidFill>
                <a:latin typeface="Calibri" pitchFamily="34" charset="0"/>
                <a:ea typeface="Calibri" pitchFamily="34" charset="-122"/>
                <a:cs typeface="Calibri" pitchFamily="34" charset="-120"/>
              </a:rPr>
              <a:t>Avg AUC  0,832</a:t>
            </a:r>
            <a:endParaRPr lang="en-US" sz="1500" dirty="0"/>
          </a:p>
        </p:txBody>
      </p:sp>
      <p:sp>
        <p:nvSpPr>
          <p:cNvPr id="8" name="Text 6"/>
          <p:cNvSpPr/>
          <p:nvPr/>
        </p:nvSpPr>
        <p:spPr>
          <a:xfrm>
            <a:off x="713232" y="2359152"/>
            <a:ext cx="3566160" cy="54864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Menangkap interaksi antar fitur secara non-linear — misalnya kombinasi is_domestic dengan deposit_type — yang tidak bisa ditangkap model linear.</a:t>
            </a:r>
            <a:endParaRPr lang="en-US" sz="980" dirty="0"/>
          </a:p>
        </p:txBody>
      </p:sp>
      <p:sp>
        <p:nvSpPr>
          <p:cNvPr id="9" name="Shape 7"/>
          <p:cNvSpPr/>
          <p:nvPr/>
        </p:nvSpPr>
        <p:spPr>
          <a:xfrm>
            <a:off x="4663440" y="1060704"/>
            <a:ext cx="3977640" cy="1920240"/>
          </a:xfrm>
          <a:prstGeom prst="roundRect">
            <a:avLst>
              <a:gd name="adj" fmla="val 285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73752" y="1225296"/>
            <a:ext cx="3566160" cy="237744"/>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Logistic Regression</a:t>
            </a:r>
            <a:endParaRPr lang="en-US" sz="1250" dirty="0"/>
          </a:p>
        </p:txBody>
      </p:sp>
      <p:sp>
        <p:nvSpPr>
          <p:cNvPr id="11" name="Text 9"/>
          <p:cNvSpPr/>
          <p:nvPr/>
        </p:nvSpPr>
        <p:spPr>
          <a:xfrm>
            <a:off x="4873752" y="1517904"/>
            <a:ext cx="3566160" cy="786384"/>
          </a:xfrm>
          <a:prstGeom prst="rect">
            <a:avLst/>
          </a:prstGeom>
          <a:noFill/>
          <a:ln/>
        </p:spPr>
        <p:txBody>
          <a:bodyPr wrap="square" lIns="0" tIns="0" rIns="0" bIns="0" rtlCol="0" anchor="ctr"/>
          <a:lstStyle/>
          <a:p>
            <a:pPr marL="0" indent="0">
              <a:lnSpc>
                <a:spcPts val="2000"/>
              </a:lnSpc>
              <a:buNone/>
            </a:pPr>
            <a:r>
              <a:rPr lang="en-US" sz="1500" b="1" dirty="0">
                <a:solidFill>
                  <a:srgbClr val="E2703A"/>
                </a:solidFill>
                <a:latin typeface="Calibri" pitchFamily="34" charset="0"/>
                <a:ea typeface="Calibri" pitchFamily="34" charset="-122"/>
                <a:cs typeface="Calibri" pitchFamily="34" charset="-120"/>
              </a:rPr>
              <a:t>Avg Recall  0,825</a:t>
            </a:r>
            <a:endParaRPr lang="en-US" sz="1500" dirty="0"/>
          </a:p>
          <a:p>
            <a:pPr marL="0" indent="0">
              <a:lnSpc>
                <a:spcPts val="2000"/>
              </a:lnSpc>
              <a:buNone/>
            </a:pPr>
            <a:r>
              <a:rPr lang="en-US" sz="1500" b="1" dirty="0">
                <a:solidFill>
                  <a:srgbClr val="123A5E"/>
                </a:solidFill>
                <a:latin typeface="Calibri" pitchFamily="34" charset="0"/>
                <a:ea typeface="Calibri" pitchFamily="34" charset="-122"/>
                <a:cs typeface="Calibri" pitchFamily="34" charset="-120"/>
              </a:rPr>
              <a:t>Avg Precision  0,452</a:t>
            </a:r>
            <a:endParaRPr lang="en-US" sz="1500" dirty="0"/>
          </a:p>
          <a:p>
            <a:pPr marL="0" indent="0">
              <a:lnSpc>
                <a:spcPts val="2000"/>
              </a:lnSpc>
              <a:buNone/>
            </a:pPr>
            <a:r>
              <a:rPr lang="en-US" sz="1200" dirty="0">
                <a:solidFill>
                  <a:srgbClr val="6B7885"/>
                </a:solidFill>
                <a:latin typeface="Calibri" pitchFamily="34" charset="0"/>
                <a:ea typeface="Calibri" pitchFamily="34" charset="-122"/>
                <a:cs typeface="Calibri" pitchFamily="34" charset="-120"/>
              </a:rPr>
              <a:t>Avg AUC  0,826</a:t>
            </a:r>
            <a:endParaRPr lang="en-US" sz="1500" dirty="0"/>
          </a:p>
        </p:txBody>
      </p:sp>
      <p:sp>
        <p:nvSpPr>
          <p:cNvPr id="12" name="Text 10"/>
          <p:cNvSpPr/>
          <p:nvPr/>
        </p:nvSpPr>
        <p:spPr>
          <a:xfrm>
            <a:off x="4873752" y="2359152"/>
            <a:ext cx="3566160" cy="54864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Precision-nya sedikit lebih tinggi dan koefisiennya lebih mudah dijelaskan, tapi kalah 0,038 dalam Recall — metrik utama project ini.</a:t>
            </a:r>
            <a:endParaRPr lang="en-US" sz="980" dirty="0"/>
          </a:p>
        </p:txBody>
      </p:sp>
      <p:sp>
        <p:nvSpPr>
          <p:cNvPr id="13" name="Shape 11"/>
          <p:cNvSpPr/>
          <p:nvPr/>
        </p:nvSpPr>
        <p:spPr>
          <a:xfrm>
            <a:off x="502920" y="3127248"/>
            <a:ext cx="813816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0" descr="/home/claude/assets/ic_scale_navy.png"/>
          <p:cNvPicPr>
            <a:picLocks noChangeAspect="1"/>
          </p:cNvPicPr>
          <p:nvPr/>
        </p:nvPicPr>
        <p:blipFill>
          <a:blip r:embed="rId3"/>
          <a:stretch>
            <a:fillRect/>
          </a:stretch>
        </p:blipFill>
        <p:spPr>
          <a:xfrm>
            <a:off x="713232" y="3310128"/>
            <a:ext cx="274320" cy="274320"/>
          </a:xfrm>
          <a:prstGeom prst="rect">
            <a:avLst/>
          </a:prstGeom>
        </p:spPr>
      </p:pic>
      <p:sp>
        <p:nvSpPr>
          <p:cNvPr id="15" name="Text 12"/>
          <p:cNvSpPr/>
          <p:nvPr/>
        </p:nvSpPr>
        <p:spPr>
          <a:xfrm>
            <a:off x="1115568" y="3291840"/>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Yang berubah dari percobaan sebelumnya</a:t>
            </a:r>
            <a:endParaRPr lang="en-US" sz="1250" dirty="0"/>
          </a:p>
        </p:txBody>
      </p:sp>
      <p:sp>
        <p:nvSpPr>
          <p:cNvPr id="16" name="Text 13"/>
          <p:cNvSpPr/>
          <p:nvPr/>
        </p:nvSpPr>
        <p:spPr>
          <a:xfrm>
            <a:off x="1115568" y="3547872"/>
            <a:ext cx="736092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Sebelum country disederhanakan, XGBoost kalah tipis dari Logistic Regression (Recall 0,745 vs 0,778)</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Setelah is_domestic diterapkan, XGBoost melompat ke 0,863 — kenaikan 0,118 — sementara Logistic Regression cuma naik ke 0,825</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XGBoost lebih diuntungkan oleh penyederhanaan ini karena kini bisa fokus pada interaksi fitur yang benar-benar informatif</a:t>
            </a:r>
            <a:endParaRPr lang="en-US" sz="9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Cara kerja XGBoost (Extreme Gradient Boosting)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28</a:t>
            </a:r>
            <a:endParaRPr lang="en-US" sz="900" dirty="0"/>
          </a:p>
        </p:txBody>
      </p:sp>
      <p:sp>
        <p:nvSpPr>
          <p:cNvPr id="5" name="Shape 3"/>
          <p:cNvSpPr/>
          <p:nvPr/>
        </p:nvSpPr>
        <p:spPr>
          <a:xfrm>
            <a:off x="502920" y="1097280"/>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71016"/>
            <a:ext cx="347472" cy="347472"/>
          </a:xfrm>
          <a:prstGeom prst="ellipse">
            <a:avLst/>
          </a:prstGeom>
          <a:solidFill>
            <a:srgbClr val="E2703A"/>
          </a:solidFill>
          <a:ln/>
        </p:spPr>
        <p:txBody>
          <a:bodyPr/>
          <a:lstStyle/>
          <a:p>
            <a:endParaRPr lang="en-ID"/>
          </a:p>
        </p:txBody>
      </p:sp>
      <p:sp>
        <p:nvSpPr>
          <p:cNvPr id="7" name="Text 5"/>
          <p:cNvSpPr/>
          <p:nvPr/>
        </p:nvSpPr>
        <p:spPr>
          <a:xfrm>
            <a:off x="658368" y="1316736"/>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15568" y="1197864"/>
            <a:ext cx="4663440" cy="219456"/>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Mulai dari tebakan awal</a:t>
            </a:r>
            <a:endParaRPr lang="en-US" sz="1150" dirty="0"/>
          </a:p>
        </p:txBody>
      </p:sp>
      <p:sp>
        <p:nvSpPr>
          <p:cNvPr id="9" name="Text 7"/>
          <p:cNvSpPr/>
          <p:nvPr/>
        </p:nvSpPr>
        <p:spPr>
          <a:xfrm>
            <a:off x="1115568" y="1435608"/>
            <a:ext cx="4663440" cy="329184"/>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Model memberi satu prediksi dasar yang sama untuk seluruh booking, biasanya log-odds dari rata-rata kelas.</a:t>
            </a:r>
            <a:endParaRPr lang="en-US" sz="900" dirty="0"/>
          </a:p>
        </p:txBody>
      </p:sp>
      <p:sp>
        <p:nvSpPr>
          <p:cNvPr id="10" name="Shape 8"/>
          <p:cNvSpPr/>
          <p:nvPr/>
        </p:nvSpPr>
        <p:spPr>
          <a:xfrm>
            <a:off x="502920" y="1892808"/>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Shape 9"/>
          <p:cNvSpPr/>
          <p:nvPr/>
        </p:nvSpPr>
        <p:spPr>
          <a:xfrm>
            <a:off x="658368" y="2066544"/>
            <a:ext cx="347472" cy="347472"/>
          </a:xfrm>
          <a:prstGeom prst="ellipse">
            <a:avLst/>
          </a:prstGeom>
          <a:solidFill>
            <a:srgbClr val="E2703A"/>
          </a:solidFill>
          <a:ln/>
        </p:spPr>
        <p:txBody>
          <a:bodyPr/>
          <a:lstStyle/>
          <a:p>
            <a:endParaRPr lang="en-ID"/>
          </a:p>
        </p:txBody>
      </p:sp>
      <p:sp>
        <p:nvSpPr>
          <p:cNvPr id="12" name="Text 10"/>
          <p:cNvSpPr/>
          <p:nvPr/>
        </p:nvSpPr>
        <p:spPr>
          <a:xfrm>
            <a:off x="658368" y="2112264"/>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15568" y="1993392"/>
            <a:ext cx="4663440" cy="219456"/>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Bangun pohon untuk memperbaiki error</a:t>
            </a:r>
            <a:endParaRPr lang="en-US" sz="1150" dirty="0"/>
          </a:p>
        </p:txBody>
      </p:sp>
      <p:sp>
        <p:nvSpPr>
          <p:cNvPr id="14" name="Text 12"/>
          <p:cNvSpPr/>
          <p:nvPr/>
        </p:nvSpPr>
        <p:spPr>
          <a:xfrm>
            <a:off x="1115568" y="2231136"/>
            <a:ext cx="4663440" cy="329184"/>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Sebuah decision tree dilatih khusus mempelajari residual — selisih antara prediksi saat ini dan kenyataan.</a:t>
            </a:r>
            <a:endParaRPr lang="en-US" sz="900" dirty="0"/>
          </a:p>
        </p:txBody>
      </p:sp>
      <p:sp>
        <p:nvSpPr>
          <p:cNvPr id="15" name="Shape 13"/>
          <p:cNvSpPr/>
          <p:nvPr/>
        </p:nvSpPr>
        <p:spPr>
          <a:xfrm>
            <a:off x="502920" y="2688336"/>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6" name="Shape 14"/>
          <p:cNvSpPr/>
          <p:nvPr/>
        </p:nvSpPr>
        <p:spPr>
          <a:xfrm>
            <a:off x="658368" y="2862072"/>
            <a:ext cx="347472" cy="347472"/>
          </a:xfrm>
          <a:prstGeom prst="ellipse">
            <a:avLst/>
          </a:prstGeom>
          <a:solidFill>
            <a:srgbClr val="E2703A"/>
          </a:solidFill>
          <a:ln/>
        </p:spPr>
        <p:txBody>
          <a:bodyPr/>
          <a:lstStyle/>
          <a:p>
            <a:endParaRPr lang="en-ID"/>
          </a:p>
        </p:txBody>
      </p:sp>
      <p:sp>
        <p:nvSpPr>
          <p:cNvPr id="17" name="Text 15"/>
          <p:cNvSpPr/>
          <p:nvPr/>
        </p:nvSpPr>
        <p:spPr>
          <a:xfrm>
            <a:off x="658368" y="2907792"/>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15568" y="2788920"/>
            <a:ext cx="4663440" cy="219456"/>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Tambahkan pohon secara bertahap</a:t>
            </a:r>
            <a:endParaRPr lang="en-US" sz="1150" dirty="0"/>
          </a:p>
        </p:txBody>
      </p:sp>
      <p:sp>
        <p:nvSpPr>
          <p:cNvPr id="19" name="Text 17"/>
          <p:cNvSpPr/>
          <p:nvPr/>
        </p:nvSpPr>
        <p:spPr>
          <a:xfrm>
            <a:off x="1115568" y="3026664"/>
            <a:ext cx="4663440" cy="329184"/>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Setiap pohon baru memperbaiki sisa kesalahan pohon-pohon sebelumnya, dikalikan learning rate agar koreksinya terkendali.</a:t>
            </a:r>
            <a:endParaRPr lang="en-US" sz="900" dirty="0"/>
          </a:p>
        </p:txBody>
      </p:sp>
      <p:sp>
        <p:nvSpPr>
          <p:cNvPr id="20" name="Shape 18"/>
          <p:cNvSpPr/>
          <p:nvPr/>
        </p:nvSpPr>
        <p:spPr>
          <a:xfrm>
            <a:off x="502920" y="3483864"/>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1" name="Shape 19"/>
          <p:cNvSpPr/>
          <p:nvPr/>
        </p:nvSpPr>
        <p:spPr>
          <a:xfrm>
            <a:off x="658368" y="3657600"/>
            <a:ext cx="347472" cy="347472"/>
          </a:xfrm>
          <a:prstGeom prst="ellipse">
            <a:avLst/>
          </a:prstGeom>
          <a:solidFill>
            <a:srgbClr val="E2703A"/>
          </a:solidFill>
          <a:ln/>
        </p:spPr>
        <p:txBody>
          <a:bodyPr/>
          <a:lstStyle/>
          <a:p>
            <a:endParaRPr lang="en-ID"/>
          </a:p>
        </p:txBody>
      </p:sp>
      <p:sp>
        <p:nvSpPr>
          <p:cNvPr id="22" name="Text 20"/>
          <p:cNvSpPr/>
          <p:nvPr/>
        </p:nvSpPr>
        <p:spPr>
          <a:xfrm>
            <a:off x="658368" y="3703320"/>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115568" y="3584448"/>
            <a:ext cx="4663440" cy="219456"/>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Jumlahkan lalu ubah jadi probabilitas</a:t>
            </a:r>
            <a:endParaRPr lang="en-US" sz="1150" dirty="0"/>
          </a:p>
        </p:txBody>
      </p:sp>
      <p:sp>
        <p:nvSpPr>
          <p:cNvPr id="24" name="Text 22"/>
          <p:cNvSpPr/>
          <p:nvPr/>
        </p:nvSpPr>
        <p:spPr>
          <a:xfrm>
            <a:off x="1115568" y="3822192"/>
            <a:ext cx="4663440" cy="329184"/>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Skor seluruh pohon dijumlahkan dan dilewatkan fungsi sigmoid, menjadi probabilitas pembatalan (0-1).</a:t>
            </a:r>
            <a:endParaRPr lang="en-US" sz="900" dirty="0"/>
          </a:p>
        </p:txBody>
      </p:sp>
      <p:sp>
        <p:nvSpPr>
          <p:cNvPr id="25" name="Shape 23"/>
          <p:cNvSpPr/>
          <p:nvPr/>
        </p:nvSpPr>
        <p:spPr>
          <a:xfrm>
            <a:off x="6126480" y="1097280"/>
            <a:ext cx="2514600" cy="3145536"/>
          </a:xfrm>
          <a:prstGeom prst="roundRect">
            <a:avLst>
              <a:gd name="adj" fmla="val 2182"/>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6" name="Image 0" descr="/home/claude/assets/ic_brain_navy.png"/>
          <p:cNvPicPr>
            <a:picLocks noChangeAspect="1"/>
          </p:cNvPicPr>
          <p:nvPr/>
        </p:nvPicPr>
        <p:blipFill>
          <a:blip r:embed="rId3"/>
          <a:stretch>
            <a:fillRect/>
          </a:stretch>
        </p:blipFill>
        <p:spPr>
          <a:xfrm>
            <a:off x="6327648" y="1280160"/>
            <a:ext cx="274320" cy="274320"/>
          </a:xfrm>
          <a:prstGeom prst="rect">
            <a:avLst/>
          </a:prstGeom>
        </p:spPr>
      </p:pic>
      <p:sp>
        <p:nvSpPr>
          <p:cNvPr id="27" name="Text 24"/>
          <p:cNvSpPr/>
          <p:nvPr/>
        </p:nvSpPr>
        <p:spPr>
          <a:xfrm>
            <a:off x="6327648" y="1627632"/>
            <a:ext cx="21945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Kenapa cocok di sini</a:t>
            </a:r>
            <a:endParaRPr lang="en-US" sz="1250" dirty="0"/>
          </a:p>
        </p:txBody>
      </p:sp>
      <p:sp>
        <p:nvSpPr>
          <p:cNvPr id="28" name="Text 25"/>
          <p:cNvSpPr/>
          <p:nvPr/>
        </p:nvSpPr>
        <p:spPr>
          <a:xfrm>
            <a:off x="6309360" y="1920240"/>
            <a:ext cx="2157984" cy="1384036"/>
          </a:xfrm>
          <a:prstGeom prst="rect">
            <a:avLst/>
          </a:prstGeom>
          <a:noFill/>
          <a:ln/>
        </p:spPr>
        <p:txBody>
          <a:bodyPr wrap="square" lIns="0" tIns="0" rIns="0" bIns="0" rtlCol="0" anchor="t"/>
          <a:lstStyle/>
          <a:p>
            <a:pPr marL="342900" indent="-342900">
              <a:lnSpc>
                <a:spcPts val="1131"/>
              </a:lnSpc>
              <a:spcAft>
                <a:spcPts val="500"/>
              </a:spcAft>
              <a:buSzPct val="100000"/>
              <a:buChar char="•"/>
            </a:pPr>
            <a:r>
              <a:rPr lang="en-US" sz="870" dirty="0">
                <a:solidFill>
                  <a:srgbClr val="16202B"/>
                </a:solidFill>
                <a:latin typeface="Calibri" pitchFamily="34" charset="0"/>
                <a:ea typeface="Calibri" pitchFamily="34" charset="-122"/>
                <a:cs typeface="Calibri" pitchFamily="34" charset="-120"/>
              </a:rPr>
              <a:t>Menangkap interaksi antar fitur tanpa perlu dirumuskan manual, misalnya kombinasi is_domestic dan deposit_type</a:t>
            </a:r>
            <a:endParaRPr lang="en-US" sz="870" dirty="0"/>
          </a:p>
          <a:p>
            <a:pPr marL="342900" indent="-342900">
              <a:lnSpc>
                <a:spcPts val="1131"/>
              </a:lnSpc>
              <a:spcAft>
                <a:spcPts val="500"/>
              </a:spcAft>
              <a:buSzPct val="100000"/>
              <a:buChar char="•"/>
            </a:pPr>
            <a:r>
              <a:rPr lang="en-US" sz="870" dirty="0">
                <a:solidFill>
                  <a:srgbClr val="16202B"/>
                </a:solidFill>
                <a:latin typeface="Calibri" pitchFamily="34" charset="0"/>
                <a:ea typeface="Calibri" pitchFamily="34" charset="-122"/>
                <a:cs typeface="Calibri" pitchFamily="34" charset="-120"/>
              </a:rPr>
              <a:t>scale_pos_weight menyeimbangkan kelas minoritas tanpa perlu resampling data</a:t>
            </a:r>
            <a:endParaRPr lang="en-US" sz="870" dirty="0"/>
          </a:p>
          <a:p>
            <a:pPr marL="342900" indent="-342900">
              <a:lnSpc>
                <a:spcPts val="1131"/>
              </a:lnSpc>
              <a:spcAft>
                <a:spcPts val="500"/>
              </a:spcAft>
              <a:buSzPct val="100000"/>
              <a:buChar char="•"/>
            </a:pPr>
            <a:r>
              <a:rPr lang="en-US" sz="870" dirty="0">
                <a:solidFill>
                  <a:srgbClr val="16202B"/>
                </a:solidFill>
                <a:latin typeface="Calibri" pitchFamily="34" charset="0"/>
                <a:ea typeface="Calibri" pitchFamily="34" charset="-122"/>
                <a:cs typeface="Calibri" pitchFamily="34" charset="-120"/>
              </a:rPr>
              <a:t>Feature importance berbasis gain tetap bisa dijelaskan ke stakeholder</a:t>
            </a:r>
            <a:endParaRPr lang="en-US" sz="870" dirty="0"/>
          </a:p>
          <a:p>
            <a:pPr marL="342900" indent="-342900">
              <a:lnSpc>
                <a:spcPts val="1131"/>
              </a:lnSpc>
              <a:spcAft>
                <a:spcPts val="500"/>
              </a:spcAft>
              <a:buSzPct val="100000"/>
              <a:buChar char="•"/>
            </a:pPr>
            <a:r>
              <a:rPr lang="en-US" sz="870" dirty="0">
                <a:solidFill>
                  <a:srgbClr val="16202B"/>
                </a:solidFill>
                <a:latin typeface="Calibri" pitchFamily="34" charset="0"/>
                <a:ea typeface="Calibri" pitchFamily="34" charset="-122"/>
                <a:cs typeface="Calibri" pitchFamily="34" charset="-120"/>
              </a:rPr>
              <a:t>Punya regularisasi bawaan (reg_lambda) untuk menahan overfitting</a:t>
            </a:r>
            <a:endParaRPr lang="en-US" sz="8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Konfigurasi model dan catatan proses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29</a:t>
            </a:r>
            <a:endParaRPr lang="en-US" sz="900" dirty="0"/>
          </a:p>
        </p:txBody>
      </p:sp>
      <p:sp>
        <p:nvSpPr>
          <p:cNvPr id="5" name="Shape 3"/>
          <p:cNvSpPr/>
          <p:nvPr/>
        </p:nvSpPr>
        <p:spPr>
          <a:xfrm>
            <a:off x="502920" y="1097280"/>
            <a:ext cx="3977640" cy="1938528"/>
          </a:xfrm>
          <a:prstGeom prst="roundRect">
            <a:avLst>
              <a:gd name="adj" fmla="val 3158"/>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gear_navy.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Hyperparameter final model</a:t>
            </a:r>
            <a:endParaRPr lang="en-US" sz="1250" dirty="0"/>
          </a:p>
        </p:txBody>
      </p:sp>
      <p:sp>
        <p:nvSpPr>
          <p:cNvPr id="8" name="Text 5"/>
          <p:cNvSpPr/>
          <p:nvPr/>
        </p:nvSpPr>
        <p:spPr>
          <a:xfrm>
            <a:off x="713232" y="1572768"/>
            <a:ext cx="3566160" cy="1481328"/>
          </a:xfrm>
          <a:prstGeom prst="rect">
            <a:avLst/>
          </a:prstGeom>
          <a:noFill/>
          <a:ln/>
        </p:spPr>
        <p:txBody>
          <a:bodyPr wrap="square" lIns="0" tIns="0" rIns="0" bIns="0" rtlCol="0" anchor="t"/>
          <a:lstStyle/>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XGBClassifier dengan satu parameter</a:t>
            </a: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yang disetel untuk imbalance:</a:t>
            </a:r>
            <a:endParaRPr lang="en-US" sz="880" dirty="0"/>
          </a:p>
          <a:p>
            <a:pPr marL="0" indent="0">
              <a:lnSpc>
                <a:spcPts val="1170"/>
              </a:lnSpc>
              <a:buNone/>
            </a:pP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scale_pos_weight = 3,198</a:t>
            </a: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random_state = 42</a:t>
            </a: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eval_metric = logloss</a:t>
            </a:r>
            <a:endParaRPr lang="en-US" sz="880" dirty="0"/>
          </a:p>
          <a:p>
            <a:pPr marL="0" indent="0">
              <a:lnSpc>
                <a:spcPts val="1170"/>
              </a:lnSpc>
              <a:buNone/>
            </a:pP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Sisanya default: n_estimators=100,</a:t>
            </a:r>
            <a:endParaRPr lang="en-US" sz="880" dirty="0"/>
          </a:p>
          <a:p>
            <a:pPr marL="0" indent="0">
              <a:lnSpc>
                <a:spcPts val="1170"/>
              </a:lnSpc>
              <a:buNone/>
            </a:pPr>
            <a:r>
              <a:rPr lang="en-US" sz="880" dirty="0">
                <a:solidFill>
                  <a:srgbClr val="16202B"/>
                </a:solidFill>
                <a:latin typeface="Calibri" pitchFamily="34" charset="0"/>
                <a:ea typeface="Calibri" pitchFamily="34" charset="-122"/>
                <a:cs typeface="Calibri" pitchFamily="34" charset="-120"/>
              </a:rPr>
              <a:t>max_depth=6, learning_rate=0,3.</a:t>
            </a:r>
            <a:endParaRPr lang="en-US" sz="880" dirty="0"/>
          </a:p>
        </p:txBody>
      </p:sp>
      <p:sp>
        <p:nvSpPr>
          <p:cNvPr id="9" name="Shape 6"/>
          <p:cNvSpPr/>
          <p:nvPr/>
        </p:nvSpPr>
        <p:spPr>
          <a:xfrm>
            <a:off x="4663440" y="1097280"/>
            <a:ext cx="3977640" cy="1865376"/>
          </a:xfrm>
          <a:prstGeom prst="roundRect">
            <a:avLst>
              <a:gd name="adj" fmla="val 315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warn_orange.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Belum dilakukan</a:t>
            </a:r>
            <a:endParaRPr lang="en-US" sz="1250" dirty="0"/>
          </a:p>
        </p:txBody>
      </p:sp>
      <p:sp>
        <p:nvSpPr>
          <p:cNvPr id="12" name="Text 8"/>
          <p:cNvSpPr/>
          <p:nvPr/>
        </p:nvSpPr>
        <p:spPr>
          <a:xfrm>
            <a:off x="4873752" y="1627632"/>
            <a:ext cx="3566160" cy="1442557"/>
          </a:xfrm>
          <a:prstGeom prst="rect">
            <a:avLst/>
          </a:prstGeom>
          <a:noFill/>
          <a:ln/>
        </p:spPr>
        <p:txBody>
          <a:bodyPr wrap="square" lIns="0" tIns="0" rIns="0" bIns="0" rtlCol="0" anchor="t"/>
          <a:lstStyle/>
          <a:p>
            <a:pPr marL="342900" indent="-342900">
              <a:lnSpc>
                <a:spcPts val="1196"/>
              </a:lnSpc>
              <a:spcAft>
                <a:spcPts val="500"/>
              </a:spcAft>
              <a:buSzPct val="100000"/>
              <a:buChar char="•"/>
            </a:pPr>
            <a:r>
              <a:rPr lang="en-US" sz="920" dirty="0">
                <a:solidFill>
                  <a:srgbClr val="16202B"/>
                </a:solidFill>
                <a:latin typeface="Calibri" pitchFamily="34" charset="0"/>
                <a:ea typeface="Calibri" pitchFamily="34" charset="-122"/>
                <a:cs typeface="Calibri" pitchFamily="34" charset="-120"/>
              </a:rPr>
              <a:t>Hyperparameter tuning: max_depth, learning_rate, n_estimators lewat RandomizedSearchCV</a:t>
            </a:r>
            <a:endParaRPr lang="en-US" sz="920" dirty="0"/>
          </a:p>
          <a:p>
            <a:pPr marL="342900" indent="-342900">
              <a:lnSpc>
                <a:spcPts val="1196"/>
              </a:lnSpc>
              <a:spcAft>
                <a:spcPts val="500"/>
              </a:spcAft>
              <a:buSzPct val="100000"/>
              <a:buChar char="•"/>
            </a:pPr>
            <a:r>
              <a:rPr lang="en-US" sz="920" dirty="0">
                <a:solidFill>
                  <a:srgbClr val="16202B"/>
                </a:solidFill>
                <a:latin typeface="Calibri" pitchFamily="34" charset="0"/>
                <a:ea typeface="Calibri" pitchFamily="34" charset="-122"/>
                <a:cs typeface="Calibri" pitchFamily="34" charset="-120"/>
              </a:rPr>
              <a:t>Regularisasi tambahan (reg_lambda, reg_alpha) untuk mempersempit gap train-test</a:t>
            </a:r>
            <a:endParaRPr lang="en-US" sz="920" dirty="0"/>
          </a:p>
          <a:p>
            <a:pPr marL="342900" indent="-342900">
              <a:lnSpc>
                <a:spcPts val="1196"/>
              </a:lnSpc>
              <a:spcAft>
                <a:spcPts val="500"/>
              </a:spcAft>
              <a:buSzPct val="100000"/>
              <a:buChar char="•"/>
            </a:pPr>
            <a:r>
              <a:rPr lang="en-US" sz="920" dirty="0">
                <a:solidFill>
                  <a:srgbClr val="16202B"/>
                </a:solidFill>
                <a:latin typeface="Calibri" pitchFamily="34" charset="0"/>
                <a:ea typeface="Calibri" pitchFamily="34" charset="-122"/>
                <a:cs typeface="Calibri" pitchFamily="34" charset="-120"/>
              </a:rPr>
              <a:t>Kalibrasi probabilitas untuk memastikan skor layak jadi dasar prioritisasi</a:t>
            </a:r>
            <a:endParaRPr lang="en-US" sz="920" dirty="0"/>
          </a:p>
          <a:p>
            <a:pPr marL="342900" indent="-342900">
              <a:lnSpc>
                <a:spcPts val="1196"/>
              </a:lnSpc>
              <a:spcAft>
                <a:spcPts val="500"/>
              </a:spcAft>
              <a:buSzPct val="100000"/>
              <a:buChar char="•"/>
            </a:pPr>
            <a:r>
              <a:rPr lang="en-US" sz="920" dirty="0">
                <a:solidFill>
                  <a:srgbClr val="16202B"/>
                </a:solidFill>
                <a:latin typeface="Calibri" pitchFamily="34" charset="0"/>
                <a:ea typeface="Calibri" pitchFamily="34" charset="-122"/>
                <a:cs typeface="Calibri" pitchFamily="34" charset="-120"/>
              </a:rPr>
              <a:t>Uji ulang keputusan penghapusan 73.476 baris duplikat</a:t>
            </a:r>
            <a:endParaRPr lang="en-US" sz="920" dirty="0"/>
          </a:p>
        </p:txBody>
      </p:sp>
      <p:sp>
        <p:nvSpPr>
          <p:cNvPr id="13" name="Shape 9"/>
          <p:cNvSpPr/>
          <p:nvPr/>
        </p:nvSpPr>
        <p:spPr>
          <a:xfrm>
            <a:off x="502920" y="2999232"/>
            <a:ext cx="8138160" cy="1005840"/>
          </a:xfrm>
          <a:prstGeom prst="roundRect">
            <a:avLst>
              <a:gd name="adj" fmla="val 5455"/>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search_navy.png"/>
          <p:cNvPicPr>
            <a:picLocks noChangeAspect="1"/>
          </p:cNvPicPr>
          <p:nvPr/>
        </p:nvPicPr>
        <p:blipFill>
          <a:blip r:embed="rId5"/>
          <a:stretch>
            <a:fillRect/>
          </a:stretch>
        </p:blipFill>
        <p:spPr>
          <a:xfrm>
            <a:off x="713232" y="3182112"/>
            <a:ext cx="256032" cy="256032"/>
          </a:xfrm>
          <a:prstGeom prst="rect">
            <a:avLst/>
          </a:prstGeom>
        </p:spPr>
      </p:pic>
      <p:sp>
        <p:nvSpPr>
          <p:cNvPr id="15" name="Text 10"/>
          <p:cNvSpPr/>
          <p:nvPr/>
        </p:nvSpPr>
        <p:spPr>
          <a:xfrm>
            <a:off x="1097280" y="3163824"/>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Indikasi overfitting / underfitting</a:t>
            </a:r>
            <a:endParaRPr lang="en-US" sz="1250" dirty="0"/>
          </a:p>
        </p:txBody>
      </p:sp>
      <p:sp>
        <p:nvSpPr>
          <p:cNvPr id="16" name="Text 11"/>
          <p:cNvSpPr/>
          <p:nvPr/>
        </p:nvSpPr>
        <p:spPr>
          <a:xfrm>
            <a:off x="1097280" y="3419856"/>
            <a:ext cx="7360920" cy="530352"/>
          </a:xfrm>
          <a:prstGeom prst="rect">
            <a:avLst/>
          </a:prstGeom>
          <a:noFill/>
          <a:ln/>
        </p:spPr>
        <p:txBody>
          <a:bodyPr wrap="square" lIns="0" tIns="0" rIns="0" bIns="0" rtlCol="0" anchor="t"/>
          <a:lstStyle/>
          <a:p>
            <a:pPr marL="0" indent="0">
              <a:lnSpc>
                <a:spcPts val="1277"/>
              </a:lnSpc>
              <a:buNone/>
            </a:pPr>
            <a:r>
              <a:rPr lang="en-US" sz="960" dirty="0">
                <a:solidFill>
                  <a:srgbClr val="16202B"/>
                </a:solidFill>
                <a:latin typeface="Calibri" pitchFamily="34" charset="0"/>
                <a:ea typeface="Calibri" pitchFamily="34" charset="-122"/>
                <a:cs typeface="Calibri" pitchFamily="34" charset="-120"/>
              </a:rPr>
              <a:t>Recall latih 0,9038 versus uji 0,8628 — gap 0,041, sedikit lebih lebar dibanding model linear tapi masih dalam batas wajar untuk model berbasis pohon. Avg Recall lintas lima fold (0,863) dekat dengan skor test, menandakan performa stabil. Kalau gap ini ingin dipersempit lebih jauh, langkah pertama adalah menurunkan max_depth atau menaikkan regularisasi.</a:t>
            </a:r>
            <a:endParaRPr lang="en-US" sz="960" dirty="0"/>
          </a:p>
        </p:txBody>
      </p:sp>
      <p:sp>
        <p:nvSpPr>
          <p:cNvPr id="17" name="Shape 12"/>
          <p:cNvSpPr/>
          <p:nvPr/>
        </p:nvSpPr>
        <p:spPr>
          <a:xfrm>
            <a:off x="502920" y="4133088"/>
            <a:ext cx="8138160" cy="493776"/>
          </a:xfrm>
          <a:prstGeom prst="roundRect">
            <a:avLst>
              <a:gd name="adj" fmla="val 11111"/>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Text 13"/>
          <p:cNvSpPr/>
          <p:nvPr/>
        </p:nvSpPr>
        <p:spPr>
          <a:xfrm>
            <a:off x="713232" y="4242816"/>
            <a:ext cx="7680960" cy="310896"/>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Model final disimpan sebagai satu file pickle berisi seluruh pipeline (preprocessor + classifier), sehingga preprocessing ikut terbawa saat model dipakai ulang.</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Model menangkap 389 dari 481 pembatalan pada data uji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30</a:t>
            </a:r>
            <a:endParaRPr lang="en-US" sz="900" dirty="0"/>
          </a:p>
        </p:txBody>
      </p:sp>
      <p:pic>
        <p:nvPicPr>
          <p:cNvPr id="5" name="Image 0" descr="/home/claude/assets/cm4.png"/>
          <p:cNvPicPr>
            <a:picLocks noChangeAspect="1"/>
          </p:cNvPicPr>
          <p:nvPr/>
        </p:nvPicPr>
        <p:blipFill>
          <a:blip r:embed="rId3"/>
          <a:stretch>
            <a:fillRect/>
          </a:stretch>
        </p:blipFill>
        <p:spPr>
          <a:xfrm>
            <a:off x="566928" y="1078992"/>
            <a:ext cx="3886200" cy="2971800"/>
          </a:xfrm>
          <a:prstGeom prst="rect">
            <a:avLst/>
          </a:prstGeom>
        </p:spPr>
      </p:pic>
      <p:sp>
        <p:nvSpPr>
          <p:cNvPr id="6" name="Shape 3"/>
          <p:cNvSpPr/>
          <p:nvPr/>
        </p:nvSpPr>
        <p:spPr>
          <a:xfrm>
            <a:off x="4754880" y="1078992"/>
            <a:ext cx="3886200" cy="1389888"/>
          </a:xfrm>
          <a:prstGeom prst="roundRect">
            <a:avLst>
              <a:gd name="adj" fmla="val 394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7" name="Text 4"/>
          <p:cNvSpPr/>
          <p:nvPr/>
        </p:nvSpPr>
        <p:spPr>
          <a:xfrm>
            <a:off x="4956048" y="1243584"/>
            <a:ext cx="3474720" cy="237744"/>
          </a:xfrm>
          <a:prstGeom prst="rect">
            <a:avLst/>
          </a:prstGeom>
          <a:noFill/>
          <a:ln/>
        </p:spPr>
        <p:txBody>
          <a:bodyPr wrap="square" lIns="0" tIns="0" rIns="0" bIns="0" rtlCol="0" anchor="ctr"/>
          <a:lstStyle/>
          <a:p>
            <a:pPr marL="0" indent="0">
              <a:buNone/>
            </a:pPr>
            <a:r>
              <a:rPr lang="en-US" sz="1300" b="1" dirty="0">
                <a:solidFill>
                  <a:srgbClr val="B3392E"/>
                </a:solidFill>
                <a:latin typeface="Calibri" pitchFamily="34" charset="0"/>
                <a:ea typeface="Calibri" pitchFamily="34" charset="-122"/>
                <a:cs typeface="Calibri" pitchFamily="34" charset="-120"/>
              </a:rPr>
              <a:t>92 False Negative</a:t>
            </a:r>
            <a:endParaRPr lang="en-US" sz="1300" dirty="0"/>
          </a:p>
        </p:txBody>
      </p:sp>
      <p:sp>
        <p:nvSpPr>
          <p:cNvPr id="8" name="Text 5"/>
          <p:cNvSpPr/>
          <p:nvPr/>
        </p:nvSpPr>
        <p:spPr>
          <a:xfrm>
            <a:off x="4956048" y="1536192"/>
            <a:ext cx="3474720" cy="82296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Booking yang batal namun lolos deteksi. Inilah kerugian utama, dan jumlahnya tinggal 19% dari seluruh pembatalan pada data uji.</a:t>
            </a:r>
            <a:endParaRPr lang="en-US" sz="1000" dirty="0"/>
          </a:p>
        </p:txBody>
      </p:sp>
      <p:sp>
        <p:nvSpPr>
          <p:cNvPr id="9" name="Shape 6"/>
          <p:cNvSpPr/>
          <p:nvPr/>
        </p:nvSpPr>
        <p:spPr>
          <a:xfrm>
            <a:off x="4754880" y="2615184"/>
            <a:ext cx="3886200" cy="1389888"/>
          </a:xfrm>
          <a:prstGeom prst="roundRect">
            <a:avLst>
              <a:gd name="adj" fmla="val 394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7"/>
          <p:cNvSpPr/>
          <p:nvPr/>
        </p:nvSpPr>
        <p:spPr>
          <a:xfrm>
            <a:off x="4956048" y="2779776"/>
            <a:ext cx="3474720" cy="237744"/>
          </a:xfrm>
          <a:prstGeom prst="rect">
            <a:avLst/>
          </a:prstGeom>
          <a:noFill/>
          <a:ln/>
        </p:spPr>
        <p:txBody>
          <a:bodyPr wrap="square" lIns="0" tIns="0" rIns="0" bIns="0" rtlCol="0" anchor="ctr"/>
          <a:lstStyle/>
          <a:p>
            <a:pPr marL="0" indent="0">
              <a:buNone/>
            </a:pPr>
            <a:r>
              <a:rPr lang="en-US" sz="1300" b="1" dirty="0">
                <a:solidFill>
                  <a:srgbClr val="123A5E"/>
                </a:solidFill>
                <a:latin typeface="Calibri" pitchFamily="34" charset="0"/>
                <a:ea typeface="Calibri" pitchFamily="34" charset="-122"/>
                <a:cs typeface="Calibri" pitchFamily="34" charset="-120"/>
              </a:rPr>
              <a:t>446 False Positive</a:t>
            </a:r>
            <a:endParaRPr lang="en-US" sz="1300" dirty="0"/>
          </a:p>
        </p:txBody>
      </p:sp>
      <p:sp>
        <p:nvSpPr>
          <p:cNvPr id="11" name="Text 8"/>
          <p:cNvSpPr/>
          <p:nvPr/>
        </p:nvSpPr>
        <p:spPr>
          <a:xfrm>
            <a:off x="4956048" y="3072384"/>
            <a:ext cx="3474720" cy="82296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Booking aman yang ikut ditandai. Inilah harga dari Recall tinggi: dari 835 booking yang ditandai model, 446 di antaranya sebenarnya tetap menginap.</a:t>
            </a:r>
            <a:endParaRPr lang="en-US" sz="1000" dirty="0"/>
          </a:p>
        </p:txBody>
      </p:sp>
      <p:sp>
        <p:nvSpPr>
          <p:cNvPr id="12" name="Text 9"/>
          <p:cNvSpPr/>
          <p:nvPr/>
        </p:nvSpPr>
        <p:spPr>
          <a:xfrm>
            <a:off x="566928" y="4187952"/>
            <a:ext cx="8074152" cy="219456"/>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Test set: 2.020 booking (1.539 tidak batal, 481 batal)  •  Recall 0,863  •  Precision 0,454  •  F1 0,595  •  AUC 0,846</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Recall kedua kelas kini jauh lebih seimbang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31</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Classification report Logistic Regression pada test set (2.020 baris).</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138160" cy="1865376"/>
        </p:xfrm>
        <a:graphic>
          <a:graphicData uri="http://schemas.openxmlformats.org/drawingml/2006/table">
            <a:tbl>
              <a:tblPr/>
              <a:tblGrid>
                <a:gridCol w="28346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310896">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Precision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Recall</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F1-Score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Support</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Kelas 0 — tidak dibatalkan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0,92</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1.539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Kelas 1 — dibatalkan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0,47</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0,59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481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Accuracy</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0,73</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Macro average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0,69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0,76</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Weighted average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0,73</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0,75</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3310128"/>
            <a:ext cx="3977640" cy="1005840"/>
          </a:xfrm>
          <a:prstGeom prst="roundRect">
            <a:avLst>
              <a:gd name="adj" fmla="val 5455"/>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8" name="Text 5"/>
          <p:cNvSpPr/>
          <p:nvPr/>
        </p:nvSpPr>
        <p:spPr>
          <a:xfrm>
            <a:off x="713232" y="3474720"/>
            <a:ext cx="3566160" cy="237744"/>
          </a:xfrm>
          <a:prstGeom prst="rect">
            <a:avLst/>
          </a:prstGeom>
          <a:noFill/>
          <a:ln/>
        </p:spPr>
        <p:txBody>
          <a:bodyPr wrap="square" lIns="0" tIns="0" rIns="0" bIns="0" rtlCol="0" anchor="ctr"/>
          <a:lstStyle/>
          <a:p>
            <a:pPr marL="0" indent="0">
              <a:buNone/>
            </a:pPr>
            <a:r>
              <a:rPr lang="en-US" sz="1200" b="1" dirty="0">
                <a:solidFill>
                  <a:srgbClr val="2F7D5E"/>
                </a:solidFill>
                <a:latin typeface="Calibri" pitchFamily="34" charset="0"/>
                <a:ea typeface="Calibri" pitchFamily="34" charset="-122"/>
                <a:cs typeface="Calibri" pitchFamily="34" charset="-120"/>
              </a:rPr>
              <a:t>Kesenjangan menyempit</a:t>
            </a:r>
            <a:endParaRPr lang="en-US" sz="1200" dirty="0"/>
          </a:p>
        </p:txBody>
      </p:sp>
      <p:sp>
        <p:nvSpPr>
          <p:cNvPr id="9" name="Text 6"/>
          <p:cNvSpPr/>
          <p:nvPr/>
        </p:nvSpPr>
        <p:spPr>
          <a:xfrm>
            <a:off x="713232" y="3749040"/>
            <a:ext cx="3566160" cy="51206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Recall kelas 0 dan kelas 1 berada di 0,71 dan 0,81 — model tidak lagi berat sebelah ke kelas mayoritas. Macro average Recall mencapai 0,76.</a:t>
            </a:r>
            <a:endParaRPr lang="en-US" sz="950" dirty="0"/>
          </a:p>
        </p:txBody>
      </p:sp>
      <p:sp>
        <p:nvSpPr>
          <p:cNvPr id="10" name="Shape 7"/>
          <p:cNvSpPr/>
          <p:nvPr/>
        </p:nvSpPr>
        <p:spPr>
          <a:xfrm>
            <a:off x="4663440" y="3310128"/>
            <a:ext cx="3977640" cy="1005840"/>
          </a:xfrm>
          <a:prstGeom prst="roundRect">
            <a:avLst>
              <a:gd name="adj" fmla="val 5455"/>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Text 8"/>
          <p:cNvSpPr/>
          <p:nvPr/>
        </p:nvSpPr>
        <p:spPr>
          <a:xfrm>
            <a:off x="4873752" y="3474720"/>
            <a:ext cx="3566160" cy="237744"/>
          </a:xfrm>
          <a:prstGeom prst="rect">
            <a:avLst/>
          </a:prstGeom>
          <a:noFill/>
          <a:ln/>
        </p:spPr>
        <p:txBody>
          <a:bodyPr wrap="square" lIns="0" tIns="0" rIns="0" bIns="0" rtlCol="0" anchor="ctr"/>
          <a:lstStyle/>
          <a:p>
            <a:pPr marL="0" indent="0">
              <a:buNone/>
            </a:pPr>
            <a:r>
              <a:rPr lang="en-US" sz="1200" b="1" dirty="0">
                <a:solidFill>
                  <a:srgbClr val="123A5E"/>
                </a:solidFill>
                <a:latin typeface="Calibri" pitchFamily="34" charset="0"/>
                <a:ea typeface="Calibri" pitchFamily="34" charset="-122"/>
                <a:cs typeface="Calibri" pitchFamily="34" charset="-120"/>
              </a:rPr>
              <a:t>Accuracy justru turun</a:t>
            </a:r>
            <a:endParaRPr lang="en-US" sz="1200" dirty="0"/>
          </a:p>
        </p:txBody>
      </p:sp>
      <p:sp>
        <p:nvSpPr>
          <p:cNvPr id="12" name="Text 9"/>
          <p:cNvSpPr/>
          <p:nvPr/>
        </p:nvSpPr>
        <p:spPr>
          <a:xfrm>
            <a:off x="4873752" y="3749040"/>
            <a:ext cx="3566160" cy="51206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Accuracy turun dari 0,78 ke 0,73 — dan itu bukan masalah. Metrik ini didominasi kelas mayoritas, sedangkan tujuan bisnisnya adalah menangkap kelas minoritas.</a:t>
            </a:r>
            <a:endParaRPr lang="en-US" sz="950" dirty="0"/>
          </a:p>
        </p:txBody>
      </p:sp>
      <p:sp>
        <p:nvSpPr>
          <p:cNvPr id="13" name="Text 10"/>
          <p:cNvSpPr/>
          <p:nvPr/>
        </p:nvSpPr>
        <p:spPr>
          <a:xfrm>
            <a:off x="502920" y="4407408"/>
            <a:ext cx="7635240" cy="292608"/>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Macro average memberi bobot sama ke kedua kelas sehingga lebih jujur menggambarkan performa (0,69) dibanding weighted average (0,74) yang didominasi kelas mayoritas.</a:t>
            </a:r>
            <a:endParaRPr lang="en-US" sz="9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PELUANG PERBAIKAN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Threshold menentukan beban kerja tim intervensi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32</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Hasil threshold tuning aktual pada data uji. Angka abu-abu adalah jumlah booking yang harus dihubungi tim.</a:t>
            </a:r>
            <a:endParaRPr lang="en-US" sz="1050" dirty="0"/>
          </a:p>
        </p:txBody>
      </p:sp>
      <p:pic>
        <p:nvPicPr>
          <p:cNvPr id="6" name="Image 0" descr="/home/claude/assets/thresh_v2.png"/>
          <p:cNvPicPr>
            <a:picLocks noChangeAspect="1"/>
          </p:cNvPicPr>
          <p:nvPr/>
        </p:nvPicPr>
        <p:blipFill>
          <a:blip r:embed="rId3"/>
          <a:stretch>
            <a:fillRect/>
          </a:stretch>
        </p:blipFill>
        <p:spPr>
          <a:xfrm>
            <a:off x="502920" y="1225296"/>
            <a:ext cx="5440680" cy="2148840"/>
          </a:xfrm>
          <a:prstGeom prst="rect">
            <a:avLst/>
          </a:prstGeom>
        </p:spPr>
      </p:pic>
      <p:sp>
        <p:nvSpPr>
          <p:cNvPr id="7" name="Shape 4"/>
          <p:cNvSpPr/>
          <p:nvPr/>
        </p:nvSpPr>
        <p:spPr>
          <a:xfrm>
            <a:off x="6080760" y="1225296"/>
            <a:ext cx="2560320" cy="2148840"/>
          </a:xfrm>
          <a:prstGeom prst="roundRect">
            <a:avLst>
              <a:gd name="adj" fmla="val 255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cale_navy.png"/>
          <p:cNvPicPr>
            <a:picLocks noChangeAspect="1"/>
          </p:cNvPicPr>
          <p:nvPr/>
        </p:nvPicPr>
        <p:blipFill>
          <a:blip r:embed="rId4"/>
          <a:stretch>
            <a:fillRect/>
          </a:stretch>
        </p:blipFill>
        <p:spPr>
          <a:xfrm>
            <a:off x="6263640" y="1389888"/>
            <a:ext cx="256032" cy="256032"/>
          </a:xfrm>
          <a:prstGeom prst="rect">
            <a:avLst/>
          </a:prstGeom>
        </p:spPr>
      </p:pic>
      <p:sp>
        <p:nvSpPr>
          <p:cNvPr id="9" name="Text 5"/>
          <p:cNvSpPr/>
          <p:nvPr/>
        </p:nvSpPr>
        <p:spPr>
          <a:xfrm>
            <a:off x="6263640" y="1719072"/>
            <a:ext cx="2286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Cara memilih ambang</a:t>
            </a:r>
            <a:endParaRPr lang="en-US" sz="1250" dirty="0"/>
          </a:p>
        </p:txBody>
      </p:sp>
      <p:sp>
        <p:nvSpPr>
          <p:cNvPr id="10" name="Text 6"/>
          <p:cNvSpPr/>
          <p:nvPr/>
        </p:nvSpPr>
        <p:spPr>
          <a:xfrm>
            <a:off x="6245352" y="2011680"/>
            <a:ext cx="224028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Threshold 0,3: Recall 0,936 tapi 1.096 booking harus dihubungi</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Threshold 0,5 (saat ini): Recall 0,863 dengan 915 booking</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Threshold 0,7: hanya 424 booking, tapi Recall jatuh ke 0,505</a:t>
            </a:r>
            <a:endParaRPr lang="en-US" sz="860" dirty="0"/>
          </a:p>
        </p:txBody>
      </p:sp>
      <p:sp>
        <p:nvSpPr>
          <p:cNvPr id="11" name="Shape 7"/>
          <p:cNvSpPr/>
          <p:nvPr/>
        </p:nvSpPr>
        <p:spPr>
          <a:xfrm>
            <a:off x="502920" y="3493008"/>
            <a:ext cx="8138160" cy="1133856"/>
          </a:xfrm>
          <a:prstGeom prst="roundRect">
            <a:avLst>
              <a:gd name="adj" fmla="val 4839"/>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5"/>
          <a:stretch>
            <a:fillRect/>
          </a:stretch>
        </p:blipFill>
        <p:spPr>
          <a:xfrm>
            <a:off x="713232" y="3675888"/>
            <a:ext cx="274320" cy="274320"/>
          </a:xfrm>
          <a:prstGeom prst="rect">
            <a:avLst/>
          </a:prstGeom>
        </p:spPr>
      </p:pic>
      <p:sp>
        <p:nvSpPr>
          <p:cNvPr id="13" name="Text 8"/>
          <p:cNvSpPr/>
          <p:nvPr/>
        </p:nvSpPr>
        <p:spPr>
          <a:xfrm>
            <a:off x="1115568" y="3657600"/>
            <a:ext cx="4572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Keputusan ini milik bisnis, bukan model</a:t>
            </a:r>
            <a:endParaRPr lang="en-US" sz="1250" dirty="0"/>
          </a:p>
        </p:txBody>
      </p:sp>
      <p:sp>
        <p:nvSpPr>
          <p:cNvPr id="14" name="Text 9"/>
          <p:cNvSpPr/>
          <p:nvPr/>
        </p:nvSpPr>
        <p:spPr>
          <a:xfrm>
            <a:off x="1115568" y="3913632"/>
            <a:ext cx="7360920" cy="658368"/>
          </a:xfrm>
          <a:prstGeom prst="rect">
            <a:avLst/>
          </a:prstGeom>
          <a:noFill/>
          <a:ln/>
        </p:spPr>
        <p:txBody>
          <a:bodyPr wrap="square" lIns="0" tIns="0" rIns="0" bIns="0" rtlCol="0" anchor="t"/>
          <a:lstStyle/>
          <a:p>
            <a:pPr marL="0" indent="0">
              <a:lnSpc>
                <a:spcPts val="1277"/>
              </a:lnSpc>
              <a:buNone/>
            </a:pPr>
            <a:r>
              <a:rPr lang="en-US" sz="960" dirty="0">
                <a:solidFill>
                  <a:srgbClr val="16202B"/>
                </a:solidFill>
                <a:latin typeface="Calibri" pitchFamily="34" charset="0"/>
                <a:ea typeface="Calibri" pitchFamily="34" charset="-122"/>
                <a:cs typeface="Calibri" pitchFamily="34" charset="-120"/>
              </a:rPr>
              <a:t>Angka yang tepat bergantung pada berapa tamu yang realistis bisa dihubungi tim per hari. Pada threshold 0,5, hampir separuh booking (45%) perlu diperhatikan. Bila kapasitas tim terbatas, threshold 0,6 masih menangkap 81,7% pembatalan dengan 810 booking. Bila hotel sanggup menghubungi hampir semua tamu, threshold 0,3 menangkap 93,6% pembatalan.</a:t>
            </a:r>
            <a:endParaRPr lang="en-US" sz="960" dirty="0"/>
          </a:p>
          <a:p>
            <a:pPr marL="0" indent="0">
              <a:lnSpc>
                <a:spcPts val="1277"/>
              </a:lnSpc>
              <a:buNone/>
            </a:pPr>
            <a:endParaRPr lang="en-US" sz="9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FEATURE IMPORTANCE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Permintaan parkir mendominasi feature importance XGBoost</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33</a:t>
            </a:r>
            <a:endParaRPr lang="en-US" sz="900" dirty="0"/>
          </a:p>
        </p:txBody>
      </p:sp>
      <p:sp>
        <p:nvSpPr>
          <p:cNvPr id="5" name="Text 3"/>
          <p:cNvSpPr/>
          <p:nvPr/>
        </p:nvSpPr>
        <p:spPr>
          <a:xfrm>
            <a:off x="502920" y="914400"/>
            <a:ext cx="8138160" cy="310896"/>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XGBoost memakai gain-based importance: seberapa besar tiap fitur memperbaiki akurasi split pohon. Nilainya selalu positif, tidak seperti koefisien regresi yang punya arah +/-.</a:t>
            </a:r>
            <a:endParaRPr lang="en-US" sz="1000" dirty="0"/>
          </a:p>
        </p:txBody>
      </p:sp>
      <p:pic>
        <p:nvPicPr>
          <p:cNvPr id="6" name="Image 0" descr="/home/claude/assets/feat_imp_v2.png"/>
          <p:cNvPicPr>
            <a:picLocks noChangeAspect="1"/>
          </p:cNvPicPr>
          <p:nvPr/>
        </p:nvPicPr>
        <p:blipFill>
          <a:blip r:embed="rId3"/>
          <a:stretch>
            <a:fillRect/>
          </a:stretch>
        </p:blipFill>
        <p:spPr>
          <a:xfrm>
            <a:off x="502920" y="1243584"/>
            <a:ext cx="5349240" cy="2615184"/>
          </a:xfrm>
          <a:prstGeom prst="rect">
            <a:avLst/>
          </a:prstGeom>
        </p:spPr>
      </p:pic>
      <p:sp>
        <p:nvSpPr>
          <p:cNvPr id="7" name="Shape 4"/>
          <p:cNvSpPr/>
          <p:nvPr/>
        </p:nvSpPr>
        <p:spPr>
          <a:xfrm>
            <a:off x="5989320" y="1243584"/>
            <a:ext cx="2651760" cy="2615184"/>
          </a:xfrm>
          <a:prstGeom prst="roundRect">
            <a:avLst>
              <a:gd name="adj" fmla="val 2098"/>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earch_navy.png"/>
          <p:cNvPicPr>
            <a:picLocks noChangeAspect="1"/>
          </p:cNvPicPr>
          <p:nvPr/>
        </p:nvPicPr>
        <p:blipFill>
          <a:blip r:embed="rId4"/>
          <a:stretch>
            <a:fillRect/>
          </a:stretch>
        </p:blipFill>
        <p:spPr>
          <a:xfrm>
            <a:off x="6181344" y="1408176"/>
            <a:ext cx="256032" cy="256032"/>
          </a:xfrm>
          <a:prstGeom prst="rect">
            <a:avLst/>
          </a:prstGeom>
        </p:spPr>
      </p:pic>
      <p:sp>
        <p:nvSpPr>
          <p:cNvPr id="9" name="Text 5"/>
          <p:cNvSpPr/>
          <p:nvPr/>
        </p:nvSpPr>
        <p:spPr>
          <a:xfrm>
            <a:off x="6181344" y="1737360"/>
            <a:ext cx="23774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Bacaan cepat</a:t>
            </a:r>
            <a:endParaRPr lang="en-US" sz="1250" dirty="0"/>
          </a:p>
        </p:txBody>
      </p:sp>
      <p:sp>
        <p:nvSpPr>
          <p:cNvPr id="10" name="Text 6"/>
          <p:cNvSpPr/>
          <p:nvPr/>
        </p:nvSpPr>
        <p:spPr>
          <a:xfrm>
            <a:off x="6163056" y="2029968"/>
            <a:ext cx="2331720" cy="1325514"/>
          </a:xfrm>
          <a:prstGeom prst="rect">
            <a:avLst/>
          </a:prstGeom>
          <a:noFill/>
          <a:ln/>
        </p:spPr>
        <p:txBody>
          <a:bodyPr wrap="square" lIns="0" tIns="0" rIns="0" bIns="0" rtlCol="0" anchor="t"/>
          <a:lstStyle/>
          <a:p>
            <a:pPr marL="342900" indent="-342900">
              <a:lnSpc>
                <a:spcPts val="1066"/>
              </a:lnSpc>
              <a:spcAft>
                <a:spcPts val="500"/>
              </a:spcAft>
              <a:buSzPct val="100000"/>
              <a:buChar char="•"/>
            </a:pPr>
            <a:r>
              <a:rPr lang="en-US" sz="820" dirty="0">
                <a:solidFill>
                  <a:srgbClr val="16202B"/>
                </a:solidFill>
                <a:latin typeface="Calibri" pitchFamily="34" charset="0"/>
                <a:ea typeface="Calibri" pitchFamily="34" charset="-122"/>
                <a:cs typeface="Calibri" pitchFamily="34" charset="-120"/>
              </a:rPr>
              <a:t>required_car_parking_spaces menyumbang 59,7% dari total importance — dominan telak</a:t>
            </a:r>
            <a:endParaRPr lang="en-US" sz="820" dirty="0"/>
          </a:p>
          <a:p>
            <a:pPr marL="342900" indent="-342900">
              <a:lnSpc>
                <a:spcPts val="1066"/>
              </a:lnSpc>
              <a:spcAft>
                <a:spcPts val="500"/>
              </a:spcAft>
              <a:buSzPct val="100000"/>
              <a:buChar char="•"/>
            </a:pPr>
            <a:r>
              <a:rPr lang="en-US" sz="820" dirty="0">
                <a:solidFill>
                  <a:srgbClr val="16202B"/>
                </a:solidFill>
                <a:latin typeface="Calibri" pitchFamily="34" charset="0"/>
                <a:ea typeface="Calibri" pitchFamily="34" charset="-122"/>
                <a:cs typeface="Calibri" pitchFamily="34" charset="-120"/>
              </a:rPr>
              <a:t>is_domestic (dulunya country) kini hanya peringkat ke-5 dengan 4,6%</a:t>
            </a:r>
            <a:endParaRPr lang="en-US" sz="820" dirty="0"/>
          </a:p>
          <a:p>
            <a:pPr marL="342900" indent="-342900">
              <a:lnSpc>
                <a:spcPts val="1066"/>
              </a:lnSpc>
              <a:spcAft>
                <a:spcPts val="500"/>
              </a:spcAft>
              <a:buSzPct val="100000"/>
              <a:buChar char="•"/>
            </a:pPr>
            <a:r>
              <a:rPr lang="en-US" sz="820" dirty="0">
                <a:solidFill>
                  <a:srgbClr val="16202B"/>
                </a:solidFill>
                <a:latin typeface="Calibri" pitchFamily="34" charset="0"/>
                <a:ea typeface="Calibri" pitchFamily="34" charset="-122"/>
                <a:cs typeface="Calibri" pitchFamily="34" charset="-120"/>
              </a:rPr>
              <a:t>deposit_type_No Deposit dan customer_type_Transient jadi runner-up</a:t>
            </a:r>
            <a:endParaRPr lang="en-US" sz="820" dirty="0"/>
          </a:p>
          <a:p>
            <a:pPr marL="342900" indent="-342900">
              <a:lnSpc>
                <a:spcPts val="1066"/>
              </a:lnSpc>
              <a:spcAft>
                <a:spcPts val="500"/>
              </a:spcAft>
              <a:buSzPct val="100000"/>
              <a:buChar char="•"/>
            </a:pPr>
            <a:r>
              <a:rPr lang="en-US" sz="820" dirty="0">
                <a:solidFill>
                  <a:srgbClr val="16202B"/>
                </a:solidFill>
                <a:latin typeface="Calibri" pitchFamily="34" charset="0"/>
                <a:ea typeface="Calibri" pitchFamily="34" charset="-122"/>
                <a:cs typeface="Calibri" pitchFamily="34" charset="-120"/>
              </a:rPr>
              <a:t>Sisa fitur lain menyumbang di bawah 3,3% masing-masing</a:t>
            </a:r>
            <a:endParaRPr lang="en-US" sz="820" dirty="0"/>
          </a:p>
        </p:txBody>
      </p:sp>
      <p:sp>
        <p:nvSpPr>
          <p:cNvPr id="11" name="Shape 7"/>
          <p:cNvSpPr/>
          <p:nvPr/>
        </p:nvSpPr>
        <p:spPr>
          <a:xfrm>
            <a:off x="502920" y="3968496"/>
            <a:ext cx="8138160" cy="658368"/>
          </a:xfrm>
          <a:prstGeom prst="roundRect">
            <a:avLst>
              <a:gd name="adj" fmla="val 8333"/>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5"/>
          <a:stretch>
            <a:fillRect/>
          </a:stretch>
        </p:blipFill>
        <p:spPr>
          <a:xfrm>
            <a:off x="694944" y="4096512"/>
            <a:ext cx="219456" cy="219456"/>
          </a:xfrm>
          <a:prstGeom prst="rect">
            <a:avLst/>
          </a:prstGeom>
        </p:spPr>
      </p:pic>
      <p:sp>
        <p:nvSpPr>
          <p:cNvPr id="13" name="Text 8"/>
          <p:cNvSpPr/>
          <p:nvPr/>
        </p:nvSpPr>
        <p:spPr>
          <a:xfrm>
            <a:off x="1005840" y="4078224"/>
            <a:ext cx="7452360" cy="512064"/>
          </a:xfrm>
          <a:prstGeom prst="rect">
            <a:avLst/>
          </a:prstGeom>
          <a:noFill/>
          <a:ln/>
        </p:spPr>
        <p:txBody>
          <a:bodyPr wrap="square" lIns="0" tIns="0" rIns="0" bIns="0" rtlCol="0" anchor="t"/>
          <a:lstStyle/>
          <a:p>
            <a:pPr marL="0" indent="0">
              <a:lnSpc>
                <a:spcPts val="1237"/>
              </a:lnSpc>
              <a:buNone/>
            </a:pPr>
            <a:r>
              <a:rPr lang="en-US" sz="930" dirty="0">
                <a:solidFill>
                  <a:srgbClr val="2F7D5E"/>
                </a:solidFill>
                <a:latin typeface="Calibri" pitchFamily="34" charset="0"/>
                <a:ea typeface="Calibri" pitchFamily="34" charset="-122"/>
                <a:cs typeface="Calibri" pitchFamily="34" charset="-120"/>
              </a:rPr>
              <a:t>Perbandingan penting: pada model lama dengan country penuh (TargetEncoded), country_enc mendominasi dengan koefisien +7,224 — jauh di atas fitur lain. Setelah disederhanakan jadi is_domestic, dominasi itu hilang sama sekali. Ini konfirmasi bahwa dominasi country sebelumnya adalah artefak encoding, bukan sinyal bisnis yang sesungguhnya.</a:t>
            </a:r>
            <a:endParaRPr lang="en-US" sz="93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FEATURE IMPORTANCE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Membaca feature importance dalam bahasa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502920" y="1060704"/>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07008"/>
            <a:ext cx="420624" cy="420624"/>
          </a:xfrm>
          <a:prstGeom prst="roundRect">
            <a:avLst>
              <a:gd name="adj" fmla="val 17391"/>
            </a:avLst>
          </a:prstGeom>
          <a:solidFill>
            <a:srgbClr val="123A5E"/>
          </a:solidFill>
          <a:ln/>
        </p:spPr>
        <p:txBody>
          <a:bodyPr/>
          <a:lstStyle/>
          <a:p>
            <a:endParaRPr lang="en-ID"/>
          </a:p>
        </p:txBody>
      </p:sp>
      <p:pic>
        <p:nvPicPr>
          <p:cNvPr id="7" name="Image 0" descr="/home/claude/assets/ic_money_white.png"/>
          <p:cNvPicPr>
            <a:picLocks noChangeAspect="1"/>
          </p:cNvPicPr>
          <p:nvPr/>
        </p:nvPicPr>
        <p:blipFill>
          <a:blip r:embed="rId3"/>
          <a:stretch>
            <a:fillRect/>
          </a:stretch>
        </p:blipFill>
        <p:spPr>
          <a:xfrm>
            <a:off x="758952" y="1307592"/>
            <a:ext cx="219456" cy="219456"/>
          </a:xfrm>
          <a:prstGeom prst="rect">
            <a:avLst/>
          </a:prstGeom>
        </p:spPr>
      </p:pic>
      <p:sp>
        <p:nvSpPr>
          <p:cNvPr id="8" name="Text 5"/>
          <p:cNvSpPr/>
          <p:nvPr/>
        </p:nvSpPr>
        <p:spPr>
          <a:xfrm>
            <a:off x="1207008" y="1170432"/>
            <a:ext cx="265176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required_car_parking_spaces</a:t>
            </a:r>
            <a:endParaRPr lang="en-US" sz="1050" dirty="0"/>
          </a:p>
        </p:txBody>
      </p:sp>
      <p:sp>
        <p:nvSpPr>
          <p:cNvPr id="9" name="Text 6"/>
          <p:cNvSpPr/>
          <p:nvPr/>
        </p:nvSpPr>
        <p:spPr>
          <a:xfrm>
            <a:off x="1207008" y="1417320"/>
            <a:ext cx="2651760" cy="219456"/>
          </a:xfrm>
          <a:prstGeom prst="rect">
            <a:avLst/>
          </a:prstGeom>
          <a:noFill/>
          <a:ln/>
        </p:spPr>
        <p:txBody>
          <a:bodyPr wrap="square" lIns="0" tIns="0" rIns="0" bIns="0" rtlCol="0" anchor="ctr"/>
          <a:lstStyle/>
          <a:p>
            <a:pPr marL="0" indent="0">
              <a:buNone/>
            </a:pPr>
            <a:r>
              <a:rPr lang="en-US" sz="1100" b="1" dirty="0">
                <a:solidFill>
                  <a:srgbClr val="E2703A"/>
                </a:solidFill>
                <a:latin typeface="Consolas" pitchFamily="34" charset="0"/>
                <a:ea typeface="Consolas" pitchFamily="34" charset="-122"/>
                <a:cs typeface="Consolas" pitchFamily="34" charset="-120"/>
              </a:rPr>
              <a:t>59,7%</a:t>
            </a:r>
            <a:endParaRPr lang="en-US" sz="1100" dirty="0"/>
          </a:p>
        </p:txBody>
      </p:sp>
      <p:sp>
        <p:nvSpPr>
          <p:cNvPr id="10" name="Text 7"/>
          <p:cNvSpPr/>
          <p:nvPr/>
        </p:nvSpPr>
        <p:spPr>
          <a:xfrm>
            <a:off x="3977640" y="1188720"/>
            <a:ext cx="4498848" cy="54864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Tamu yang memesan slot parkir sudah merencanakan perjalanan secara konkret — indikator komitmen terkuat, meski hanya 16,5% booking memintanya.</a:t>
            </a:r>
            <a:endParaRPr lang="en-US" sz="930" dirty="0"/>
          </a:p>
        </p:txBody>
      </p:sp>
      <p:sp>
        <p:nvSpPr>
          <p:cNvPr id="11" name="Shape 8"/>
          <p:cNvSpPr/>
          <p:nvPr/>
        </p:nvSpPr>
        <p:spPr>
          <a:xfrm>
            <a:off x="502920" y="1865376"/>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658368" y="2011680"/>
            <a:ext cx="420624" cy="420624"/>
          </a:xfrm>
          <a:prstGeom prst="roundRect">
            <a:avLst>
              <a:gd name="adj" fmla="val 17391"/>
            </a:avLst>
          </a:prstGeom>
          <a:solidFill>
            <a:srgbClr val="123A5E"/>
          </a:solidFill>
          <a:ln/>
        </p:spPr>
        <p:txBody>
          <a:bodyPr/>
          <a:lstStyle/>
          <a:p>
            <a:endParaRPr lang="en-ID"/>
          </a:p>
        </p:txBody>
      </p:sp>
      <p:pic>
        <p:nvPicPr>
          <p:cNvPr id="13" name="Image 1" descr="/home/claude/assets/ic_lock_white.png"/>
          <p:cNvPicPr>
            <a:picLocks noChangeAspect="1"/>
          </p:cNvPicPr>
          <p:nvPr/>
        </p:nvPicPr>
        <p:blipFill>
          <a:blip r:embed="rId4"/>
          <a:stretch>
            <a:fillRect/>
          </a:stretch>
        </p:blipFill>
        <p:spPr>
          <a:xfrm>
            <a:off x="758952" y="2112264"/>
            <a:ext cx="219456" cy="219456"/>
          </a:xfrm>
          <a:prstGeom prst="rect">
            <a:avLst/>
          </a:prstGeom>
        </p:spPr>
      </p:pic>
      <p:sp>
        <p:nvSpPr>
          <p:cNvPr id="14" name="Text 10"/>
          <p:cNvSpPr/>
          <p:nvPr/>
        </p:nvSpPr>
        <p:spPr>
          <a:xfrm>
            <a:off x="1207008" y="1975104"/>
            <a:ext cx="265176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deposit_type_No Deposit</a:t>
            </a:r>
            <a:endParaRPr lang="en-US" sz="1050" dirty="0"/>
          </a:p>
        </p:txBody>
      </p:sp>
      <p:sp>
        <p:nvSpPr>
          <p:cNvPr id="15" name="Text 11"/>
          <p:cNvSpPr/>
          <p:nvPr/>
        </p:nvSpPr>
        <p:spPr>
          <a:xfrm>
            <a:off x="1207008" y="2221992"/>
            <a:ext cx="2651760" cy="219456"/>
          </a:xfrm>
          <a:prstGeom prst="rect">
            <a:avLst/>
          </a:prstGeom>
          <a:noFill/>
          <a:ln/>
        </p:spPr>
        <p:txBody>
          <a:bodyPr wrap="square" lIns="0" tIns="0" rIns="0" bIns="0" rtlCol="0" anchor="ctr"/>
          <a:lstStyle/>
          <a:p>
            <a:pPr marL="0" indent="0">
              <a:buNone/>
            </a:pPr>
            <a:r>
              <a:rPr lang="en-US" sz="1100" b="1" dirty="0">
                <a:solidFill>
                  <a:srgbClr val="E2703A"/>
                </a:solidFill>
                <a:latin typeface="Consolas" pitchFamily="34" charset="0"/>
                <a:ea typeface="Consolas" pitchFamily="34" charset="-122"/>
                <a:cs typeface="Consolas" pitchFamily="34" charset="-120"/>
              </a:rPr>
              <a:t>10,1%</a:t>
            </a:r>
            <a:endParaRPr lang="en-US" sz="1100" dirty="0"/>
          </a:p>
        </p:txBody>
      </p:sp>
      <p:sp>
        <p:nvSpPr>
          <p:cNvPr id="16" name="Text 12"/>
          <p:cNvSpPr/>
          <p:nvPr/>
        </p:nvSpPr>
        <p:spPr>
          <a:xfrm>
            <a:off x="3977640" y="1993392"/>
            <a:ext cx="4498848" cy="54864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Konsisten dengan temuan bivariat: 97,6% booking berstatus No Deposit, dan kelompok ini punya cancellation rate terendah (22,5%).</a:t>
            </a:r>
            <a:endParaRPr lang="en-US" sz="930" dirty="0"/>
          </a:p>
        </p:txBody>
      </p:sp>
      <p:sp>
        <p:nvSpPr>
          <p:cNvPr id="17" name="Shape 13"/>
          <p:cNvSpPr/>
          <p:nvPr/>
        </p:nvSpPr>
        <p:spPr>
          <a:xfrm>
            <a:off x="502920" y="2670048"/>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658368" y="2816352"/>
            <a:ext cx="420624" cy="420624"/>
          </a:xfrm>
          <a:prstGeom prst="roundRect">
            <a:avLst>
              <a:gd name="adj" fmla="val 17391"/>
            </a:avLst>
          </a:prstGeom>
          <a:solidFill>
            <a:srgbClr val="123A5E"/>
          </a:solidFill>
          <a:ln/>
        </p:spPr>
        <p:txBody>
          <a:bodyPr/>
          <a:lstStyle/>
          <a:p>
            <a:endParaRPr lang="en-ID"/>
          </a:p>
        </p:txBody>
      </p:sp>
      <p:pic>
        <p:nvPicPr>
          <p:cNvPr id="19" name="Image 2" descr="/home/claude/assets/ic_users_white.png"/>
          <p:cNvPicPr>
            <a:picLocks noChangeAspect="1"/>
          </p:cNvPicPr>
          <p:nvPr/>
        </p:nvPicPr>
        <p:blipFill>
          <a:blip r:embed="rId5"/>
          <a:stretch>
            <a:fillRect/>
          </a:stretch>
        </p:blipFill>
        <p:spPr>
          <a:xfrm>
            <a:off x="758952" y="2916936"/>
            <a:ext cx="219456" cy="219456"/>
          </a:xfrm>
          <a:prstGeom prst="rect">
            <a:avLst/>
          </a:prstGeom>
        </p:spPr>
      </p:pic>
      <p:sp>
        <p:nvSpPr>
          <p:cNvPr id="20" name="Text 15"/>
          <p:cNvSpPr/>
          <p:nvPr/>
        </p:nvSpPr>
        <p:spPr>
          <a:xfrm>
            <a:off x="1207008" y="2779776"/>
            <a:ext cx="265176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customer_type_Transient</a:t>
            </a:r>
            <a:endParaRPr lang="en-US" sz="1050" dirty="0"/>
          </a:p>
        </p:txBody>
      </p:sp>
      <p:sp>
        <p:nvSpPr>
          <p:cNvPr id="21" name="Text 16"/>
          <p:cNvSpPr/>
          <p:nvPr/>
        </p:nvSpPr>
        <p:spPr>
          <a:xfrm>
            <a:off x="1207008" y="3026664"/>
            <a:ext cx="2651760" cy="219456"/>
          </a:xfrm>
          <a:prstGeom prst="rect">
            <a:avLst/>
          </a:prstGeom>
          <a:noFill/>
          <a:ln/>
        </p:spPr>
        <p:txBody>
          <a:bodyPr wrap="square" lIns="0" tIns="0" rIns="0" bIns="0" rtlCol="0" anchor="ctr"/>
          <a:lstStyle/>
          <a:p>
            <a:pPr marL="0" indent="0">
              <a:buNone/>
            </a:pPr>
            <a:r>
              <a:rPr lang="en-US" sz="1100" b="1" dirty="0">
                <a:solidFill>
                  <a:srgbClr val="E2703A"/>
                </a:solidFill>
                <a:latin typeface="Consolas" pitchFamily="34" charset="0"/>
                <a:ea typeface="Consolas" pitchFamily="34" charset="-122"/>
                <a:cs typeface="Consolas" pitchFamily="34" charset="-120"/>
              </a:rPr>
              <a:t>6,1%</a:t>
            </a:r>
            <a:endParaRPr lang="en-US" sz="1100" dirty="0"/>
          </a:p>
        </p:txBody>
      </p:sp>
      <p:sp>
        <p:nvSpPr>
          <p:cNvPr id="22" name="Text 17"/>
          <p:cNvSpPr/>
          <p:nvPr/>
        </p:nvSpPr>
        <p:spPr>
          <a:xfrm>
            <a:off x="3977640" y="2798064"/>
            <a:ext cx="4498848" cy="54864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Pemesan individual (67,6% populasi) adalah segmen paling fleksibel mengubah rencana, sejalan dengan cancellation rate 29,0%.</a:t>
            </a:r>
            <a:endParaRPr lang="en-US" sz="930" dirty="0"/>
          </a:p>
        </p:txBody>
      </p:sp>
      <p:sp>
        <p:nvSpPr>
          <p:cNvPr id="23" name="Shape 18"/>
          <p:cNvSpPr/>
          <p:nvPr/>
        </p:nvSpPr>
        <p:spPr>
          <a:xfrm>
            <a:off x="502920" y="3474720"/>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658368" y="3621024"/>
            <a:ext cx="420624" cy="420624"/>
          </a:xfrm>
          <a:prstGeom prst="roundRect">
            <a:avLst>
              <a:gd name="adj" fmla="val 17391"/>
            </a:avLst>
          </a:prstGeom>
          <a:solidFill>
            <a:srgbClr val="123A5E"/>
          </a:solidFill>
          <a:ln/>
        </p:spPr>
        <p:txBody>
          <a:bodyPr/>
          <a:lstStyle/>
          <a:p>
            <a:endParaRPr lang="en-ID"/>
          </a:p>
        </p:txBody>
      </p:sp>
      <p:pic>
        <p:nvPicPr>
          <p:cNvPr id="25" name="Image 3" descr="/home/claude/assets/ic_search_white.png"/>
          <p:cNvPicPr>
            <a:picLocks noChangeAspect="1"/>
          </p:cNvPicPr>
          <p:nvPr/>
        </p:nvPicPr>
        <p:blipFill>
          <a:blip r:embed="rId6"/>
          <a:stretch>
            <a:fillRect/>
          </a:stretch>
        </p:blipFill>
        <p:spPr>
          <a:xfrm>
            <a:off x="758952" y="3721608"/>
            <a:ext cx="219456" cy="219456"/>
          </a:xfrm>
          <a:prstGeom prst="rect">
            <a:avLst/>
          </a:prstGeom>
        </p:spPr>
      </p:pic>
      <p:sp>
        <p:nvSpPr>
          <p:cNvPr id="26" name="Text 20"/>
          <p:cNvSpPr/>
          <p:nvPr/>
        </p:nvSpPr>
        <p:spPr>
          <a:xfrm>
            <a:off x="1207008" y="3584448"/>
            <a:ext cx="265176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is_domestic</a:t>
            </a:r>
            <a:endParaRPr lang="en-US" sz="1050" dirty="0"/>
          </a:p>
        </p:txBody>
      </p:sp>
      <p:sp>
        <p:nvSpPr>
          <p:cNvPr id="27" name="Text 21"/>
          <p:cNvSpPr/>
          <p:nvPr/>
        </p:nvSpPr>
        <p:spPr>
          <a:xfrm>
            <a:off x="1207008" y="3831336"/>
            <a:ext cx="2651760" cy="219456"/>
          </a:xfrm>
          <a:prstGeom prst="rect">
            <a:avLst/>
          </a:prstGeom>
          <a:noFill/>
          <a:ln/>
        </p:spPr>
        <p:txBody>
          <a:bodyPr wrap="square" lIns="0" tIns="0" rIns="0" bIns="0" rtlCol="0" anchor="ctr"/>
          <a:lstStyle/>
          <a:p>
            <a:pPr marL="0" indent="0">
              <a:buNone/>
            </a:pPr>
            <a:r>
              <a:rPr lang="en-US" sz="1100" b="1" dirty="0">
                <a:solidFill>
                  <a:srgbClr val="E2703A"/>
                </a:solidFill>
                <a:latin typeface="Consolas" pitchFamily="34" charset="0"/>
                <a:ea typeface="Consolas" pitchFamily="34" charset="-122"/>
                <a:cs typeface="Consolas" pitchFamily="34" charset="-120"/>
              </a:rPr>
              <a:t>4,6%</a:t>
            </a:r>
            <a:endParaRPr lang="en-US" sz="1100" dirty="0"/>
          </a:p>
        </p:txBody>
      </p:sp>
      <p:sp>
        <p:nvSpPr>
          <p:cNvPr id="28" name="Text 22"/>
          <p:cNvSpPr/>
          <p:nvPr/>
        </p:nvSpPr>
        <p:spPr>
          <a:xfrm>
            <a:off x="3977640" y="3602736"/>
            <a:ext cx="4498848" cy="54864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Setelah disederhanakan dari 162 kategori country, sinyal domestik-vs-mancanegara tetap terpakai tapi tidak lagi mendominasi.</a:t>
            </a:r>
            <a:endParaRPr lang="en-US" sz="930" dirty="0"/>
          </a:p>
        </p:txBody>
      </p:sp>
      <p:sp>
        <p:nvSpPr>
          <p:cNvPr id="29" name="Shape 23"/>
          <p:cNvSpPr/>
          <p:nvPr/>
        </p:nvSpPr>
        <p:spPr>
          <a:xfrm>
            <a:off x="502920" y="4297680"/>
            <a:ext cx="8138160" cy="548640"/>
          </a:xfrm>
          <a:prstGeom prst="roundRect">
            <a:avLst>
              <a:gd name="adj" fmla="val 1000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0" name="Image 4" descr="/home/claude/assets/ic_warn_orange.png"/>
          <p:cNvPicPr>
            <a:picLocks noChangeAspect="1"/>
          </p:cNvPicPr>
          <p:nvPr/>
        </p:nvPicPr>
        <p:blipFill>
          <a:blip r:embed="rId7"/>
          <a:stretch>
            <a:fillRect/>
          </a:stretch>
        </p:blipFill>
        <p:spPr>
          <a:xfrm>
            <a:off x="694944" y="4407408"/>
            <a:ext cx="219456" cy="219456"/>
          </a:xfrm>
          <a:prstGeom prst="rect">
            <a:avLst/>
          </a:prstGeom>
        </p:spPr>
      </p:pic>
      <p:sp>
        <p:nvSpPr>
          <p:cNvPr id="31" name="Text 24"/>
          <p:cNvSpPr/>
          <p:nvPr/>
        </p:nvSpPr>
        <p:spPr>
          <a:xfrm>
            <a:off x="1005840" y="4407408"/>
            <a:ext cx="7452360" cy="365760"/>
          </a:xfrm>
          <a:prstGeom prst="rect">
            <a:avLst/>
          </a:prstGeom>
          <a:noFill/>
          <a:ln/>
        </p:spPr>
        <p:txBody>
          <a:bodyPr wrap="square" lIns="0" tIns="0" rIns="0" bIns="0" rtlCol="0" anchor="t"/>
          <a:lstStyle/>
          <a:p>
            <a:pPr marL="0" indent="0">
              <a:lnSpc>
                <a:spcPts val="1264"/>
              </a:lnSpc>
              <a:buNone/>
            </a:pPr>
            <a:r>
              <a:rPr lang="en-US" sz="950" dirty="0">
                <a:solidFill>
                  <a:srgbClr val="B3392E"/>
                </a:solidFill>
                <a:latin typeface="Calibri" pitchFamily="34" charset="0"/>
                <a:ea typeface="Calibri" pitchFamily="34" charset="-122"/>
                <a:cs typeface="Calibri" pitchFamily="34" charset="-120"/>
              </a:rPr>
              <a:t>Gain importance menunjukkan seberapa berguna fitur untuk memisahkan data, bukan hubungan sebab-akibat. Tamu tidak akan otomatis membatalkan lebih jarang hanya karena dipaksa memesan parkir.</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LIMITASI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Kapan model ini boleh dipercaya — dan kapan tidak</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35</a:t>
            </a:r>
            <a:endParaRPr lang="en-US" sz="900" dirty="0"/>
          </a:p>
        </p:txBody>
      </p:sp>
      <p:sp>
        <p:nvSpPr>
          <p:cNvPr id="5" name="Shape 3"/>
          <p:cNvSpPr/>
          <p:nvPr/>
        </p:nvSpPr>
        <p:spPr>
          <a:xfrm>
            <a:off x="502920" y="1097280"/>
            <a:ext cx="3977640" cy="3035808"/>
          </a:xfrm>
          <a:prstGeom prst="roundRect">
            <a:avLst>
              <a:gd name="adj" fmla="val 1807"/>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check_navy.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Dapat diandalkan untuk</a:t>
            </a:r>
            <a:endParaRPr lang="en-US" sz="1250" dirty="0"/>
          </a:p>
        </p:txBody>
      </p:sp>
      <p:sp>
        <p:nvSpPr>
          <p:cNvPr id="8" name="Text 5"/>
          <p:cNvSpPr/>
          <p:nvPr/>
        </p:nvSpPr>
        <p:spPr>
          <a:xfrm>
            <a:off x="713232" y="1645920"/>
            <a:ext cx="3566160" cy="1465966"/>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Menangkap mayoritas pembatalan: 415 dari 481 booking (Recall 0,863) pada data uji</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Performa stabil — Avg Recall CV (0,863) dekat dengan skor test (0,863)</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Profil tamu yang mirip data latih: mayoritas No Deposit, tipe Transient, kanal Online TA</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Memeringkat prioritas intervensi berdasarkan probabilitas (AUC-ROC 0,846)</a:t>
            </a:r>
            <a:endParaRPr lang="en-US" sz="940" dirty="0"/>
          </a:p>
        </p:txBody>
      </p:sp>
      <p:sp>
        <p:nvSpPr>
          <p:cNvPr id="9" name="Shape 6"/>
          <p:cNvSpPr/>
          <p:nvPr/>
        </p:nvSpPr>
        <p:spPr>
          <a:xfrm>
            <a:off x="4663440" y="1097280"/>
            <a:ext cx="3977640" cy="3035808"/>
          </a:xfrm>
          <a:prstGeom prst="roundRect">
            <a:avLst>
              <a:gd name="adj" fmla="val 180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warn_orange.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Belum bisa diandalkan untuk</a:t>
            </a:r>
            <a:endParaRPr lang="en-US" sz="1250" dirty="0"/>
          </a:p>
        </p:txBody>
      </p:sp>
      <p:sp>
        <p:nvSpPr>
          <p:cNvPr id="12" name="Text 8"/>
          <p:cNvSpPr/>
          <p:nvPr/>
        </p:nvSpPr>
        <p:spPr>
          <a:xfrm>
            <a:off x="4873752" y="1645920"/>
            <a:ext cx="3566160" cy="1465966"/>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Keputusan otomatis tanpa verifikasi manusia — 500 dari 915 booking yang ditandai sebenarnya aman</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Segmen bersampel sangat kecil: Refundable (47 baris), Aviation (81)</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Gap train-test 0,041 — lebih lebar dari model linear, indikasi XGBoost sedikit menghafal pola spesifik</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Periode dengan pola permintaan berubah — dataset tidak punya dimensi waktu untuk memvalidasinya</a:t>
            </a:r>
            <a:endParaRPr lang="en-US" sz="940" dirty="0"/>
          </a:p>
        </p:txBody>
      </p:sp>
      <p:sp>
        <p:nvSpPr>
          <p:cNvPr id="13" name="Text 9"/>
          <p:cNvSpPr/>
          <p:nvPr/>
        </p:nvSpPr>
        <p:spPr>
          <a:xfrm>
            <a:off x="502920" y="4224528"/>
            <a:ext cx="8138160" cy="384048"/>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Rekomendasi penggunaan: pakai model sebagai penyaring awal dan alat prioritisasi. Dengan Precision 0,454, keluarannya perlu diurutkan berdasarkan probabilitas dan diverifikasi tim, bukan dieksekusi otomatis.</a:t>
            </a:r>
            <a:endParaRPr lang="en-US" sz="9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04</a:t>
            </a:r>
            <a:endParaRPr lang="en-US" sz="5800" dirty="0"/>
          </a:p>
        </p:txBody>
      </p:sp>
      <p:pic>
        <p:nvPicPr>
          <p:cNvPr id="5" name="Image 0" descr="/home/claude/assets/ic_flag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Impact &amp; Rekomendasi</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Dampak bisnis, kesimpulan, dan rencana perbaikan</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BUSINESS IMPACT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Kerangka perhitungan dampak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a:off x="502920" y="1060704"/>
            <a:ext cx="8138160" cy="694944"/>
          </a:xfrm>
          <a:prstGeom prst="roundRect">
            <a:avLst>
              <a:gd name="adj" fmla="val 7895"/>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207008"/>
            <a:ext cx="256032" cy="256032"/>
          </a:xfrm>
          <a:prstGeom prst="rect">
            <a:avLst/>
          </a:prstGeom>
        </p:spPr>
      </p:pic>
      <p:sp>
        <p:nvSpPr>
          <p:cNvPr id="7" name="Text 4"/>
          <p:cNvSpPr/>
          <p:nvPr/>
        </p:nvSpPr>
        <p:spPr>
          <a:xfrm>
            <a:off x="1097280" y="1188720"/>
            <a:ext cx="7360920" cy="457200"/>
          </a:xfrm>
          <a:prstGeom prst="rect">
            <a:avLst/>
          </a:prstGeom>
          <a:noFill/>
          <a:ln/>
        </p:spPr>
        <p:txBody>
          <a:bodyPr wrap="square" lIns="0" tIns="0" rIns="0" bIns="0" rtlCol="0" anchor="t"/>
          <a:lstStyle/>
          <a:p>
            <a:pPr marL="0" indent="0">
              <a:lnSpc>
                <a:spcPts val="1330"/>
              </a:lnSpc>
              <a:buNone/>
            </a:pPr>
            <a:r>
              <a:rPr lang="en-US" sz="1000" dirty="0">
                <a:solidFill>
                  <a:srgbClr val="B3392E"/>
                </a:solidFill>
                <a:latin typeface="Calibri" pitchFamily="34" charset="0"/>
                <a:ea typeface="Calibri" pitchFamily="34" charset="-122"/>
                <a:cs typeface="Calibri" pitchFamily="34" charset="-120"/>
              </a:rPr>
              <a:t>Dataset tidak memuat harga kamar (ADR) maupun biaya intervensi, sehingga nilai rupiah tidak dapat dihitung dari data. Kerangka di bawah harus diisi angka internal hotel dan disebut sebagai asumsi.</a:t>
            </a:r>
            <a:endParaRPr lang="en-US" sz="1000" dirty="0"/>
          </a:p>
        </p:txBody>
      </p:sp>
      <p:sp>
        <p:nvSpPr>
          <p:cNvPr id="8" name="Shape 5"/>
          <p:cNvSpPr/>
          <p:nvPr/>
        </p:nvSpPr>
        <p:spPr>
          <a:xfrm>
            <a:off x="502920" y="1883664"/>
            <a:ext cx="8138160" cy="1005840"/>
          </a:xfrm>
          <a:prstGeom prst="roundRect">
            <a:avLst>
              <a:gd name="adj" fmla="val 5455"/>
            </a:avLst>
          </a:prstGeom>
          <a:solidFill>
            <a:srgbClr val="F7F1F0"/>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9" name="Text 6"/>
          <p:cNvSpPr/>
          <p:nvPr/>
        </p:nvSpPr>
        <p:spPr>
          <a:xfrm>
            <a:off x="731520" y="2002536"/>
            <a:ext cx="1828800" cy="237744"/>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Tanpa model</a:t>
            </a:r>
            <a:endParaRPr lang="en-US" sz="1250" dirty="0"/>
          </a:p>
        </p:txBody>
      </p:sp>
      <p:sp>
        <p:nvSpPr>
          <p:cNvPr id="10" name="Text 7"/>
          <p:cNvSpPr/>
          <p:nvPr/>
        </p:nvSpPr>
        <p:spPr>
          <a:xfrm>
            <a:off x="731520" y="2276856"/>
            <a:ext cx="3749040" cy="54864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Semua booking diperlakukan sama. Seluruh 481 pembatalan pada periode uji terjadi tanpa antisipasi.</a:t>
            </a:r>
            <a:endParaRPr lang="en-US" sz="1000" dirty="0"/>
          </a:p>
        </p:txBody>
      </p:sp>
      <p:sp>
        <p:nvSpPr>
          <p:cNvPr id="11" name="Shape 8"/>
          <p:cNvSpPr/>
          <p:nvPr/>
        </p:nvSpPr>
        <p:spPr>
          <a:xfrm>
            <a:off x="4617720" y="2057400"/>
            <a:ext cx="3840480" cy="640080"/>
          </a:xfrm>
          <a:prstGeom prst="roundRect">
            <a:avLst>
              <a:gd name="adj" fmla="val 8571"/>
            </a:avLst>
          </a:prstGeom>
          <a:solidFill>
            <a:srgbClr val="FFFFFF"/>
          </a:solidFill>
          <a:ln w="9525">
            <a:solidFill>
              <a:srgbClr val="D8E0E8"/>
            </a:solidFill>
            <a:prstDash val="solid"/>
          </a:ln>
        </p:spPr>
        <p:txBody>
          <a:bodyPr/>
          <a:lstStyle/>
          <a:p>
            <a:endParaRPr lang="en-ID"/>
          </a:p>
        </p:txBody>
      </p:sp>
      <p:sp>
        <p:nvSpPr>
          <p:cNvPr id="12" name="Text 9"/>
          <p:cNvSpPr/>
          <p:nvPr/>
        </p:nvSpPr>
        <p:spPr>
          <a:xfrm>
            <a:off x="4736592" y="2148840"/>
            <a:ext cx="3602736" cy="457200"/>
          </a:xfrm>
          <a:prstGeom prst="rect">
            <a:avLst/>
          </a:prstGeom>
          <a:noFill/>
          <a:ln/>
        </p:spPr>
        <p:txBody>
          <a:bodyPr wrap="square" lIns="0" tIns="0" rIns="0" bIns="0" rtlCol="0" anchor="ctr"/>
          <a:lstStyle/>
          <a:p>
            <a:pPr marL="0" indent="0" algn="ctr">
              <a:buNone/>
            </a:pPr>
            <a:r>
              <a:rPr lang="en-US" sz="1050" b="1" dirty="0">
                <a:solidFill>
                  <a:srgbClr val="16202B"/>
                </a:solidFill>
                <a:latin typeface="Calibri" pitchFamily="34" charset="0"/>
                <a:ea typeface="Calibri" pitchFamily="34" charset="-122"/>
                <a:cs typeface="Calibri" pitchFamily="34" charset="-120"/>
              </a:rPr>
              <a:t>481 × biaya kamar kosong</a:t>
            </a:r>
            <a:endParaRPr lang="en-US" sz="1050" dirty="0"/>
          </a:p>
        </p:txBody>
      </p:sp>
      <p:sp>
        <p:nvSpPr>
          <p:cNvPr id="13" name="Shape 10"/>
          <p:cNvSpPr/>
          <p:nvPr/>
        </p:nvSpPr>
        <p:spPr>
          <a:xfrm>
            <a:off x="502920" y="2999232"/>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4" name="Text 11"/>
          <p:cNvSpPr/>
          <p:nvPr/>
        </p:nvSpPr>
        <p:spPr>
          <a:xfrm>
            <a:off x="731520" y="3118104"/>
            <a:ext cx="1828800" cy="237744"/>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Dengan model</a:t>
            </a:r>
            <a:endParaRPr lang="en-US" sz="1250" dirty="0"/>
          </a:p>
        </p:txBody>
      </p:sp>
      <p:sp>
        <p:nvSpPr>
          <p:cNvPr id="15" name="Text 12"/>
          <p:cNvSpPr/>
          <p:nvPr/>
        </p:nvSpPr>
        <p:spPr>
          <a:xfrm>
            <a:off x="731520" y="3392424"/>
            <a:ext cx="3749040" cy="54864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415 pembatalan terdeteksi lebih awal dan dapat diintervensi. 500 booking aman ikut dihubungi.</a:t>
            </a:r>
            <a:endParaRPr lang="en-US" sz="1000" dirty="0"/>
          </a:p>
        </p:txBody>
      </p:sp>
      <p:sp>
        <p:nvSpPr>
          <p:cNvPr id="16" name="Shape 13"/>
          <p:cNvSpPr/>
          <p:nvPr/>
        </p:nvSpPr>
        <p:spPr>
          <a:xfrm>
            <a:off x="4617720" y="3172968"/>
            <a:ext cx="3840480" cy="640080"/>
          </a:xfrm>
          <a:prstGeom prst="roundRect">
            <a:avLst>
              <a:gd name="adj" fmla="val 8571"/>
            </a:avLst>
          </a:prstGeom>
          <a:solidFill>
            <a:srgbClr val="FFFFFF"/>
          </a:solidFill>
          <a:ln w="9525">
            <a:solidFill>
              <a:srgbClr val="D8E0E8"/>
            </a:solidFill>
            <a:prstDash val="solid"/>
          </a:ln>
        </p:spPr>
        <p:txBody>
          <a:bodyPr/>
          <a:lstStyle/>
          <a:p>
            <a:endParaRPr lang="en-ID"/>
          </a:p>
        </p:txBody>
      </p:sp>
      <p:sp>
        <p:nvSpPr>
          <p:cNvPr id="17" name="Text 14"/>
          <p:cNvSpPr/>
          <p:nvPr/>
        </p:nvSpPr>
        <p:spPr>
          <a:xfrm>
            <a:off x="4736592" y="3264408"/>
            <a:ext cx="3602736" cy="457200"/>
          </a:xfrm>
          <a:prstGeom prst="rect">
            <a:avLst/>
          </a:prstGeom>
          <a:noFill/>
          <a:ln/>
        </p:spPr>
        <p:txBody>
          <a:bodyPr wrap="square" lIns="0" tIns="0" rIns="0" bIns="0" rtlCol="0" anchor="ctr"/>
          <a:lstStyle/>
          <a:p>
            <a:pPr marL="0" indent="0" algn="ctr">
              <a:buNone/>
            </a:pPr>
            <a:r>
              <a:rPr lang="en-US" sz="1050" b="1" dirty="0">
                <a:solidFill>
                  <a:srgbClr val="16202B"/>
                </a:solidFill>
                <a:latin typeface="Calibri" pitchFamily="34" charset="0"/>
                <a:ea typeface="Calibri" pitchFamily="34" charset="-122"/>
                <a:cs typeface="Calibri" pitchFamily="34" charset="-120"/>
              </a:rPr>
              <a:t>(415 × tingkat keberhasilan retensi × nilai kamar) − (915 × biaya intervensi)</a:t>
            </a:r>
            <a:endParaRPr lang="en-US" sz="1050" dirty="0"/>
          </a:p>
        </p:txBody>
      </p:sp>
      <p:sp>
        <p:nvSpPr>
          <p:cNvPr id="18" name="Shape 15"/>
          <p:cNvSpPr/>
          <p:nvPr/>
        </p:nvSpPr>
        <p:spPr>
          <a:xfrm>
            <a:off x="502920" y="4133088"/>
            <a:ext cx="8138160" cy="548640"/>
          </a:xfrm>
          <a:prstGeom prst="roundRect">
            <a:avLst>
              <a:gd name="adj" fmla="val 10000"/>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9" name="Text 16"/>
          <p:cNvSpPr/>
          <p:nvPr/>
        </p:nvSpPr>
        <p:spPr>
          <a:xfrm>
            <a:off x="713232" y="4169664"/>
            <a:ext cx="7680960" cy="438912"/>
          </a:xfrm>
          <a:prstGeom prst="rect">
            <a:avLst/>
          </a:prstGeom>
          <a:noFill/>
          <a:ln/>
        </p:spPr>
        <p:txBody>
          <a:bodyPr wrap="square" lIns="0" tIns="0" rIns="0" bIns="0" rtlCol="0" anchor="t"/>
          <a:lstStyle/>
          <a:p>
            <a:pPr marL="0" indent="0">
              <a:lnSpc>
                <a:spcPts val="1210"/>
              </a:lnSpc>
              <a:buNone/>
            </a:pPr>
            <a:r>
              <a:rPr lang="en-US" sz="910" dirty="0">
                <a:solidFill>
                  <a:srgbClr val="6B7885"/>
                </a:solidFill>
                <a:latin typeface="Calibri" pitchFamily="34" charset="0"/>
                <a:ea typeface="Calibri" pitchFamily="34" charset="-122"/>
                <a:cs typeface="Calibri" pitchFamily="34" charset="-120"/>
              </a:rPr>
              <a:t>Angka diambil dari confusion matrix test set (TP 415, FP 500, FN 66). Karena 915 booking harus dihubungi untuk menyelamatkan 415, biaya satu intervensi harus jauh di bawah nilai satu kamar agar program tetap menguntungkan. Threshold yang lebih tinggi bisa dipakai bila rasio biayanya tidak memadai.</a:t>
            </a:r>
            <a:endParaRPr lang="en-US" sz="91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Memprioritaskan intervensi berdasarkan probabilitas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38</a:t>
            </a:r>
            <a:endParaRPr lang="en-US" sz="900" dirty="0"/>
          </a:p>
        </p:txBody>
      </p:sp>
      <p:sp>
        <p:nvSpPr>
          <p:cNvPr id="5" name="Shape 3"/>
          <p:cNvSpPr/>
          <p:nvPr/>
        </p:nvSpPr>
        <p:spPr>
          <a:xfrm>
            <a:off x="502920" y="1133856"/>
            <a:ext cx="2606040" cy="2103120"/>
          </a:xfrm>
          <a:prstGeom prst="roundRect">
            <a:avLst>
              <a:gd name="adj" fmla="val 2609"/>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85800" y="1316736"/>
            <a:ext cx="457200" cy="457200"/>
          </a:xfrm>
          <a:prstGeom prst="roundRect">
            <a:avLst>
              <a:gd name="adj" fmla="val 18000"/>
            </a:avLst>
          </a:prstGeom>
          <a:solidFill>
            <a:srgbClr val="B3392E"/>
          </a:solidFill>
          <a:ln/>
        </p:spPr>
        <p:txBody>
          <a:bodyPr/>
          <a:lstStyle/>
          <a:p>
            <a:endParaRPr lang="en-ID"/>
          </a:p>
        </p:txBody>
      </p:sp>
      <p:sp>
        <p:nvSpPr>
          <p:cNvPr id="7" name="Text 5"/>
          <p:cNvSpPr/>
          <p:nvPr/>
        </p:nvSpPr>
        <p:spPr>
          <a:xfrm>
            <a:off x="685800"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685800" y="1901952"/>
            <a:ext cx="2240280" cy="237744"/>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Prioritas Tinggi</a:t>
            </a:r>
            <a:endParaRPr lang="en-US" sz="1250" dirty="0"/>
          </a:p>
        </p:txBody>
      </p:sp>
      <p:sp>
        <p:nvSpPr>
          <p:cNvPr id="9" name="Text 7"/>
          <p:cNvSpPr/>
          <p:nvPr/>
        </p:nvSpPr>
        <p:spPr>
          <a:xfrm>
            <a:off x="685800"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 0,7</a:t>
            </a:r>
            <a:endParaRPr lang="en-US" sz="1000" dirty="0"/>
          </a:p>
        </p:txBody>
      </p:sp>
      <p:sp>
        <p:nvSpPr>
          <p:cNvPr id="10" name="Text 8"/>
          <p:cNvSpPr/>
          <p:nvPr/>
        </p:nvSpPr>
        <p:spPr>
          <a:xfrm>
            <a:off x="685800" y="2468880"/>
            <a:ext cx="2240280" cy="65836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424 booking pada data uji. Kontak personal via telepon oleh tim Customer Service di hari yang sama.</a:t>
            </a:r>
            <a:endParaRPr lang="en-US" sz="950" dirty="0"/>
          </a:p>
        </p:txBody>
      </p:sp>
      <p:sp>
        <p:nvSpPr>
          <p:cNvPr id="11" name="Shape 9"/>
          <p:cNvSpPr/>
          <p:nvPr/>
        </p:nvSpPr>
        <p:spPr>
          <a:xfrm>
            <a:off x="3273552" y="1133856"/>
            <a:ext cx="2606040" cy="2103120"/>
          </a:xfrm>
          <a:prstGeom prst="roundRect">
            <a:avLst>
              <a:gd name="adj" fmla="val 2609"/>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10"/>
          <p:cNvSpPr/>
          <p:nvPr/>
        </p:nvSpPr>
        <p:spPr>
          <a:xfrm>
            <a:off x="3456432" y="1316736"/>
            <a:ext cx="457200" cy="457200"/>
          </a:xfrm>
          <a:prstGeom prst="roundRect">
            <a:avLst>
              <a:gd name="adj" fmla="val 18000"/>
            </a:avLst>
          </a:prstGeom>
          <a:solidFill>
            <a:srgbClr val="E2703A"/>
          </a:solidFill>
          <a:ln/>
        </p:spPr>
        <p:txBody>
          <a:bodyPr/>
          <a:lstStyle/>
          <a:p>
            <a:endParaRPr lang="en-ID"/>
          </a:p>
        </p:txBody>
      </p:sp>
      <p:sp>
        <p:nvSpPr>
          <p:cNvPr id="13" name="Text 11"/>
          <p:cNvSpPr/>
          <p:nvPr/>
        </p:nvSpPr>
        <p:spPr>
          <a:xfrm>
            <a:off x="3456432"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456432" y="1901952"/>
            <a:ext cx="2240280" cy="237744"/>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Prioritas Menengah</a:t>
            </a:r>
            <a:endParaRPr lang="en-US" sz="1250" dirty="0"/>
          </a:p>
        </p:txBody>
      </p:sp>
      <p:sp>
        <p:nvSpPr>
          <p:cNvPr id="15" name="Text 13"/>
          <p:cNvSpPr/>
          <p:nvPr/>
        </p:nvSpPr>
        <p:spPr>
          <a:xfrm>
            <a:off x="3456432"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0,5 – 0,7</a:t>
            </a:r>
            <a:endParaRPr lang="en-US" sz="1000" dirty="0"/>
          </a:p>
        </p:txBody>
      </p:sp>
      <p:sp>
        <p:nvSpPr>
          <p:cNvPr id="16" name="Text 14"/>
          <p:cNvSpPr/>
          <p:nvPr/>
        </p:nvSpPr>
        <p:spPr>
          <a:xfrm>
            <a:off x="3456432" y="2468880"/>
            <a:ext cx="2240280" cy="65836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491 booking. Email konfirmasi detail beserta penawaran ringan yang bisa diotomatisasi.</a:t>
            </a:r>
            <a:endParaRPr lang="en-US" sz="950" dirty="0"/>
          </a:p>
        </p:txBody>
      </p:sp>
      <p:sp>
        <p:nvSpPr>
          <p:cNvPr id="17" name="Shape 15"/>
          <p:cNvSpPr/>
          <p:nvPr/>
        </p:nvSpPr>
        <p:spPr>
          <a:xfrm>
            <a:off x="6044184" y="1133856"/>
            <a:ext cx="2606040" cy="2103120"/>
          </a:xfrm>
          <a:prstGeom prst="roundRect">
            <a:avLst>
              <a:gd name="adj" fmla="val 2609"/>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6"/>
          <p:cNvSpPr/>
          <p:nvPr/>
        </p:nvSpPr>
        <p:spPr>
          <a:xfrm>
            <a:off x="6227064" y="1316736"/>
            <a:ext cx="457200" cy="457200"/>
          </a:xfrm>
          <a:prstGeom prst="roundRect">
            <a:avLst>
              <a:gd name="adj" fmla="val 18000"/>
            </a:avLst>
          </a:prstGeom>
          <a:solidFill>
            <a:srgbClr val="123A5E"/>
          </a:solidFill>
          <a:ln/>
        </p:spPr>
        <p:txBody>
          <a:bodyPr/>
          <a:lstStyle/>
          <a:p>
            <a:endParaRPr lang="en-ID"/>
          </a:p>
        </p:txBody>
      </p:sp>
      <p:sp>
        <p:nvSpPr>
          <p:cNvPr id="19" name="Text 17"/>
          <p:cNvSpPr/>
          <p:nvPr/>
        </p:nvSpPr>
        <p:spPr>
          <a:xfrm>
            <a:off x="6227064"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227064" y="1901952"/>
            <a:ext cx="2240280" cy="237744"/>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Prioritas Rendah</a:t>
            </a:r>
            <a:endParaRPr lang="en-US" sz="1250" dirty="0"/>
          </a:p>
        </p:txBody>
      </p:sp>
      <p:sp>
        <p:nvSpPr>
          <p:cNvPr id="21" name="Text 19"/>
          <p:cNvSpPr/>
          <p:nvPr/>
        </p:nvSpPr>
        <p:spPr>
          <a:xfrm>
            <a:off x="6227064"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&lt; 0,5</a:t>
            </a:r>
            <a:endParaRPr lang="en-US" sz="1000" dirty="0"/>
          </a:p>
        </p:txBody>
      </p:sp>
      <p:sp>
        <p:nvSpPr>
          <p:cNvPr id="22" name="Text 20"/>
          <p:cNvSpPr/>
          <p:nvPr/>
        </p:nvSpPr>
        <p:spPr>
          <a:xfrm>
            <a:off x="6227064" y="2468880"/>
            <a:ext cx="2240280" cy="65836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1.105 booking. Tanpa intervensi khusus, cukup dipantau bila ada perubahan pemesanan.</a:t>
            </a:r>
            <a:endParaRPr lang="en-US" sz="950" dirty="0"/>
          </a:p>
        </p:txBody>
      </p:sp>
      <p:sp>
        <p:nvSpPr>
          <p:cNvPr id="23" name="Shape 21"/>
          <p:cNvSpPr/>
          <p:nvPr/>
        </p:nvSpPr>
        <p:spPr>
          <a:xfrm>
            <a:off x="502920" y="3383280"/>
            <a:ext cx="8138160" cy="1005840"/>
          </a:xfrm>
          <a:prstGeom prst="roundRect">
            <a:avLst>
              <a:gd name="adj" fmla="val 5455"/>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4" name="Image 0" descr="/home/claude/assets/ic_clock_navy.png"/>
          <p:cNvPicPr>
            <a:picLocks noChangeAspect="1"/>
          </p:cNvPicPr>
          <p:nvPr/>
        </p:nvPicPr>
        <p:blipFill>
          <a:blip r:embed="rId3"/>
          <a:stretch>
            <a:fillRect/>
          </a:stretch>
        </p:blipFill>
        <p:spPr>
          <a:xfrm>
            <a:off x="713232" y="3566160"/>
            <a:ext cx="256032" cy="256032"/>
          </a:xfrm>
          <a:prstGeom prst="rect">
            <a:avLst/>
          </a:prstGeom>
        </p:spPr>
      </p:pic>
      <p:sp>
        <p:nvSpPr>
          <p:cNvPr id="25" name="Text 22"/>
          <p:cNvSpPr/>
          <p:nvPr/>
        </p:nvSpPr>
        <p:spPr>
          <a:xfrm>
            <a:off x="1097280" y="3547872"/>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Beban kerja terbagi sesuai tingkat risiko</a:t>
            </a:r>
            <a:endParaRPr lang="en-US" sz="1250" dirty="0"/>
          </a:p>
        </p:txBody>
      </p:sp>
      <p:sp>
        <p:nvSpPr>
          <p:cNvPr id="26" name="Text 23"/>
          <p:cNvSpPr/>
          <p:nvPr/>
        </p:nvSpPr>
        <p:spPr>
          <a:xfrm>
            <a:off x="1097280" y="3785616"/>
            <a:ext cx="7360920" cy="566928"/>
          </a:xfrm>
          <a:prstGeom prst="rect">
            <a:avLst/>
          </a:prstGeom>
          <a:noFill/>
          <a:ln/>
        </p:spPr>
        <p:txBody>
          <a:bodyPr wrap="square" lIns="0" tIns="0" rIns="0" bIns="0" rtlCol="0" anchor="t"/>
          <a:lstStyle/>
          <a:p>
            <a:pPr marL="0" indent="0">
              <a:lnSpc>
                <a:spcPts val="1277"/>
              </a:lnSpc>
              <a:buNone/>
            </a:pPr>
            <a:r>
              <a:rPr lang="en-US" sz="960" dirty="0">
                <a:solidFill>
                  <a:srgbClr val="16202B"/>
                </a:solidFill>
                <a:latin typeface="Calibri" pitchFamily="34" charset="0"/>
                <a:ea typeface="Calibri" pitchFamily="34" charset="-122"/>
                <a:cs typeface="Calibri" pitchFamily="34" charset="-120"/>
              </a:rPr>
              <a:t>Jumlah booking per tingkat dihitung dari hasil threshold tuning yang sebenarnya, bukan perkiraan. Skema ini membagi beban: hanya 424 booking (21%) yang butuh telepon personal, sementara 491 lainnya cukup ditangani lewat email otomatis. Dengan begitu Recall tetap 0,863 tanpa membebani tim dengan 915 panggilan telepon.</a:t>
            </a:r>
            <a:endParaRPr lang="en-US" sz="9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REKOMENDASI OPERASIONAL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Bentuk intervensi untuk booking berisiko tinggi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0292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phone_orange.png"/>
          <p:cNvPicPr>
            <a:picLocks noChangeAspect="1"/>
          </p:cNvPicPr>
          <p:nvPr/>
        </p:nvPicPr>
        <p:blipFill>
          <a:blip r:embed="rId3"/>
          <a:stretch>
            <a:fillRect/>
          </a:stretch>
        </p:blipFill>
        <p:spPr>
          <a:xfrm>
            <a:off x="704088" y="1316736"/>
            <a:ext cx="274320" cy="274320"/>
          </a:xfrm>
          <a:prstGeom prst="rect">
            <a:avLst/>
          </a:prstGeom>
        </p:spPr>
      </p:pic>
      <p:sp>
        <p:nvSpPr>
          <p:cNvPr id="7" name="Text 4"/>
          <p:cNvSpPr/>
          <p:nvPr/>
        </p:nvSpPr>
        <p:spPr>
          <a:xfrm>
            <a:off x="1088136"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Konfirmasi personal</a:t>
            </a:r>
            <a:endParaRPr lang="en-US" sz="1250" dirty="0"/>
          </a:p>
        </p:txBody>
      </p:sp>
      <p:sp>
        <p:nvSpPr>
          <p:cNvPr id="8" name="Text 5"/>
          <p:cNvSpPr/>
          <p:nvPr/>
        </p:nvSpPr>
        <p:spPr>
          <a:xfrm>
            <a:off x="704088" y="1682496"/>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Hubungi tamu untuk memastikan detail pemesanan dan menanyakan kendala. Sebagian pembatalan berakar dari miskomunikasi, bukan perubahan rencana.</a:t>
            </a:r>
            <a:endParaRPr lang="en-US" sz="1000" dirty="0"/>
          </a:p>
        </p:txBody>
      </p:sp>
      <p:sp>
        <p:nvSpPr>
          <p:cNvPr id="9" name="Shape 6"/>
          <p:cNvSpPr/>
          <p:nvPr/>
        </p:nvSpPr>
        <p:spPr>
          <a:xfrm>
            <a:off x="466344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gift_orange.png"/>
          <p:cNvPicPr>
            <a:picLocks noChangeAspect="1"/>
          </p:cNvPicPr>
          <p:nvPr/>
        </p:nvPicPr>
        <p:blipFill>
          <a:blip r:embed="rId4"/>
          <a:stretch>
            <a:fillRect/>
          </a:stretch>
        </p:blipFill>
        <p:spPr>
          <a:xfrm>
            <a:off x="4864608" y="1316736"/>
            <a:ext cx="274320" cy="274320"/>
          </a:xfrm>
          <a:prstGeom prst="rect">
            <a:avLst/>
          </a:prstGeom>
        </p:spPr>
      </p:pic>
      <p:sp>
        <p:nvSpPr>
          <p:cNvPr id="11" name="Text 7"/>
          <p:cNvSpPr/>
          <p:nvPr/>
        </p:nvSpPr>
        <p:spPr>
          <a:xfrm>
            <a:off x="5248656"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Insentif bernilai persepsi tinggi</a:t>
            </a:r>
            <a:endParaRPr lang="en-US" sz="1250" dirty="0"/>
          </a:p>
        </p:txBody>
      </p:sp>
      <p:sp>
        <p:nvSpPr>
          <p:cNvPr id="12" name="Text 8"/>
          <p:cNvSpPr/>
          <p:nvPr/>
        </p:nvSpPr>
        <p:spPr>
          <a:xfrm>
            <a:off x="4864608" y="1682496"/>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Upgrade kamar bila tersedia, sarapan gratis, atau diskon fasilitas — biaya rendah bagi hotel, terasa besar bagi tamu.</a:t>
            </a:r>
            <a:endParaRPr lang="en-US" sz="1000" dirty="0"/>
          </a:p>
        </p:txBody>
      </p:sp>
      <p:sp>
        <p:nvSpPr>
          <p:cNvPr id="13" name="Shape 9"/>
          <p:cNvSpPr/>
          <p:nvPr/>
        </p:nvSpPr>
        <p:spPr>
          <a:xfrm>
            <a:off x="50292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clock_orange.png"/>
          <p:cNvPicPr>
            <a:picLocks noChangeAspect="1"/>
          </p:cNvPicPr>
          <p:nvPr/>
        </p:nvPicPr>
        <p:blipFill>
          <a:blip r:embed="rId5"/>
          <a:stretch>
            <a:fillRect/>
          </a:stretch>
        </p:blipFill>
        <p:spPr>
          <a:xfrm>
            <a:off x="704088" y="2889504"/>
            <a:ext cx="274320" cy="274320"/>
          </a:xfrm>
          <a:prstGeom prst="rect">
            <a:avLst/>
          </a:prstGeom>
        </p:spPr>
      </p:pic>
      <p:sp>
        <p:nvSpPr>
          <p:cNvPr id="15" name="Text 10"/>
          <p:cNvSpPr/>
          <p:nvPr/>
        </p:nvSpPr>
        <p:spPr>
          <a:xfrm>
            <a:off x="1088136"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Fleksibilitas terkendali</a:t>
            </a:r>
            <a:endParaRPr lang="en-US" sz="1250" dirty="0"/>
          </a:p>
        </p:txBody>
      </p:sp>
      <p:sp>
        <p:nvSpPr>
          <p:cNvPr id="16" name="Text 11"/>
          <p:cNvSpPr/>
          <p:nvPr/>
        </p:nvSpPr>
        <p:spPr>
          <a:xfrm>
            <a:off x="704088" y="3255264"/>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Tawarkan perubahan tanggal tanpa biaya dalam batas tertentu. Menggeser booking jauh lebih baik daripada kehilangannya.</a:t>
            </a:r>
            <a:endParaRPr lang="en-US" sz="1000" dirty="0"/>
          </a:p>
        </p:txBody>
      </p:sp>
      <p:sp>
        <p:nvSpPr>
          <p:cNvPr id="17" name="Shape 12"/>
          <p:cNvSpPr/>
          <p:nvPr/>
        </p:nvSpPr>
        <p:spPr>
          <a:xfrm>
            <a:off x="466344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lock_orange.png"/>
          <p:cNvPicPr>
            <a:picLocks noChangeAspect="1"/>
          </p:cNvPicPr>
          <p:nvPr/>
        </p:nvPicPr>
        <p:blipFill>
          <a:blip r:embed="rId6"/>
          <a:stretch>
            <a:fillRect/>
          </a:stretch>
        </p:blipFill>
        <p:spPr>
          <a:xfrm>
            <a:off x="4864608" y="2889504"/>
            <a:ext cx="274320" cy="274320"/>
          </a:xfrm>
          <a:prstGeom prst="rect">
            <a:avLst/>
          </a:prstGeom>
        </p:spPr>
      </p:pic>
      <p:sp>
        <p:nvSpPr>
          <p:cNvPr id="19" name="Text 13"/>
          <p:cNvSpPr/>
          <p:nvPr/>
        </p:nvSpPr>
        <p:spPr>
          <a:xfrm>
            <a:off x="5248656"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Konversi ke Non Refund</a:t>
            </a:r>
            <a:endParaRPr lang="en-US" sz="1250" dirty="0"/>
          </a:p>
        </p:txBody>
      </p:sp>
      <p:sp>
        <p:nvSpPr>
          <p:cNvPr id="20" name="Text 14"/>
          <p:cNvSpPr/>
          <p:nvPr/>
        </p:nvSpPr>
        <p:spPr>
          <a:xfrm>
            <a:off x="4864608" y="3255264"/>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Tawarkan tarif Non Refund dengan diskon terukur pada saat pemesanan, mengubah tamu berisiko menjadi pendapatan terjamin.</a:t>
            </a:r>
            <a:endParaRPr lang="en-US" sz="1000" dirty="0"/>
          </a:p>
        </p:txBody>
      </p:sp>
      <p:sp>
        <p:nvSpPr>
          <p:cNvPr id="21" name="Shape 15"/>
          <p:cNvSpPr/>
          <p:nvPr/>
        </p:nvSpPr>
        <p:spPr>
          <a:xfrm>
            <a:off x="502920" y="4315968"/>
            <a:ext cx="8138160" cy="438912"/>
          </a:xfrm>
          <a:prstGeom prst="roundRect">
            <a:avLst>
              <a:gd name="adj" fmla="val 12500"/>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2" name="Text 16"/>
          <p:cNvSpPr/>
          <p:nvPr/>
        </p:nvSpPr>
        <p:spPr>
          <a:xfrm>
            <a:off x="713232" y="4407408"/>
            <a:ext cx="7680960" cy="292608"/>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Prinsipnya: biaya intervensi harus jauh lebih kecil daripada nilai satu kamar yang batal, agar program tetap menguntungkan meski sebagian sasaran adalah False Positive.</a:t>
            </a:r>
            <a:endParaRPr lang="en-US" sz="9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CONCLUSION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Kesimpulan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40</a:t>
            </a:r>
            <a:endParaRPr lang="en-US" sz="900" dirty="0"/>
          </a:p>
        </p:txBody>
      </p:sp>
      <p:sp>
        <p:nvSpPr>
          <p:cNvPr id="5" name="Shape 3"/>
          <p:cNvSpPr/>
          <p:nvPr/>
        </p:nvSpPr>
        <p:spPr>
          <a:xfrm>
            <a:off x="502920" y="1097280"/>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07008"/>
            <a:ext cx="384048" cy="384048"/>
          </a:xfrm>
          <a:prstGeom prst="roundRect">
            <a:avLst>
              <a:gd name="adj" fmla="val 16667"/>
            </a:avLst>
          </a:prstGeom>
          <a:solidFill>
            <a:srgbClr val="123A5E"/>
          </a:solidFill>
          <a:ln/>
        </p:spPr>
        <p:txBody>
          <a:bodyPr/>
          <a:lstStyle/>
          <a:p>
            <a:endParaRPr lang="en-ID"/>
          </a:p>
        </p:txBody>
      </p:sp>
      <p:pic>
        <p:nvPicPr>
          <p:cNvPr id="7" name="Image 0" descr="/home/claude/assets/ic_chart_white.png"/>
          <p:cNvPicPr>
            <a:picLocks noChangeAspect="1"/>
          </p:cNvPicPr>
          <p:nvPr/>
        </p:nvPicPr>
        <p:blipFill>
          <a:blip r:embed="rId3"/>
          <a:stretch>
            <a:fillRect/>
          </a:stretch>
        </p:blipFill>
        <p:spPr>
          <a:xfrm>
            <a:off x="749808" y="1298448"/>
            <a:ext cx="201168" cy="201168"/>
          </a:xfrm>
          <a:prstGeom prst="rect">
            <a:avLst/>
          </a:prstGeom>
        </p:spPr>
      </p:pic>
      <p:sp>
        <p:nvSpPr>
          <p:cNvPr id="8" name="Text 5"/>
          <p:cNvSpPr/>
          <p:nvPr/>
        </p:nvSpPr>
        <p:spPr>
          <a:xfrm>
            <a:off x="1170432" y="1188720"/>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Skala masalah terukur</a:t>
            </a:r>
            <a:endParaRPr lang="en-US" sz="1100" dirty="0"/>
          </a:p>
        </p:txBody>
      </p:sp>
      <p:sp>
        <p:nvSpPr>
          <p:cNvPr id="9" name="Text 6"/>
          <p:cNvSpPr/>
          <p:nvPr/>
        </p:nvSpPr>
        <p:spPr>
          <a:xfrm>
            <a:off x="4005072" y="1216152"/>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2.405 dari 10.097 pemesanan (23,8%) dibatalkan — sekitar 1 dari 4 kamar yang sudah terjual berisiko kosong kembali.</a:t>
            </a:r>
            <a:endParaRPr lang="en-US" sz="930" dirty="0"/>
          </a:p>
        </p:txBody>
      </p:sp>
      <p:sp>
        <p:nvSpPr>
          <p:cNvPr id="10" name="Shape 7"/>
          <p:cNvSpPr/>
          <p:nvPr/>
        </p:nvSpPr>
        <p:spPr>
          <a:xfrm>
            <a:off x="502920" y="1792224"/>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Shape 8"/>
          <p:cNvSpPr/>
          <p:nvPr/>
        </p:nvSpPr>
        <p:spPr>
          <a:xfrm>
            <a:off x="658368" y="1901952"/>
            <a:ext cx="384048" cy="384048"/>
          </a:xfrm>
          <a:prstGeom prst="roundRect">
            <a:avLst>
              <a:gd name="adj" fmla="val 16667"/>
            </a:avLst>
          </a:prstGeom>
          <a:solidFill>
            <a:srgbClr val="123A5E"/>
          </a:solidFill>
          <a:ln/>
        </p:spPr>
        <p:txBody>
          <a:bodyPr/>
          <a:lstStyle/>
          <a:p>
            <a:endParaRPr lang="en-ID"/>
          </a:p>
        </p:txBody>
      </p:sp>
      <p:pic>
        <p:nvPicPr>
          <p:cNvPr id="12" name="Image 1" descr="/home/claude/assets/ic_brain_white.png"/>
          <p:cNvPicPr>
            <a:picLocks noChangeAspect="1"/>
          </p:cNvPicPr>
          <p:nvPr/>
        </p:nvPicPr>
        <p:blipFill>
          <a:blip r:embed="rId4"/>
          <a:stretch>
            <a:fillRect/>
          </a:stretch>
        </p:blipFill>
        <p:spPr>
          <a:xfrm>
            <a:off x="749808" y="1993392"/>
            <a:ext cx="201168" cy="201168"/>
          </a:xfrm>
          <a:prstGeom prst="rect">
            <a:avLst/>
          </a:prstGeom>
        </p:spPr>
      </p:pic>
      <p:sp>
        <p:nvSpPr>
          <p:cNvPr id="13" name="Text 9"/>
          <p:cNvSpPr/>
          <p:nvPr/>
        </p:nvSpPr>
        <p:spPr>
          <a:xfrm>
            <a:off x="1170432" y="1883664"/>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Model menangkap 5 dari 6 pembatalan</a:t>
            </a:r>
            <a:endParaRPr lang="en-US" sz="1100" dirty="0"/>
          </a:p>
        </p:txBody>
      </p:sp>
      <p:sp>
        <p:nvSpPr>
          <p:cNvPr id="14" name="Text 10"/>
          <p:cNvSpPr/>
          <p:nvPr/>
        </p:nvSpPr>
        <p:spPr>
          <a:xfrm>
            <a:off x="4005072" y="1911096"/>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XGBoost mencapai Recall 0,863 pada data uji: 415 dari 481 pembatalan terdeteksi, hanya 66 yang lolos.</a:t>
            </a:r>
            <a:endParaRPr lang="en-US" sz="930" dirty="0"/>
          </a:p>
        </p:txBody>
      </p:sp>
      <p:sp>
        <p:nvSpPr>
          <p:cNvPr id="15" name="Shape 11"/>
          <p:cNvSpPr/>
          <p:nvPr/>
        </p:nvSpPr>
        <p:spPr>
          <a:xfrm>
            <a:off x="502920" y="2487168"/>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6" name="Shape 12"/>
          <p:cNvSpPr/>
          <p:nvPr/>
        </p:nvSpPr>
        <p:spPr>
          <a:xfrm>
            <a:off x="658368" y="2596896"/>
            <a:ext cx="384048" cy="384048"/>
          </a:xfrm>
          <a:prstGeom prst="roundRect">
            <a:avLst>
              <a:gd name="adj" fmla="val 16667"/>
            </a:avLst>
          </a:prstGeom>
          <a:solidFill>
            <a:srgbClr val="123A5E"/>
          </a:solidFill>
          <a:ln/>
        </p:spPr>
        <p:txBody>
          <a:bodyPr/>
          <a:lstStyle/>
          <a:p>
            <a:endParaRPr lang="en-ID"/>
          </a:p>
        </p:txBody>
      </p:sp>
      <p:pic>
        <p:nvPicPr>
          <p:cNvPr id="17" name="Image 2" descr="/home/claude/assets/ic_check_white.png"/>
          <p:cNvPicPr>
            <a:picLocks noChangeAspect="1"/>
          </p:cNvPicPr>
          <p:nvPr/>
        </p:nvPicPr>
        <p:blipFill>
          <a:blip r:embed="rId5"/>
          <a:stretch>
            <a:fillRect/>
          </a:stretch>
        </p:blipFill>
        <p:spPr>
          <a:xfrm>
            <a:off x="749808" y="2688336"/>
            <a:ext cx="201168" cy="201168"/>
          </a:xfrm>
          <a:prstGeom prst="rect">
            <a:avLst/>
          </a:prstGeom>
        </p:spPr>
      </p:pic>
      <p:sp>
        <p:nvSpPr>
          <p:cNvPr id="18" name="Text 13"/>
          <p:cNvSpPr/>
          <p:nvPr/>
        </p:nvSpPr>
        <p:spPr>
          <a:xfrm>
            <a:off x="1170432" y="2578608"/>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Hasil tervalidasi dan stabil</a:t>
            </a:r>
            <a:endParaRPr lang="en-US" sz="1100" dirty="0"/>
          </a:p>
        </p:txBody>
      </p:sp>
      <p:sp>
        <p:nvSpPr>
          <p:cNvPr id="19" name="Text 14"/>
          <p:cNvSpPr/>
          <p:nvPr/>
        </p:nvSpPr>
        <p:spPr>
          <a:xfrm>
            <a:off x="4005072" y="2606040"/>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Dipilih otomatis lewat Stratified 5-Fold CV. Avg Recall CV (0,863) dekat dengan skor test, menandakan performa konsisten.</a:t>
            </a:r>
            <a:endParaRPr lang="en-US" sz="930" dirty="0"/>
          </a:p>
        </p:txBody>
      </p:sp>
      <p:sp>
        <p:nvSpPr>
          <p:cNvPr id="20" name="Shape 15"/>
          <p:cNvSpPr/>
          <p:nvPr/>
        </p:nvSpPr>
        <p:spPr>
          <a:xfrm>
            <a:off x="502920" y="3182112"/>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1" name="Shape 16"/>
          <p:cNvSpPr/>
          <p:nvPr/>
        </p:nvSpPr>
        <p:spPr>
          <a:xfrm>
            <a:off x="658368" y="3291840"/>
            <a:ext cx="384048" cy="384048"/>
          </a:xfrm>
          <a:prstGeom prst="roundRect">
            <a:avLst>
              <a:gd name="adj" fmla="val 16667"/>
            </a:avLst>
          </a:prstGeom>
          <a:solidFill>
            <a:srgbClr val="123A5E"/>
          </a:solidFill>
          <a:ln/>
        </p:spPr>
        <p:txBody>
          <a:bodyPr/>
          <a:lstStyle/>
          <a:p>
            <a:endParaRPr lang="en-ID"/>
          </a:p>
        </p:txBody>
      </p:sp>
      <p:pic>
        <p:nvPicPr>
          <p:cNvPr id="22" name="Image 3" descr="/home/claude/assets/ic_search_white.png"/>
          <p:cNvPicPr>
            <a:picLocks noChangeAspect="1"/>
          </p:cNvPicPr>
          <p:nvPr/>
        </p:nvPicPr>
        <p:blipFill>
          <a:blip r:embed="rId6"/>
          <a:stretch>
            <a:fillRect/>
          </a:stretch>
        </p:blipFill>
        <p:spPr>
          <a:xfrm>
            <a:off x="749808" y="3383280"/>
            <a:ext cx="201168" cy="201168"/>
          </a:xfrm>
          <a:prstGeom prst="rect">
            <a:avLst/>
          </a:prstGeom>
        </p:spPr>
      </p:pic>
      <p:sp>
        <p:nvSpPr>
          <p:cNvPr id="23" name="Text 17"/>
          <p:cNvSpPr/>
          <p:nvPr/>
        </p:nvSpPr>
        <p:spPr>
          <a:xfrm>
            <a:off x="1170432" y="3273552"/>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country ternyata bukan sinyal utama</a:t>
            </a:r>
            <a:endParaRPr lang="en-US" sz="1100" dirty="0"/>
          </a:p>
        </p:txBody>
      </p:sp>
      <p:sp>
        <p:nvSpPr>
          <p:cNvPr id="24" name="Text 18"/>
          <p:cNvSpPr/>
          <p:nvPr/>
        </p:nvSpPr>
        <p:spPr>
          <a:xfrm>
            <a:off x="4005072" y="3300984"/>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Setelah disederhanakan jadi is_domestic, kontribusinya cuma 4,6% — jauh dari dominasi +7,224 yang terlihat saat masih 162 kategori penuh.</a:t>
            </a:r>
            <a:endParaRPr lang="en-US" sz="930" dirty="0"/>
          </a:p>
        </p:txBody>
      </p:sp>
      <p:sp>
        <p:nvSpPr>
          <p:cNvPr id="25" name="Shape 19"/>
          <p:cNvSpPr/>
          <p:nvPr/>
        </p:nvSpPr>
        <p:spPr>
          <a:xfrm>
            <a:off x="502920" y="3877056"/>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6" name="Shape 20"/>
          <p:cNvSpPr/>
          <p:nvPr/>
        </p:nvSpPr>
        <p:spPr>
          <a:xfrm>
            <a:off x="658368" y="3986784"/>
            <a:ext cx="384048" cy="384048"/>
          </a:xfrm>
          <a:prstGeom prst="roundRect">
            <a:avLst>
              <a:gd name="adj" fmla="val 16667"/>
            </a:avLst>
          </a:prstGeom>
          <a:solidFill>
            <a:srgbClr val="123A5E"/>
          </a:solidFill>
          <a:ln/>
        </p:spPr>
        <p:txBody>
          <a:bodyPr/>
          <a:lstStyle/>
          <a:p>
            <a:endParaRPr lang="en-ID"/>
          </a:p>
        </p:txBody>
      </p:sp>
      <p:pic>
        <p:nvPicPr>
          <p:cNvPr id="27" name="Image 4" descr="/home/claude/assets/ic_warn_white.png"/>
          <p:cNvPicPr>
            <a:picLocks noChangeAspect="1"/>
          </p:cNvPicPr>
          <p:nvPr/>
        </p:nvPicPr>
        <p:blipFill>
          <a:blip r:embed="rId7"/>
          <a:stretch>
            <a:fillRect/>
          </a:stretch>
        </p:blipFill>
        <p:spPr>
          <a:xfrm>
            <a:off x="749808" y="4078224"/>
            <a:ext cx="201168" cy="201168"/>
          </a:xfrm>
          <a:prstGeom prst="rect">
            <a:avLst/>
          </a:prstGeom>
        </p:spPr>
      </p:pic>
      <p:sp>
        <p:nvSpPr>
          <p:cNvPr id="28" name="Text 21"/>
          <p:cNvSpPr/>
          <p:nvPr/>
        </p:nvSpPr>
        <p:spPr>
          <a:xfrm>
            <a:off x="1170432" y="3968496"/>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Harga yang dibayar: 500 alarm palsu</a:t>
            </a:r>
            <a:endParaRPr lang="en-US" sz="1100" dirty="0"/>
          </a:p>
        </p:txBody>
      </p:sp>
      <p:sp>
        <p:nvSpPr>
          <p:cNvPr id="29" name="Text 22"/>
          <p:cNvSpPr/>
          <p:nvPr/>
        </p:nvSpPr>
        <p:spPr>
          <a:xfrm>
            <a:off x="4005072" y="3995928"/>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Precision 0,454 berarti lebih dari separuh booking yang ditandai sebenarnya aman. Model layak jadi penyaring, belum layak jadi pemutus.</a:t>
            </a:r>
            <a:endParaRPr lang="en-US" sz="93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RECOMMENDATION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Rekomendasi untuk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41</a:t>
            </a:r>
            <a:endParaRPr lang="en-US" sz="900" dirty="0"/>
          </a:p>
        </p:txBody>
      </p:sp>
      <p:sp>
        <p:nvSpPr>
          <p:cNvPr id="5" name="Shape 3"/>
          <p:cNvSpPr/>
          <p:nvPr/>
        </p:nvSpPr>
        <p:spPr>
          <a:xfrm>
            <a:off x="502920" y="1097280"/>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316736"/>
            <a:ext cx="274320" cy="274320"/>
          </a:xfrm>
          <a:prstGeom prst="rect">
            <a:avLst/>
          </a:prstGeom>
        </p:spPr>
      </p:pic>
      <p:sp>
        <p:nvSpPr>
          <p:cNvPr id="7" name="Text 4"/>
          <p:cNvSpPr/>
          <p:nvPr/>
        </p:nvSpPr>
        <p:spPr>
          <a:xfrm>
            <a:off x="1133856" y="1225296"/>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Tinjau ulang kebijakan tarif Non Refund</a:t>
            </a:r>
            <a:endParaRPr lang="en-US" sz="1150" dirty="0"/>
          </a:p>
        </p:txBody>
      </p:sp>
      <p:sp>
        <p:nvSpPr>
          <p:cNvPr id="8" name="Text 5"/>
          <p:cNvSpPr/>
          <p:nvPr/>
        </p:nvSpPr>
        <p:spPr>
          <a:xfrm>
            <a:off x="4224528" y="1243584"/>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Cancellation rate-nya 89,2% — jauh di atas No Deposit yang hanya 22,5%. Telusuri ke tim operasional: apakah tarif ini dijual terlalu murah, atau justru diterapkan pada segmen yang sudah berisiko.</a:t>
            </a:r>
            <a:endParaRPr lang="en-US" sz="950" dirty="0"/>
          </a:p>
        </p:txBody>
      </p:sp>
      <p:sp>
        <p:nvSpPr>
          <p:cNvPr id="9" name="Shape 6"/>
          <p:cNvSpPr/>
          <p:nvPr/>
        </p:nvSpPr>
        <p:spPr>
          <a:xfrm>
            <a:off x="502920" y="1956816"/>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phone_orange.png"/>
          <p:cNvPicPr>
            <a:picLocks noChangeAspect="1"/>
          </p:cNvPicPr>
          <p:nvPr/>
        </p:nvPicPr>
        <p:blipFill>
          <a:blip r:embed="rId4"/>
          <a:stretch>
            <a:fillRect/>
          </a:stretch>
        </p:blipFill>
        <p:spPr>
          <a:xfrm>
            <a:off x="713232" y="2176272"/>
            <a:ext cx="274320" cy="274320"/>
          </a:xfrm>
          <a:prstGeom prst="rect">
            <a:avLst/>
          </a:prstGeom>
        </p:spPr>
      </p:pic>
      <p:sp>
        <p:nvSpPr>
          <p:cNvPr id="11" name="Text 7"/>
          <p:cNvSpPr/>
          <p:nvPr/>
        </p:nvSpPr>
        <p:spPr>
          <a:xfrm>
            <a:off x="1133856" y="2084832"/>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Prioritaskan kontak berbasis probabilitas</a:t>
            </a:r>
            <a:endParaRPr lang="en-US" sz="1150" dirty="0"/>
          </a:p>
        </p:txBody>
      </p:sp>
      <p:sp>
        <p:nvSpPr>
          <p:cNvPr id="12" name="Text 8"/>
          <p:cNvSpPr/>
          <p:nvPr/>
        </p:nvSpPr>
        <p:spPr>
          <a:xfrm>
            <a:off x="4224528" y="2103120"/>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Urutkan booking dari skor tertinggi dan sesuaikan jumlah yang dihubungi dengan kapasitas harian tim, bukan menghubungi seluruh 835 booking yang ditandai.</a:t>
            </a:r>
            <a:endParaRPr lang="en-US" sz="950" dirty="0"/>
          </a:p>
        </p:txBody>
      </p:sp>
      <p:sp>
        <p:nvSpPr>
          <p:cNvPr id="13" name="Shape 9"/>
          <p:cNvSpPr/>
          <p:nvPr/>
        </p:nvSpPr>
        <p:spPr>
          <a:xfrm>
            <a:off x="502920" y="2816352"/>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users_orange.png"/>
          <p:cNvPicPr>
            <a:picLocks noChangeAspect="1"/>
          </p:cNvPicPr>
          <p:nvPr/>
        </p:nvPicPr>
        <p:blipFill>
          <a:blip r:embed="rId5"/>
          <a:stretch>
            <a:fillRect/>
          </a:stretch>
        </p:blipFill>
        <p:spPr>
          <a:xfrm>
            <a:off x="713232" y="3035808"/>
            <a:ext cx="274320" cy="274320"/>
          </a:xfrm>
          <a:prstGeom prst="rect">
            <a:avLst/>
          </a:prstGeom>
        </p:spPr>
      </p:pic>
      <p:sp>
        <p:nvSpPr>
          <p:cNvPr id="15" name="Text 10"/>
          <p:cNvSpPr/>
          <p:nvPr/>
        </p:nvSpPr>
        <p:spPr>
          <a:xfrm>
            <a:off x="1133856" y="2944368"/>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Fokuskan retensi pada Online TA dan Transient</a:t>
            </a:r>
            <a:endParaRPr lang="en-US" sz="1150" dirty="0"/>
          </a:p>
        </p:txBody>
      </p:sp>
      <p:sp>
        <p:nvSpPr>
          <p:cNvPr id="16" name="Text 11"/>
          <p:cNvSpPr/>
          <p:nvPr/>
        </p:nvSpPr>
        <p:spPr>
          <a:xfrm>
            <a:off x="4224528" y="2962656"/>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Online TA menyumbang 4.924 booking dengan cancellation rate 31,2%, dan Transient 6.825 booking dengan 29,0% — gabungan volume besar dan risiko tinggi.</a:t>
            </a:r>
            <a:endParaRPr lang="en-US" sz="950" dirty="0"/>
          </a:p>
        </p:txBody>
      </p:sp>
      <p:sp>
        <p:nvSpPr>
          <p:cNvPr id="17" name="Shape 12"/>
          <p:cNvSpPr/>
          <p:nvPr/>
        </p:nvSpPr>
        <p:spPr>
          <a:xfrm>
            <a:off x="502920" y="3675888"/>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gift_orange.png"/>
          <p:cNvPicPr>
            <a:picLocks noChangeAspect="1"/>
          </p:cNvPicPr>
          <p:nvPr/>
        </p:nvPicPr>
        <p:blipFill>
          <a:blip r:embed="rId6"/>
          <a:stretch>
            <a:fillRect/>
          </a:stretch>
        </p:blipFill>
        <p:spPr>
          <a:xfrm>
            <a:off x="713232" y="3895344"/>
            <a:ext cx="274320" cy="274320"/>
          </a:xfrm>
          <a:prstGeom prst="rect">
            <a:avLst/>
          </a:prstGeom>
        </p:spPr>
      </p:pic>
      <p:sp>
        <p:nvSpPr>
          <p:cNvPr id="19" name="Text 13"/>
          <p:cNvSpPr/>
          <p:nvPr/>
        </p:nvSpPr>
        <p:spPr>
          <a:xfrm>
            <a:off x="1133856" y="3803904"/>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Uji insentif lewat A/B testing</a:t>
            </a:r>
            <a:endParaRPr lang="en-US" sz="1150" dirty="0"/>
          </a:p>
        </p:txBody>
      </p:sp>
      <p:sp>
        <p:nvSpPr>
          <p:cNvPr id="20" name="Text 14"/>
          <p:cNvSpPr/>
          <p:nvPr/>
        </p:nvSpPr>
        <p:spPr>
          <a:xfrm>
            <a:off x="4224528" y="3822192"/>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Bandingkan kelompok yang diintervensi dengan kelompok kontrol untuk membuktikan program benar-benar menurunkan pembatalan, bukan sekadar berkorelasi.</a:t>
            </a:r>
            <a:endParaRPr lang="en-US" sz="950" dirty="0"/>
          </a:p>
        </p:txBody>
      </p:sp>
      <p:sp>
        <p:nvSpPr>
          <p:cNvPr id="21" name="Text 15"/>
          <p:cNvSpPr/>
          <p:nvPr/>
        </p:nvSpPr>
        <p:spPr>
          <a:xfrm>
            <a:off x="502920" y="4517136"/>
            <a:ext cx="8138160" cy="310896"/>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Setiap rekomendasi diturunkan dari analisis bivariat dan koefisien model, bukan dari praktik umum industri. Perhatikan bahwa rekomendasi pertama berlawanan dengan dugaan awal — inilah nilai dari memeriksa data sebelum menyimpulkan.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IMPROVEMENT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Rekomendasi pengembangan model dan data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42</a:t>
            </a:r>
            <a:endParaRPr lang="en-US" sz="900" dirty="0"/>
          </a:p>
        </p:txBody>
      </p:sp>
      <p:sp>
        <p:nvSpPr>
          <p:cNvPr id="5" name="Text 3"/>
          <p:cNvSpPr/>
          <p:nvPr/>
        </p:nvSpPr>
        <p:spPr>
          <a:xfrm>
            <a:off x="502920" y="98755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Perbaikan model</a:t>
            </a:r>
            <a:endParaRPr lang="en-US" sz="1250" dirty="0"/>
          </a:p>
        </p:txBody>
      </p:sp>
      <p:sp>
        <p:nvSpPr>
          <p:cNvPr id="6" name="Shape 4"/>
          <p:cNvSpPr/>
          <p:nvPr/>
        </p:nvSpPr>
        <p:spPr>
          <a:xfrm>
            <a:off x="502920" y="1243584"/>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0" descr="/home/claude/assets/ic_gear_navy.png"/>
          <p:cNvPicPr>
            <a:picLocks noChangeAspect="1"/>
          </p:cNvPicPr>
          <p:nvPr/>
        </p:nvPicPr>
        <p:blipFill>
          <a:blip r:embed="rId3"/>
          <a:stretch>
            <a:fillRect/>
          </a:stretch>
        </p:blipFill>
        <p:spPr>
          <a:xfrm>
            <a:off x="694944" y="1371600"/>
            <a:ext cx="237744" cy="237744"/>
          </a:xfrm>
          <a:prstGeom prst="rect">
            <a:avLst/>
          </a:prstGeom>
        </p:spPr>
      </p:pic>
      <p:sp>
        <p:nvSpPr>
          <p:cNvPr id="8" name="Text 5"/>
          <p:cNvSpPr/>
          <p:nvPr/>
        </p:nvSpPr>
        <p:spPr>
          <a:xfrm>
            <a:off x="1042416" y="1353312"/>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Uji ulang keputusan duplikat</a:t>
            </a:r>
            <a:endParaRPr lang="en-US" sz="1050" dirty="0"/>
          </a:p>
        </p:txBody>
      </p:sp>
      <p:sp>
        <p:nvSpPr>
          <p:cNvPr id="9" name="Text 6"/>
          <p:cNvSpPr/>
          <p:nvPr/>
        </p:nvSpPr>
        <p:spPr>
          <a:xfrm>
            <a:off x="1042416" y="1591056"/>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Latih dua versi — dengan dan tanpa penghapusan 73.476 baris — lalu bandingkan hasilnya.</a:t>
            </a:r>
            <a:endParaRPr lang="en-US" sz="880" dirty="0"/>
          </a:p>
        </p:txBody>
      </p:sp>
      <p:sp>
        <p:nvSpPr>
          <p:cNvPr id="10" name="Shape 7"/>
          <p:cNvSpPr/>
          <p:nvPr/>
        </p:nvSpPr>
        <p:spPr>
          <a:xfrm>
            <a:off x="502920" y="2048256"/>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1" descr="/home/claude/assets/ic_search_navy.png"/>
          <p:cNvPicPr>
            <a:picLocks noChangeAspect="1"/>
          </p:cNvPicPr>
          <p:nvPr/>
        </p:nvPicPr>
        <p:blipFill>
          <a:blip r:embed="rId4"/>
          <a:stretch>
            <a:fillRect/>
          </a:stretch>
        </p:blipFill>
        <p:spPr>
          <a:xfrm>
            <a:off x="694944" y="2176272"/>
            <a:ext cx="237744" cy="237744"/>
          </a:xfrm>
          <a:prstGeom prst="rect">
            <a:avLst/>
          </a:prstGeom>
        </p:spPr>
      </p:pic>
      <p:sp>
        <p:nvSpPr>
          <p:cNvPr id="12" name="Text 8"/>
          <p:cNvSpPr/>
          <p:nvPr/>
        </p:nvSpPr>
        <p:spPr>
          <a:xfrm>
            <a:off x="1042416" y="2157984"/>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Hyperparameter tuning</a:t>
            </a:r>
            <a:endParaRPr lang="en-US" sz="1050" dirty="0"/>
          </a:p>
        </p:txBody>
      </p:sp>
      <p:sp>
        <p:nvSpPr>
          <p:cNvPr id="13" name="Text 9"/>
          <p:cNvSpPr/>
          <p:nvPr/>
        </p:nvSpPr>
        <p:spPr>
          <a:xfrm>
            <a:off x="1042416" y="2395728"/>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Uji nilai C dan penalty L1 vs L2 dengan scoring='recall' di atas 5-Fold yang sudah ada.</a:t>
            </a:r>
            <a:endParaRPr lang="en-US" sz="880" dirty="0"/>
          </a:p>
        </p:txBody>
      </p:sp>
      <p:sp>
        <p:nvSpPr>
          <p:cNvPr id="14" name="Shape 10"/>
          <p:cNvSpPr/>
          <p:nvPr/>
        </p:nvSpPr>
        <p:spPr>
          <a:xfrm>
            <a:off x="502920" y="2852928"/>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2" descr="/home/claude/assets/ic_scale_navy.png"/>
          <p:cNvPicPr>
            <a:picLocks noChangeAspect="1"/>
          </p:cNvPicPr>
          <p:nvPr/>
        </p:nvPicPr>
        <p:blipFill>
          <a:blip r:embed="rId5"/>
          <a:stretch>
            <a:fillRect/>
          </a:stretch>
        </p:blipFill>
        <p:spPr>
          <a:xfrm>
            <a:off x="694944" y="2980944"/>
            <a:ext cx="237744" cy="237744"/>
          </a:xfrm>
          <a:prstGeom prst="rect">
            <a:avLst/>
          </a:prstGeom>
        </p:spPr>
      </p:pic>
      <p:sp>
        <p:nvSpPr>
          <p:cNvPr id="16" name="Text 11"/>
          <p:cNvSpPr/>
          <p:nvPr/>
        </p:nvSpPr>
        <p:spPr>
          <a:xfrm>
            <a:off x="1042416" y="2962656"/>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Kalibrasi probabilitas</a:t>
            </a:r>
            <a:endParaRPr lang="en-US" sz="1050" dirty="0"/>
          </a:p>
        </p:txBody>
      </p:sp>
      <p:sp>
        <p:nvSpPr>
          <p:cNvPr id="17" name="Text 12"/>
          <p:cNvSpPr/>
          <p:nvPr/>
        </p:nvSpPr>
        <p:spPr>
          <a:xfrm>
            <a:off x="1042416" y="3200400"/>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Pastikan skor 0,7 benar-benar berarti peluang 70%, karena skor dipakai untuk prioritisasi.</a:t>
            </a:r>
            <a:endParaRPr lang="en-US" sz="880" dirty="0"/>
          </a:p>
        </p:txBody>
      </p:sp>
      <p:sp>
        <p:nvSpPr>
          <p:cNvPr id="18" name="Shape 13"/>
          <p:cNvSpPr/>
          <p:nvPr/>
        </p:nvSpPr>
        <p:spPr>
          <a:xfrm>
            <a:off x="502920" y="3657600"/>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9" name="Image 3" descr="/home/claude/assets/ic_check_navy.png"/>
          <p:cNvPicPr>
            <a:picLocks noChangeAspect="1"/>
          </p:cNvPicPr>
          <p:nvPr/>
        </p:nvPicPr>
        <p:blipFill>
          <a:blip r:embed="rId6"/>
          <a:stretch>
            <a:fillRect/>
          </a:stretch>
        </p:blipFill>
        <p:spPr>
          <a:xfrm>
            <a:off x="694944" y="3785616"/>
            <a:ext cx="237744" cy="237744"/>
          </a:xfrm>
          <a:prstGeom prst="rect">
            <a:avLst/>
          </a:prstGeom>
        </p:spPr>
      </p:pic>
      <p:sp>
        <p:nvSpPr>
          <p:cNvPr id="20" name="Text 14"/>
          <p:cNvSpPr/>
          <p:nvPr/>
        </p:nvSpPr>
        <p:spPr>
          <a:xfrm>
            <a:off x="1042416" y="3767328"/>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Bandingkan metode imbalance</a:t>
            </a:r>
            <a:endParaRPr lang="en-US" sz="1050" dirty="0"/>
          </a:p>
        </p:txBody>
      </p:sp>
      <p:sp>
        <p:nvSpPr>
          <p:cNvPr id="21" name="Text 15"/>
          <p:cNvSpPr/>
          <p:nvPr/>
        </p:nvSpPr>
        <p:spPr>
          <a:xfrm>
            <a:off x="1042416" y="4005072"/>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Uji SMOTE dan undersampling sebagai pembanding class_weight yang dipakai sekarang.</a:t>
            </a:r>
            <a:endParaRPr lang="en-US" sz="880" dirty="0"/>
          </a:p>
        </p:txBody>
      </p:sp>
      <p:sp>
        <p:nvSpPr>
          <p:cNvPr id="22" name="Text 16"/>
          <p:cNvSpPr/>
          <p:nvPr/>
        </p:nvSpPr>
        <p:spPr>
          <a:xfrm>
            <a:off x="4663440" y="98755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Penambahan data</a:t>
            </a:r>
            <a:endParaRPr lang="en-US" sz="1250" dirty="0"/>
          </a:p>
        </p:txBody>
      </p:sp>
      <p:sp>
        <p:nvSpPr>
          <p:cNvPr id="23" name="Shape 17"/>
          <p:cNvSpPr/>
          <p:nvPr/>
        </p:nvSpPr>
        <p:spPr>
          <a:xfrm>
            <a:off x="4663440" y="1243584"/>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4" name="Image 4" descr="/home/claude/assets/ic_clock_orange.png"/>
          <p:cNvPicPr>
            <a:picLocks noChangeAspect="1"/>
          </p:cNvPicPr>
          <p:nvPr/>
        </p:nvPicPr>
        <p:blipFill>
          <a:blip r:embed="rId7"/>
          <a:stretch>
            <a:fillRect/>
          </a:stretch>
        </p:blipFill>
        <p:spPr>
          <a:xfrm>
            <a:off x="4855464" y="1371600"/>
            <a:ext cx="237744" cy="237744"/>
          </a:xfrm>
          <a:prstGeom prst="rect">
            <a:avLst/>
          </a:prstGeom>
        </p:spPr>
      </p:pic>
      <p:sp>
        <p:nvSpPr>
          <p:cNvPr id="25" name="Text 18"/>
          <p:cNvSpPr/>
          <p:nvPr/>
        </p:nvSpPr>
        <p:spPr>
          <a:xfrm>
            <a:off x="5202936" y="1353312"/>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lead_time</a:t>
            </a:r>
            <a:endParaRPr lang="en-US" sz="1050" dirty="0"/>
          </a:p>
        </p:txBody>
      </p:sp>
      <p:sp>
        <p:nvSpPr>
          <p:cNvPr id="26" name="Text 19"/>
          <p:cNvSpPr/>
          <p:nvPr/>
        </p:nvSpPr>
        <p:spPr>
          <a:xfrm>
            <a:off x="5202936" y="1591056"/>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Jarak hari antara pemesanan dan kedatangan — di literatur perhotelan termasuk prediktor terkuat.</a:t>
            </a:r>
            <a:endParaRPr lang="en-US" sz="880" dirty="0"/>
          </a:p>
        </p:txBody>
      </p:sp>
      <p:sp>
        <p:nvSpPr>
          <p:cNvPr id="27" name="Shape 20"/>
          <p:cNvSpPr/>
          <p:nvPr/>
        </p:nvSpPr>
        <p:spPr>
          <a:xfrm>
            <a:off x="4663440" y="2048256"/>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8" name="Image 5" descr="/home/claude/assets/ic_money_orange.png"/>
          <p:cNvPicPr>
            <a:picLocks noChangeAspect="1"/>
          </p:cNvPicPr>
          <p:nvPr/>
        </p:nvPicPr>
        <p:blipFill>
          <a:blip r:embed="rId8"/>
          <a:stretch>
            <a:fillRect/>
          </a:stretch>
        </p:blipFill>
        <p:spPr>
          <a:xfrm>
            <a:off x="4855464" y="2176272"/>
            <a:ext cx="237744" cy="237744"/>
          </a:xfrm>
          <a:prstGeom prst="rect">
            <a:avLst/>
          </a:prstGeom>
        </p:spPr>
      </p:pic>
      <p:sp>
        <p:nvSpPr>
          <p:cNvPr id="29" name="Text 21"/>
          <p:cNvSpPr/>
          <p:nvPr/>
        </p:nvSpPr>
        <p:spPr>
          <a:xfrm>
            <a:off x="5202936" y="2157984"/>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ADR &amp; tanggal menginap</a:t>
            </a:r>
            <a:endParaRPr lang="en-US" sz="1050" dirty="0"/>
          </a:p>
        </p:txBody>
      </p:sp>
      <p:sp>
        <p:nvSpPr>
          <p:cNvPr id="30" name="Text 22"/>
          <p:cNvSpPr/>
          <p:nvPr/>
        </p:nvSpPr>
        <p:spPr>
          <a:xfrm>
            <a:off x="5202936" y="2395728"/>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Memungkinkan perhitungan dampak bisnis dalam nilai uang, bukan hanya jumlah booking.</a:t>
            </a:r>
            <a:endParaRPr lang="en-US" sz="880" dirty="0"/>
          </a:p>
        </p:txBody>
      </p:sp>
      <p:sp>
        <p:nvSpPr>
          <p:cNvPr id="31" name="Shape 23"/>
          <p:cNvSpPr/>
          <p:nvPr/>
        </p:nvSpPr>
        <p:spPr>
          <a:xfrm>
            <a:off x="4663440" y="2852928"/>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2" name="Image 6" descr="/home/claude/assets/ic_users_orange.png"/>
          <p:cNvPicPr>
            <a:picLocks noChangeAspect="1"/>
          </p:cNvPicPr>
          <p:nvPr/>
        </p:nvPicPr>
        <p:blipFill>
          <a:blip r:embed="rId9"/>
          <a:stretch>
            <a:fillRect/>
          </a:stretch>
        </p:blipFill>
        <p:spPr>
          <a:xfrm>
            <a:off x="4855464" y="2980944"/>
            <a:ext cx="237744" cy="237744"/>
          </a:xfrm>
          <a:prstGeom prst="rect">
            <a:avLst/>
          </a:prstGeom>
        </p:spPr>
      </p:pic>
      <p:sp>
        <p:nvSpPr>
          <p:cNvPr id="33" name="Text 24"/>
          <p:cNvSpPr/>
          <p:nvPr/>
        </p:nvSpPr>
        <p:spPr>
          <a:xfrm>
            <a:off x="5202936" y="2962656"/>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Riwayat tamu</a:t>
            </a:r>
            <a:endParaRPr lang="en-US" sz="1050" dirty="0"/>
          </a:p>
        </p:txBody>
      </p:sp>
      <p:sp>
        <p:nvSpPr>
          <p:cNvPr id="34" name="Text 25"/>
          <p:cNvSpPr/>
          <p:nvPr/>
        </p:nvSpPr>
        <p:spPr>
          <a:xfrm>
            <a:off x="5202936" y="3200400"/>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Status repeat guest dan jumlah booking sebelumnya untuk memperkaya sinyal komitmen.</a:t>
            </a:r>
            <a:endParaRPr lang="en-US" sz="880" dirty="0"/>
          </a:p>
        </p:txBody>
      </p:sp>
      <p:sp>
        <p:nvSpPr>
          <p:cNvPr id="35" name="Shape 26"/>
          <p:cNvSpPr/>
          <p:nvPr/>
        </p:nvSpPr>
        <p:spPr>
          <a:xfrm>
            <a:off x="4663440" y="3657600"/>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6" name="Image 7" descr="/home/claude/assets/ic_data_orange.png"/>
          <p:cNvPicPr>
            <a:picLocks noChangeAspect="1"/>
          </p:cNvPicPr>
          <p:nvPr/>
        </p:nvPicPr>
        <p:blipFill>
          <a:blip r:embed="rId10"/>
          <a:stretch>
            <a:fillRect/>
          </a:stretch>
        </p:blipFill>
        <p:spPr>
          <a:xfrm>
            <a:off x="4855464" y="3785616"/>
            <a:ext cx="237744" cy="237744"/>
          </a:xfrm>
          <a:prstGeom prst="rect">
            <a:avLst/>
          </a:prstGeom>
        </p:spPr>
      </p:pic>
      <p:sp>
        <p:nvSpPr>
          <p:cNvPr id="37" name="Text 27"/>
          <p:cNvSpPr/>
          <p:nvPr/>
        </p:nvSpPr>
        <p:spPr>
          <a:xfrm>
            <a:off x="5202936" y="3767328"/>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Data eksternal</a:t>
            </a:r>
            <a:endParaRPr lang="en-US" sz="1050" dirty="0"/>
          </a:p>
        </p:txBody>
      </p:sp>
      <p:sp>
        <p:nvSpPr>
          <p:cNvPr id="38" name="Text 28"/>
          <p:cNvSpPr/>
          <p:nvPr/>
        </p:nvSpPr>
        <p:spPr>
          <a:xfrm>
            <a:off x="5202936" y="4005072"/>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Kalender acara lokal, musim liburan, dan kondisi cuaca di lokasi hotel.</a:t>
            </a:r>
            <a:endParaRPr lang="en-US" sz="880" dirty="0"/>
          </a:p>
        </p:txBody>
      </p:sp>
      <p:sp>
        <p:nvSpPr>
          <p:cNvPr id="39" name="Text 29"/>
          <p:cNvSpPr/>
          <p:nvPr/>
        </p:nvSpPr>
        <p:spPr>
          <a:xfrm>
            <a:off x="502920" y="4498848"/>
            <a:ext cx="8138160" cy="310896"/>
          </a:xfrm>
          <a:prstGeom prst="rect">
            <a:avLst/>
          </a:prstGeom>
          <a:noFill/>
          <a:ln/>
        </p:spPr>
        <p:txBody>
          <a:bodyPr wrap="square" lIns="0" tIns="0" rIns="0" bIns="0" rtlCol="0" anchor="t"/>
          <a:lstStyle/>
          <a:p>
            <a:pPr marL="0" indent="0">
              <a:lnSpc>
                <a:spcPts val="1237"/>
              </a:lnSpc>
              <a:buNone/>
            </a:pPr>
            <a:r>
              <a:rPr lang="en-US" sz="930" dirty="0">
                <a:solidFill>
                  <a:srgbClr val="B3392E"/>
                </a:solidFill>
                <a:latin typeface="Calibri" pitchFamily="34" charset="0"/>
                <a:ea typeface="Calibri" pitchFamily="34" charset="-122"/>
                <a:cs typeface="Calibri" pitchFamily="34" charset="-120"/>
              </a:rPr>
              <a:t>Prioritas pertama: telusuri anomali tarif Non Refund ke tim operasional hotel. Temuan 89,2% itu terlalu kuat untuk dibiarkan tanpa penjelasan, dan jawabannya bisa mengubah arah rekomendasi bisnis.</a:t>
            </a:r>
            <a:endParaRPr lang="en-US" sz="9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Risiko implementasi dan rencana monitoring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02920" y="1097280"/>
            <a:ext cx="3977640" cy="3017520"/>
          </a:xfrm>
          <a:prstGeom prst="roundRect">
            <a:avLst>
              <a:gd name="adj" fmla="val 181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Risiko yang perlu dikelola</a:t>
            </a:r>
            <a:endParaRPr lang="en-US" sz="1250" dirty="0"/>
          </a:p>
        </p:txBody>
      </p:sp>
      <p:sp>
        <p:nvSpPr>
          <p:cNvPr id="8" name="Text 5"/>
          <p:cNvSpPr/>
          <p:nvPr/>
        </p:nvSpPr>
        <p:spPr>
          <a:xfrm>
            <a:off x="713232" y="1645920"/>
            <a:ext cx="3566160" cy="1832458"/>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Beban kerja: 835 dari 2.020 booking ditandai pada threshold 0,5</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Kepercayaan tim menurun bila 53% kontak ternyata alarm palsu</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Tamu terganggu bila terlalu sering dihubungi tanpa alasan jelas</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Target encoding pada country bisa usang bila komposisi tamu berubah</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Kualitas data input menurun bila proses pencatatan berubah</a:t>
            </a:r>
            <a:endParaRPr lang="en-US" sz="940" dirty="0"/>
          </a:p>
        </p:txBody>
      </p:sp>
      <p:sp>
        <p:nvSpPr>
          <p:cNvPr id="9" name="Shape 6"/>
          <p:cNvSpPr/>
          <p:nvPr/>
        </p:nvSpPr>
        <p:spPr>
          <a:xfrm>
            <a:off x="4663440" y="1097280"/>
            <a:ext cx="3977640" cy="3017520"/>
          </a:xfrm>
          <a:prstGeom prst="roundRect">
            <a:avLst>
              <a:gd name="adj" fmla="val 1818"/>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check_navy.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Rencana monitoring</a:t>
            </a:r>
            <a:endParaRPr lang="en-US" sz="1250" dirty="0"/>
          </a:p>
        </p:txBody>
      </p:sp>
      <p:sp>
        <p:nvSpPr>
          <p:cNvPr id="12" name="Text 8"/>
          <p:cNvSpPr/>
          <p:nvPr/>
        </p:nvSpPr>
        <p:spPr>
          <a:xfrm>
            <a:off x="4873752" y="1645920"/>
            <a:ext cx="3566160" cy="1832458"/>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Pantau Recall, Precision, dan AUC-ROC pada data baru setiap bulan</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Deteksi data drift: bandingkan distribusi fitur baru terhadap data latih</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Hitung ulang nilai target encoding country tiap kali model dilatih ulang</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Lacak dampak nyata: apakah cancellation rate benar-benar turun</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Jalankan A/B testing antara kelompok intervensi dan kontrol</a:t>
            </a:r>
            <a:endParaRPr lang="en-US" sz="940" dirty="0"/>
          </a:p>
        </p:txBody>
      </p:sp>
      <p:sp>
        <p:nvSpPr>
          <p:cNvPr id="13" name="Text 9"/>
          <p:cNvSpPr/>
          <p:nvPr/>
        </p:nvSpPr>
        <p:spPr>
          <a:xfrm>
            <a:off x="502920" y="4224528"/>
            <a:ext cx="8138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Model yang tidak dipantau akan menua diam-diam. Metrik teknis saja tidak cukup — dampak bisnisnya harus ikut diukur.</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1463040" y="2743200"/>
            <a:ext cx="4206240" cy="4206240"/>
          </a:xfrm>
          <a:prstGeom prst="ellipse">
            <a:avLst/>
          </a:prstGeom>
          <a:solidFill>
            <a:srgbClr val="123A5E"/>
          </a:solidFill>
          <a:ln/>
        </p:spPr>
        <p:txBody>
          <a:bodyPr/>
          <a:lstStyle/>
          <a:p>
            <a:endParaRPr lang="en-ID"/>
          </a:p>
        </p:txBody>
      </p:sp>
      <p:sp>
        <p:nvSpPr>
          <p:cNvPr id="3" name="Shape 1"/>
          <p:cNvSpPr/>
          <p:nvPr/>
        </p:nvSpPr>
        <p:spPr>
          <a:xfrm>
            <a:off x="7132320" y="-1097280"/>
            <a:ext cx="3474720" cy="3474720"/>
          </a:xfrm>
          <a:prstGeom prst="ellipse">
            <a:avLst/>
          </a:prstGeom>
          <a:solidFill>
            <a:srgbClr val="103352"/>
          </a:solidFill>
          <a:ln/>
        </p:spPr>
        <p:txBody>
          <a:bodyPr/>
          <a:lstStyle/>
          <a:p>
            <a:endParaRPr lang="en-ID"/>
          </a:p>
        </p:txBody>
      </p:sp>
      <p:pic>
        <p:nvPicPr>
          <p:cNvPr id="4" name="Image 0" descr="/home/claude/assets/ic_flag_orange.png"/>
          <p:cNvPicPr>
            <a:picLocks noChangeAspect="1"/>
          </p:cNvPicPr>
          <p:nvPr/>
        </p:nvPicPr>
        <p:blipFill>
          <a:blip r:embed="rId3"/>
          <a:stretch>
            <a:fillRect/>
          </a:stretch>
        </p:blipFill>
        <p:spPr>
          <a:xfrm>
            <a:off x="4224528" y="1298448"/>
            <a:ext cx="685800" cy="685800"/>
          </a:xfrm>
          <a:prstGeom prst="rect">
            <a:avLst/>
          </a:prstGeom>
        </p:spPr>
      </p:pic>
      <p:sp>
        <p:nvSpPr>
          <p:cNvPr id="5" name="Text 2"/>
          <p:cNvSpPr/>
          <p:nvPr/>
        </p:nvSpPr>
        <p:spPr>
          <a:xfrm>
            <a:off x="457200" y="2212848"/>
            <a:ext cx="8229600" cy="603504"/>
          </a:xfrm>
          <a:prstGeom prst="rect">
            <a:avLst/>
          </a:prstGeom>
          <a:noFill/>
          <a:ln/>
        </p:spPr>
        <p:txBody>
          <a:bodyPr wrap="square" lIns="0" tIns="0" rIns="0" bIns="0"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Terima Kasih</a:t>
            </a:r>
            <a:endParaRPr lang="en-US" sz="3800" dirty="0"/>
          </a:p>
        </p:txBody>
      </p:sp>
      <p:sp>
        <p:nvSpPr>
          <p:cNvPr id="6" name="Text 3"/>
          <p:cNvSpPr/>
          <p:nvPr/>
        </p:nvSpPr>
        <p:spPr>
          <a:xfrm>
            <a:off x="457200" y="2907792"/>
            <a:ext cx="8229600" cy="274320"/>
          </a:xfrm>
          <a:prstGeom prst="rect">
            <a:avLst/>
          </a:prstGeom>
          <a:noFill/>
          <a:ln/>
        </p:spPr>
        <p:txBody>
          <a:bodyPr wrap="square" lIns="0" tIns="0" rIns="0" bIns="0" rtlCol="0" anchor="ctr"/>
          <a:lstStyle/>
          <a:p>
            <a:pPr marL="0" indent="0" algn="ctr">
              <a:buNone/>
            </a:pPr>
            <a:r>
              <a:rPr lang="en-US" sz="1300" dirty="0">
                <a:solidFill>
                  <a:srgbClr val="B9C7D6"/>
                </a:solidFill>
                <a:latin typeface="Calibri" pitchFamily="34" charset="0"/>
                <a:ea typeface="Calibri" pitchFamily="34" charset="-122"/>
                <a:cs typeface="Calibri" pitchFamily="34" charset="-120"/>
              </a:rPr>
              <a:t>Prediksi Pembatalan Pemesanan Hotel  •  Capstone Project Module 3</a:t>
            </a:r>
            <a:endParaRPr lang="en-US" sz="1300" dirty="0"/>
          </a:p>
        </p:txBody>
      </p:sp>
      <p:sp>
        <p:nvSpPr>
          <p:cNvPr id="7" name="Text 4"/>
          <p:cNvSpPr/>
          <p:nvPr/>
        </p:nvSpPr>
        <p:spPr>
          <a:xfrm>
            <a:off x="457200" y="3529584"/>
            <a:ext cx="8229600" cy="27432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5935</Words>
  <Application>Microsoft Office PowerPoint</Application>
  <PresentationFormat>On-screen Show (16:9)</PresentationFormat>
  <Paragraphs>729</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Pembatalan Pemesanan Hotel</dc:title>
  <dc:subject>PptxGenJS Presentation</dc:subject>
  <dc:creator>PptxGenJS</dc:creator>
  <cp:lastModifiedBy>yudha ardika</cp:lastModifiedBy>
  <cp:revision>5</cp:revision>
  <dcterms:created xsi:type="dcterms:W3CDTF">2026-08-01T09:50:43Z</dcterms:created>
  <dcterms:modified xsi:type="dcterms:W3CDTF">2026-08-08T03:47:24Z</dcterms:modified>
</cp:coreProperties>
</file>